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6"/>
  </p:notesMasterIdLst>
  <p:sldIdLst>
    <p:sldId id="256" r:id="rId2"/>
    <p:sldId id="321" r:id="rId3"/>
    <p:sldId id="279" r:id="rId4"/>
    <p:sldId id="259" r:id="rId5"/>
    <p:sldId id="280" r:id="rId6"/>
    <p:sldId id="281" r:id="rId7"/>
    <p:sldId id="282" r:id="rId8"/>
    <p:sldId id="283" r:id="rId9"/>
    <p:sldId id="284" r:id="rId10"/>
    <p:sldId id="285" r:id="rId11"/>
    <p:sldId id="286" r:id="rId12"/>
    <p:sldId id="287" r:id="rId13"/>
    <p:sldId id="288" r:id="rId14"/>
    <p:sldId id="289" r:id="rId15"/>
    <p:sldId id="290" r:id="rId16"/>
    <p:sldId id="291" r:id="rId17"/>
    <p:sldId id="292" r:id="rId18"/>
    <p:sldId id="293" r:id="rId19"/>
    <p:sldId id="294" r:id="rId20"/>
    <p:sldId id="295" r:id="rId21"/>
    <p:sldId id="296" r:id="rId22"/>
    <p:sldId id="297" r:id="rId23"/>
    <p:sldId id="298" r:id="rId24"/>
    <p:sldId id="299" r:id="rId25"/>
    <p:sldId id="300" r:id="rId26"/>
    <p:sldId id="301" r:id="rId27"/>
    <p:sldId id="302" r:id="rId28"/>
    <p:sldId id="303" r:id="rId29"/>
    <p:sldId id="304" r:id="rId30"/>
    <p:sldId id="305" r:id="rId31"/>
    <p:sldId id="306" r:id="rId32"/>
    <p:sldId id="307" r:id="rId33"/>
    <p:sldId id="308" r:id="rId34"/>
    <p:sldId id="309" r:id="rId35"/>
    <p:sldId id="310" r:id="rId36"/>
    <p:sldId id="311" r:id="rId37"/>
    <p:sldId id="312" r:id="rId38"/>
    <p:sldId id="313" r:id="rId39"/>
    <p:sldId id="314" r:id="rId40"/>
    <p:sldId id="315" r:id="rId41"/>
    <p:sldId id="316" r:id="rId42"/>
    <p:sldId id="317" r:id="rId43"/>
    <p:sldId id="318" r:id="rId44"/>
    <p:sldId id="319" r:id="rId45"/>
    <p:sldId id="320" r:id="rId46"/>
    <p:sldId id="322" r:id="rId47"/>
    <p:sldId id="324" r:id="rId48"/>
    <p:sldId id="325" r:id="rId49"/>
    <p:sldId id="331" r:id="rId50"/>
    <p:sldId id="323" r:id="rId51"/>
    <p:sldId id="332" r:id="rId52"/>
    <p:sldId id="334" r:id="rId53"/>
    <p:sldId id="333" r:id="rId54"/>
    <p:sldId id="278" r:id="rId55"/>
  </p:sldIdLst>
  <p:sldSz cx="18288000" cy="10287000"/>
  <p:notesSz cx="6858000" cy="9144000"/>
  <p:embeddedFontLst>
    <p:embeddedFont>
      <p:font typeface="Poppins" panose="00000500000000000000" pitchFamily="2" charset="0"/>
      <p:regular r:id="rId5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Kiểu Trung bình 2 - Màu chủ đề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77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A1C644-F9FD-4108-8004-0492A5741FEA}" type="datetimeFigureOut">
              <a:rPr lang="vi-VN" smtClean="0"/>
              <a:t>12/10/2026</a:t>
            </a:fld>
            <a:endParaRPr lang="vi-VN"/>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E5121A-020D-48AD-B289-DC574A16751B}" type="slidenum">
              <a:rPr lang="vi-VN" smtClean="0"/>
              <a:t>‹#›</a:t>
            </a:fld>
            <a:endParaRPr lang="vi-VN"/>
          </a:p>
        </p:txBody>
      </p:sp>
    </p:spTree>
    <p:extLst>
      <p:ext uri="{BB962C8B-B14F-4D97-AF65-F5344CB8AC3E}">
        <p14:creationId xmlns:p14="http://schemas.microsoft.com/office/powerpoint/2010/main" val="3889710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dirty="0"/>
          </a:p>
        </p:txBody>
      </p:sp>
      <p:sp>
        <p:nvSpPr>
          <p:cNvPr id="4" name="Chỗ dành sẵn cho Số hiệu Bản chiếu 3"/>
          <p:cNvSpPr>
            <a:spLocks noGrp="1"/>
          </p:cNvSpPr>
          <p:nvPr>
            <p:ph type="sldNum" sz="quarter" idx="5"/>
          </p:nvPr>
        </p:nvSpPr>
        <p:spPr/>
        <p:txBody>
          <a:bodyPr/>
          <a:lstStyle/>
          <a:p>
            <a:fld id="{81E5121A-020D-48AD-B289-DC574A16751B}" type="slidenum">
              <a:rPr lang="vi-VN" smtClean="0"/>
              <a:t>47</a:t>
            </a:fld>
            <a:endParaRPr lang="vi-VN"/>
          </a:p>
        </p:txBody>
      </p:sp>
    </p:spTree>
    <p:extLst>
      <p:ext uri="{BB962C8B-B14F-4D97-AF65-F5344CB8AC3E}">
        <p14:creationId xmlns:p14="http://schemas.microsoft.com/office/powerpoint/2010/main" val="3029803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gif"/><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3.sv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3.svg"/></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3.sv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6.jpg"/><Relationship Id="rId4" Type="http://schemas.openxmlformats.org/officeDocument/2006/relationships/image" Target="../media/image3.sv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3.sv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3.sv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3.sv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3.sv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1.jpeg"/><Relationship Id="rId4" Type="http://schemas.openxmlformats.org/officeDocument/2006/relationships/image" Target="../media/image3.sv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3.sv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3.gif"/><Relationship Id="rId4" Type="http://schemas.openxmlformats.org/officeDocument/2006/relationships/image" Target="../media/image3.svg"/></Relationships>
</file>

<file path=ppt/slides/_rels/slide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svg"/></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3.svg"/></Relationships>
</file>

<file path=ppt/slides/_rels/slide4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5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5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36"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AutoShape 3"/>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340885" y="5505450"/>
            <a:ext cx="5838682" cy="5855316"/>
          </a:xfrm>
          <a:custGeom>
            <a:avLst/>
            <a:gdLst/>
            <a:ahLst/>
            <a:cxnLst/>
            <a:rect l="l" t="t" r="r" b="b"/>
            <a:pathLst>
              <a:path w="5838682" h="5855316">
                <a:moveTo>
                  <a:pt x="0" y="0"/>
                </a:moveTo>
                <a:lnTo>
                  <a:pt x="5838681" y="0"/>
                </a:lnTo>
                <a:lnTo>
                  <a:pt x="5838681" y="5855316"/>
                </a:lnTo>
                <a:lnTo>
                  <a:pt x="0" y="5855316"/>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6" name="Freeform 6"/>
          <p:cNvSpPr/>
          <p:nvPr/>
        </p:nvSpPr>
        <p:spPr>
          <a:xfrm flipH="1">
            <a:off x="13558746" y="5505450"/>
            <a:ext cx="5838682" cy="5855316"/>
          </a:xfrm>
          <a:custGeom>
            <a:avLst/>
            <a:gdLst/>
            <a:ahLst/>
            <a:cxnLst/>
            <a:rect l="l" t="t" r="r" b="b"/>
            <a:pathLst>
              <a:path w="5838682" h="5855316">
                <a:moveTo>
                  <a:pt x="5838681" y="0"/>
                </a:moveTo>
                <a:lnTo>
                  <a:pt x="0" y="0"/>
                </a:lnTo>
                <a:lnTo>
                  <a:pt x="0" y="5855316"/>
                </a:lnTo>
                <a:lnTo>
                  <a:pt x="5838681" y="5855316"/>
                </a:lnTo>
                <a:lnTo>
                  <a:pt x="5838681"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2290908" y="2695865"/>
            <a:ext cx="13685712" cy="2076018"/>
          </a:xfrm>
          <a:prstGeom prst="rect">
            <a:avLst/>
          </a:prstGeom>
        </p:spPr>
        <p:txBody>
          <a:bodyPr lIns="0" tIns="0" rIns="0" bIns="0" rtlCol="0" anchor="t">
            <a:spAutoFit/>
          </a:bodyPr>
          <a:lstStyle/>
          <a:p>
            <a:pPr marL="0" lvl="0" indent="0" algn="ctr">
              <a:lnSpc>
                <a:spcPts val="8030"/>
              </a:lnSpc>
              <a:spcBef>
                <a:spcPct val="0"/>
              </a:spcBef>
            </a:pPr>
            <a:r>
              <a:rPr lang="en-US" sz="9337" u="none" strike="noStrike" spc="-410" dirty="0">
                <a:solidFill>
                  <a:srgbClr val="FFFFFF"/>
                </a:solidFill>
                <a:latin typeface="Arial (Thân)"/>
                <a:ea typeface="Times New Roman"/>
                <a:cs typeface="Arial" panose="020B0604020202020204" pitchFamily="34" charset="0"/>
                <a:sym typeface="Times New Roman"/>
              </a:rPr>
              <a:t>LẨN TRÁNH IDS, FIREWALL, HONEYPOT</a:t>
            </a:r>
          </a:p>
        </p:txBody>
      </p:sp>
      <p:sp>
        <p:nvSpPr>
          <p:cNvPr id="8" name="TextBox 8"/>
          <p:cNvSpPr txBox="1"/>
          <p:nvPr/>
        </p:nvSpPr>
        <p:spPr>
          <a:xfrm>
            <a:off x="3035182" y="5345521"/>
            <a:ext cx="12281018" cy="3616375"/>
          </a:xfrm>
          <a:prstGeom prst="rect">
            <a:avLst/>
          </a:prstGeom>
        </p:spPr>
        <p:txBody>
          <a:bodyPr wrap="square" lIns="0" tIns="0" rIns="0" bIns="0" rtlCol="0" anchor="t">
            <a:spAutoFit/>
          </a:bodyPr>
          <a:lstStyle/>
          <a:p>
            <a:pPr marL="0" lvl="0" indent="0" algn="ctr">
              <a:lnSpc>
                <a:spcPts val="4726"/>
              </a:lnSpc>
            </a:pPr>
            <a:r>
              <a:rPr lang="vi-VN" sz="4000" spc="-241" dirty="0">
                <a:solidFill>
                  <a:srgbClr val="FFFFFF"/>
                </a:solidFill>
                <a:latin typeface="Arial" panose="020B0604020202020204" pitchFamily="34" charset="0"/>
                <a:ea typeface="Poppins"/>
                <a:cs typeface="Arial" panose="020B0604020202020204" pitchFamily="34" charset="0"/>
                <a:sym typeface="Poppins"/>
              </a:rPr>
              <a:t>Môn học</a:t>
            </a:r>
            <a:r>
              <a:rPr lang="en-US" sz="4000" spc="-241" dirty="0">
                <a:solidFill>
                  <a:srgbClr val="FFFFFF"/>
                </a:solidFill>
                <a:latin typeface="Arial" panose="020B0604020202020204" pitchFamily="34" charset="0"/>
                <a:ea typeface="Poppins"/>
                <a:cs typeface="Arial" panose="020B0604020202020204" pitchFamily="34" charset="0"/>
                <a:sym typeface="Poppins"/>
              </a:rPr>
              <a:t>: </a:t>
            </a:r>
            <a:r>
              <a:rPr lang="en-US" sz="4000" spc="-241" dirty="0" err="1">
                <a:solidFill>
                  <a:srgbClr val="FFFFFF"/>
                </a:solidFill>
                <a:latin typeface="Arial" panose="020B0604020202020204" pitchFamily="34" charset="0"/>
                <a:ea typeface="Poppins"/>
                <a:cs typeface="Arial" panose="020B0604020202020204" pitchFamily="34" charset="0"/>
                <a:sym typeface="Poppins"/>
              </a:rPr>
              <a:t>Hệ</a:t>
            </a:r>
            <a:r>
              <a:rPr lang="en-US" sz="4000" spc="-241" dirty="0">
                <a:solidFill>
                  <a:srgbClr val="FFFFFF"/>
                </a:solidFill>
                <a:latin typeface="Arial" panose="020B0604020202020204" pitchFamily="34" charset="0"/>
                <a:ea typeface="Poppins"/>
                <a:cs typeface="Arial" panose="020B0604020202020204" pitchFamily="34" charset="0"/>
                <a:sym typeface="Poppins"/>
              </a:rPr>
              <a:t> </a:t>
            </a:r>
            <a:r>
              <a:rPr lang="en-US" sz="4000" spc="-241" dirty="0" err="1">
                <a:solidFill>
                  <a:srgbClr val="FFFFFF"/>
                </a:solidFill>
                <a:latin typeface="Arial" panose="020B0604020202020204" pitchFamily="34" charset="0"/>
                <a:ea typeface="Poppins"/>
                <a:cs typeface="Arial" panose="020B0604020202020204" pitchFamily="34" charset="0"/>
                <a:sym typeface="Poppins"/>
              </a:rPr>
              <a:t>thống</a:t>
            </a:r>
            <a:r>
              <a:rPr lang="en-US" sz="4000" spc="-241" dirty="0">
                <a:solidFill>
                  <a:srgbClr val="FFFFFF"/>
                </a:solidFill>
                <a:latin typeface="Arial" panose="020B0604020202020204" pitchFamily="34" charset="0"/>
                <a:ea typeface="Poppins"/>
                <a:cs typeface="Arial" panose="020B0604020202020204" pitchFamily="34" charset="0"/>
                <a:sym typeface="Poppins"/>
              </a:rPr>
              <a:t> </a:t>
            </a:r>
            <a:r>
              <a:rPr lang="en-US" sz="4000" spc="-241" dirty="0" err="1">
                <a:solidFill>
                  <a:srgbClr val="FFFFFF"/>
                </a:solidFill>
                <a:latin typeface="Arial" panose="020B0604020202020204" pitchFamily="34" charset="0"/>
                <a:ea typeface="Poppins"/>
                <a:cs typeface="Arial" panose="020B0604020202020204" pitchFamily="34" charset="0"/>
                <a:sym typeface="Poppins"/>
              </a:rPr>
              <a:t>phát</a:t>
            </a:r>
            <a:r>
              <a:rPr lang="en-US" sz="4000" spc="-241" dirty="0">
                <a:solidFill>
                  <a:srgbClr val="FFFFFF"/>
                </a:solidFill>
                <a:latin typeface="Arial" panose="020B0604020202020204" pitchFamily="34" charset="0"/>
                <a:ea typeface="Poppins"/>
                <a:cs typeface="Arial" panose="020B0604020202020204" pitchFamily="34" charset="0"/>
                <a:sym typeface="Poppins"/>
              </a:rPr>
              <a:t> </a:t>
            </a:r>
            <a:r>
              <a:rPr lang="en-US" sz="4000" spc="-241" dirty="0" err="1">
                <a:solidFill>
                  <a:srgbClr val="FFFFFF"/>
                </a:solidFill>
                <a:latin typeface="Arial" panose="020B0604020202020204" pitchFamily="34" charset="0"/>
                <a:ea typeface="Poppins"/>
                <a:cs typeface="Arial" panose="020B0604020202020204" pitchFamily="34" charset="0"/>
                <a:sym typeface="Poppins"/>
              </a:rPr>
              <a:t>hiện</a:t>
            </a:r>
            <a:r>
              <a:rPr lang="en-US" sz="4000" spc="-241" dirty="0">
                <a:solidFill>
                  <a:srgbClr val="FFFFFF"/>
                </a:solidFill>
                <a:latin typeface="Arial" panose="020B0604020202020204" pitchFamily="34" charset="0"/>
                <a:ea typeface="Poppins"/>
                <a:cs typeface="Arial" panose="020B0604020202020204" pitchFamily="34" charset="0"/>
                <a:sym typeface="Poppins"/>
              </a:rPr>
              <a:t> </a:t>
            </a:r>
            <a:r>
              <a:rPr lang="en-US" sz="4000" spc="-241" dirty="0" err="1">
                <a:solidFill>
                  <a:srgbClr val="FFFFFF"/>
                </a:solidFill>
                <a:latin typeface="Arial" panose="020B0604020202020204" pitchFamily="34" charset="0"/>
                <a:ea typeface="Poppins"/>
                <a:cs typeface="Arial" panose="020B0604020202020204" pitchFamily="34" charset="0"/>
                <a:sym typeface="Poppins"/>
              </a:rPr>
              <a:t>xâm</a:t>
            </a:r>
            <a:r>
              <a:rPr lang="en-US" sz="4000" spc="-241" dirty="0">
                <a:solidFill>
                  <a:srgbClr val="FFFFFF"/>
                </a:solidFill>
                <a:latin typeface="Arial" panose="020B0604020202020204" pitchFamily="34" charset="0"/>
                <a:ea typeface="Poppins"/>
                <a:cs typeface="Arial" panose="020B0604020202020204" pitchFamily="34" charset="0"/>
                <a:sym typeface="Poppins"/>
              </a:rPr>
              <a:t> </a:t>
            </a:r>
            <a:r>
              <a:rPr lang="en-US" sz="4000" spc="-241" dirty="0" err="1">
                <a:solidFill>
                  <a:srgbClr val="FFFFFF"/>
                </a:solidFill>
                <a:latin typeface="Arial" panose="020B0604020202020204" pitchFamily="34" charset="0"/>
                <a:ea typeface="Poppins"/>
                <a:cs typeface="Arial" panose="020B0604020202020204" pitchFamily="34" charset="0"/>
                <a:sym typeface="Poppins"/>
              </a:rPr>
              <a:t>nhập</a:t>
            </a:r>
            <a:r>
              <a:rPr lang="en-US" sz="4000" spc="-241" dirty="0">
                <a:solidFill>
                  <a:srgbClr val="FFFFFF"/>
                </a:solidFill>
                <a:latin typeface="Arial" panose="020B0604020202020204" pitchFamily="34" charset="0"/>
                <a:ea typeface="Poppins"/>
                <a:cs typeface="Arial" panose="020B0604020202020204" pitchFamily="34" charset="0"/>
                <a:sym typeface="Poppins"/>
              </a:rPr>
              <a:t> </a:t>
            </a:r>
            <a:r>
              <a:rPr lang="en-US" sz="4000" spc="-241" dirty="0" err="1">
                <a:solidFill>
                  <a:srgbClr val="FFFFFF"/>
                </a:solidFill>
                <a:latin typeface="Arial" panose="020B0604020202020204" pitchFamily="34" charset="0"/>
                <a:ea typeface="Poppins"/>
                <a:cs typeface="Arial" panose="020B0604020202020204" pitchFamily="34" charset="0"/>
                <a:sym typeface="Poppins"/>
              </a:rPr>
              <a:t>mạng</a:t>
            </a:r>
            <a:endParaRPr lang="en-US" sz="4000" spc="-241" dirty="0">
              <a:solidFill>
                <a:srgbClr val="FFFFFF"/>
              </a:solidFill>
              <a:latin typeface="Arial" panose="020B0604020202020204" pitchFamily="34" charset="0"/>
              <a:ea typeface="Poppins"/>
              <a:cs typeface="Arial" panose="020B0604020202020204" pitchFamily="34" charset="0"/>
              <a:sym typeface="Poppins"/>
            </a:endParaRPr>
          </a:p>
          <a:p>
            <a:pPr>
              <a:lnSpc>
                <a:spcPts val="4726"/>
              </a:lnSpc>
            </a:pPr>
            <a:endParaRPr lang="en-US" sz="4000" dirty="0">
              <a:solidFill>
                <a:srgbClr val="FFFFFF"/>
              </a:solidFill>
              <a:latin typeface="Arial" panose="020B0604020202020204" pitchFamily="34" charset="0"/>
              <a:ea typeface="Poppins"/>
              <a:cs typeface="Arial" panose="020B0604020202020204" pitchFamily="34" charset="0"/>
              <a:sym typeface="Poppins"/>
            </a:endParaRPr>
          </a:p>
          <a:p>
            <a:pPr>
              <a:lnSpc>
                <a:spcPts val="4726"/>
              </a:lnSpc>
            </a:pPr>
            <a:r>
              <a:rPr lang="vi-VN" sz="4000" dirty="0">
                <a:solidFill>
                  <a:srgbClr val="FFFFFF"/>
                </a:solidFill>
                <a:latin typeface="Arial" panose="020B0604020202020204" pitchFamily="34" charset="0"/>
                <a:ea typeface="Poppins"/>
                <a:cs typeface="Arial" panose="020B0604020202020204" pitchFamily="34" charset="0"/>
                <a:sym typeface="Poppins"/>
              </a:rPr>
              <a:t>Thành viên:</a:t>
            </a:r>
            <a:endParaRPr lang="en-US" sz="4000" dirty="0">
              <a:solidFill>
                <a:srgbClr val="FFFFFF"/>
              </a:solidFill>
              <a:latin typeface="Arial" panose="020B0604020202020204" pitchFamily="34" charset="0"/>
              <a:ea typeface="Poppins"/>
              <a:cs typeface="Arial" panose="020B0604020202020204" pitchFamily="34" charset="0"/>
              <a:sym typeface="Poppins"/>
            </a:endParaRPr>
          </a:p>
          <a:p>
            <a:pPr marL="571500" indent="-571500">
              <a:lnSpc>
                <a:spcPts val="4726"/>
              </a:lnSpc>
              <a:buFont typeface="Arial" panose="020B0604020202020204" pitchFamily="34" charset="0"/>
              <a:buChar char="•"/>
            </a:pPr>
            <a:r>
              <a:rPr lang="en-US" sz="4000" dirty="0" err="1">
                <a:solidFill>
                  <a:srgbClr val="FFFFFF"/>
                </a:solidFill>
                <a:latin typeface="Arial" panose="020B0604020202020204" pitchFamily="34" charset="0"/>
                <a:ea typeface="Poppins"/>
                <a:cs typeface="Arial" panose="020B0604020202020204" pitchFamily="34" charset="0"/>
                <a:sym typeface="Poppins"/>
              </a:rPr>
              <a:t>Đỗ</a:t>
            </a:r>
            <a:r>
              <a:rPr lang="en-US" sz="4000" dirty="0">
                <a:solidFill>
                  <a:srgbClr val="FFFFFF"/>
                </a:solidFill>
                <a:latin typeface="Arial" panose="020B0604020202020204" pitchFamily="34" charset="0"/>
                <a:ea typeface="Poppins"/>
                <a:cs typeface="Arial" panose="020B0604020202020204" pitchFamily="34" charset="0"/>
                <a:sym typeface="Poppins"/>
              </a:rPr>
              <a:t> </a:t>
            </a:r>
            <a:r>
              <a:rPr lang="en-US" sz="4000" dirty="0" err="1">
                <a:solidFill>
                  <a:srgbClr val="FFFFFF"/>
                </a:solidFill>
                <a:latin typeface="Arial" panose="020B0604020202020204" pitchFamily="34" charset="0"/>
                <a:ea typeface="Poppins"/>
                <a:cs typeface="Arial" panose="020B0604020202020204" pitchFamily="34" charset="0"/>
                <a:sym typeface="Poppins"/>
              </a:rPr>
              <a:t>Phú</a:t>
            </a:r>
            <a:r>
              <a:rPr lang="en-US" sz="4000" dirty="0">
                <a:solidFill>
                  <a:srgbClr val="FFFFFF"/>
                </a:solidFill>
                <a:latin typeface="Arial" panose="020B0604020202020204" pitchFamily="34" charset="0"/>
                <a:ea typeface="Poppins"/>
                <a:cs typeface="Arial" panose="020B0604020202020204" pitchFamily="34" charset="0"/>
                <a:sym typeface="Poppins"/>
              </a:rPr>
              <a:t> Ninh</a:t>
            </a:r>
          </a:p>
          <a:p>
            <a:pPr marL="571500" indent="-571500">
              <a:lnSpc>
                <a:spcPts val="4726"/>
              </a:lnSpc>
              <a:buFont typeface="Arial" panose="020B0604020202020204" pitchFamily="34" charset="0"/>
              <a:buChar char="•"/>
            </a:pPr>
            <a:r>
              <a:rPr lang="en-US" sz="4000" dirty="0">
                <a:solidFill>
                  <a:srgbClr val="FFFFFF"/>
                </a:solidFill>
                <a:latin typeface="Arial" panose="020B0604020202020204" pitchFamily="34" charset="0"/>
                <a:ea typeface="Poppins"/>
                <a:cs typeface="Arial" panose="020B0604020202020204" pitchFamily="34" charset="0"/>
                <a:sym typeface="Poppins"/>
              </a:rPr>
              <a:t>Nguyễn Quang Huy</a:t>
            </a:r>
          </a:p>
          <a:p>
            <a:pPr marL="571500" indent="-571500">
              <a:lnSpc>
                <a:spcPts val="4726"/>
              </a:lnSpc>
              <a:buFont typeface="Arial" panose="020B0604020202020204" pitchFamily="34" charset="0"/>
              <a:buChar char="•"/>
            </a:pPr>
            <a:r>
              <a:rPr lang="en-US" sz="4000" dirty="0">
                <a:solidFill>
                  <a:srgbClr val="FFFFFF"/>
                </a:solidFill>
                <a:latin typeface="Arial" panose="020B0604020202020204" pitchFamily="34" charset="0"/>
                <a:ea typeface="Poppins"/>
                <a:cs typeface="Arial" panose="020B0604020202020204" pitchFamily="34" charset="0"/>
                <a:sym typeface="Poppins"/>
              </a:rPr>
              <a:t>Nguyễn Văn </a:t>
            </a:r>
            <a:r>
              <a:rPr lang="en-US" sz="4000" dirty="0" err="1">
                <a:solidFill>
                  <a:srgbClr val="FFFFFF"/>
                </a:solidFill>
                <a:latin typeface="Arial" panose="020B0604020202020204" pitchFamily="34" charset="0"/>
                <a:ea typeface="Poppins"/>
                <a:cs typeface="Arial" panose="020B0604020202020204" pitchFamily="34" charset="0"/>
                <a:sym typeface="Poppins"/>
              </a:rPr>
              <a:t>Khiên</a:t>
            </a:r>
            <a:endParaRPr lang="en-US" sz="4000" dirty="0">
              <a:solidFill>
                <a:srgbClr val="FFFFFF"/>
              </a:solidFill>
              <a:latin typeface="Arial" panose="020B0604020202020204" pitchFamily="34" charset="0"/>
              <a:ea typeface="Poppins"/>
              <a:cs typeface="Arial" panose="020B0604020202020204" pitchFamily="34" charset="0"/>
              <a:sym typeface="Poppins"/>
            </a:endParaRPr>
          </a:p>
        </p:txBody>
      </p:sp>
      <p:sp>
        <p:nvSpPr>
          <p:cNvPr id="9" name="TextBox 9"/>
          <p:cNvSpPr txBox="1"/>
          <p:nvPr/>
        </p:nvSpPr>
        <p:spPr>
          <a:xfrm>
            <a:off x="1574843" y="1023452"/>
            <a:ext cx="2922953" cy="307777"/>
          </a:xfrm>
          <a:prstGeom prst="rect">
            <a:avLst/>
          </a:prstGeom>
        </p:spPr>
        <p:txBody>
          <a:bodyPr lIns="0" tIns="0" rIns="0" bIns="0" rtlCol="0" anchor="t">
            <a:spAutoFit/>
          </a:bodyPr>
          <a:lstStyle/>
          <a:p>
            <a:pPr marL="0" lvl="0" indent="0" algn="l">
              <a:lnSpc>
                <a:spcPts val="2399"/>
              </a:lnSpc>
            </a:pPr>
            <a:r>
              <a:rPr lang="en-US" sz="2000" dirty="0" err="1">
                <a:solidFill>
                  <a:srgbClr val="FFFFFF"/>
                </a:solidFill>
                <a:latin typeface="Arial" panose="020B0604020202020204" pitchFamily="34" charset="0"/>
                <a:ea typeface="Poppins"/>
                <a:cs typeface="Arial" panose="020B0604020202020204" pitchFamily="34" charset="0"/>
                <a:sym typeface="Poppins"/>
              </a:rPr>
              <a:t>Nhóm</a:t>
            </a:r>
            <a:r>
              <a:rPr lang="en-US" sz="2000" dirty="0">
                <a:solidFill>
                  <a:srgbClr val="FFFFFF"/>
                </a:solidFill>
                <a:latin typeface="Arial" panose="020B0604020202020204" pitchFamily="34" charset="0"/>
                <a:ea typeface="Poppins"/>
                <a:cs typeface="Arial" panose="020B0604020202020204" pitchFamily="34" charset="0"/>
                <a:sym typeface="Poppins"/>
              </a:rPr>
              <a:t> 9 - ATTT K22A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35D39-71F2-0DF2-6B0B-0DFEF6FBFC3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261A12F-E272-C3D3-BFBA-45CB42ECA4F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latin typeface="Arial (Thân)"/>
            </a:endParaRPr>
          </a:p>
        </p:txBody>
      </p:sp>
      <p:sp>
        <p:nvSpPr>
          <p:cNvPr id="3" name="AutoShape 3">
            <a:extLst>
              <a:ext uri="{FF2B5EF4-FFF2-40B4-BE49-F238E27FC236}">
                <a16:creationId xmlns:a16="http://schemas.microsoft.com/office/drawing/2014/main" id="{2FE893AF-6835-4F8C-FC8F-0ECB9DE4E5D7}"/>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52E1B6AD-36C5-6CC8-E87B-74B874C599E0}"/>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A689D032-8C43-DAFC-BBB7-FD57211D935C}"/>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FFF7541D-B7AB-AC6B-55D7-66D1347C48D9}"/>
              </a:ext>
            </a:extLst>
          </p:cNvPr>
          <p:cNvSpPr txBox="1"/>
          <p:nvPr/>
        </p:nvSpPr>
        <p:spPr>
          <a:xfrm>
            <a:off x="1028700" y="3848100"/>
            <a:ext cx="14516100" cy="2308324"/>
          </a:xfrm>
          <a:prstGeom prst="rect">
            <a:avLst/>
          </a:prstGeom>
        </p:spPr>
        <p:txBody>
          <a:bodyPr wrap="square" lIns="0" tIns="0" rIns="0" bIns="0" rtlCol="0" anchor="t">
            <a:spAutoFit/>
          </a:bodyPr>
          <a:lstStyle/>
          <a:p>
            <a:pPr marL="342900" lvl="0" indent="-342900" algn="l">
              <a:buFontTx/>
              <a:buChar char="-"/>
            </a:pPr>
            <a:r>
              <a:rPr lang="en-US" sz="3000" dirty="0">
                <a:solidFill>
                  <a:srgbClr val="FFFFFF"/>
                </a:solidFill>
                <a:latin typeface="Arial (Thân)"/>
                <a:ea typeface="Poppins"/>
                <a:cs typeface="Arial" panose="020B0604020202020204" pitchFamily="34" charset="0"/>
                <a:sym typeface="Poppins"/>
              </a:rPr>
              <a:t>Windows Server 2019</a:t>
            </a:r>
          </a:p>
          <a:p>
            <a:pPr marL="342900" lvl="0" indent="-342900">
              <a:buFontTx/>
              <a:buChar char="-"/>
            </a:pPr>
            <a:r>
              <a:rPr lang="en-US" sz="3000" dirty="0">
                <a:solidFill>
                  <a:srgbClr val="FFFFFF"/>
                </a:solidFill>
                <a:latin typeface="Arial (Thân)"/>
                <a:ea typeface="Poppins"/>
                <a:cs typeface="Arial" panose="020B0604020202020204" pitchFamily="34" charset="0"/>
                <a:sym typeface="Poppins"/>
              </a:rPr>
              <a:t>Windows 10</a:t>
            </a:r>
          </a:p>
          <a:p>
            <a:pPr marL="342900" indent="-342900">
              <a:buFontTx/>
              <a:buChar char="-"/>
            </a:pPr>
            <a:r>
              <a:rPr lang="en-US" sz="3000" dirty="0">
                <a:solidFill>
                  <a:srgbClr val="FFFFFF"/>
                </a:solidFill>
                <a:latin typeface="Arial (Thân)"/>
                <a:ea typeface="Poppins"/>
                <a:cs typeface="Arial" panose="020B0604020202020204" pitchFamily="34" charset="0"/>
                <a:sym typeface="Poppins"/>
              </a:rPr>
              <a:t>Firewall </a:t>
            </a:r>
            <a:r>
              <a:rPr lang="en-US" sz="3000" dirty="0" err="1">
                <a:solidFill>
                  <a:srgbClr val="FFFFFF"/>
                </a:solidFill>
                <a:latin typeface="Arial (Thân)"/>
                <a:ea typeface="Poppins"/>
                <a:cs typeface="Arial" panose="020B0604020202020204" pitchFamily="34" charset="0"/>
                <a:sym typeface="Poppins"/>
              </a:rPr>
              <a:t>pfSense</a:t>
            </a:r>
            <a:r>
              <a:rPr lang="en-US" sz="3000" dirty="0">
                <a:solidFill>
                  <a:srgbClr val="FFFFFF"/>
                </a:solidFill>
                <a:latin typeface="Arial (Thân)"/>
                <a:ea typeface="Poppins"/>
                <a:cs typeface="Arial" panose="020B0604020202020204" pitchFamily="34" charset="0"/>
                <a:sym typeface="Poppins"/>
              </a:rPr>
              <a:t> 2.8.1, bao </a:t>
            </a:r>
            <a:r>
              <a:rPr lang="vi-VN" sz="3000" dirty="0">
                <a:solidFill>
                  <a:srgbClr val="FFFFFF"/>
                </a:solidFill>
                <a:latin typeface="Arial (Thân)"/>
                <a:ea typeface="Poppins"/>
                <a:cs typeface="Arial" panose="020B0604020202020204" pitchFamily="34" charset="0"/>
                <a:sym typeface="Poppins"/>
              </a:rPr>
              <a:t>gồm </a:t>
            </a:r>
            <a:r>
              <a:rPr lang="en-US" sz="3000" dirty="0">
                <a:solidFill>
                  <a:srgbClr val="FFFFFF"/>
                </a:solidFill>
                <a:latin typeface="Arial (Thân)"/>
                <a:ea typeface="Poppins"/>
                <a:cs typeface="Arial" panose="020B0604020202020204" pitchFamily="34" charset="0"/>
                <a:sym typeface="Poppins"/>
              </a:rPr>
              <a:t>Snort 2.9.20_8, Suricata 7.0.11</a:t>
            </a:r>
          </a:p>
          <a:p>
            <a:pPr marL="342900" lvl="0" indent="-342900" algn="l">
              <a:buFontTx/>
              <a:buChar char="-"/>
            </a:pPr>
            <a:r>
              <a:rPr lang="en-US" sz="3000" dirty="0">
                <a:solidFill>
                  <a:srgbClr val="FFFFFF"/>
                </a:solidFill>
                <a:latin typeface="Arial (Thân)"/>
                <a:ea typeface="Poppins"/>
                <a:cs typeface="Arial" panose="020B0604020202020204" pitchFamily="34" charset="0"/>
                <a:sym typeface="Poppins"/>
              </a:rPr>
              <a:t>1 </a:t>
            </a:r>
            <a:r>
              <a:rPr lang="en-US" sz="3000" dirty="0" err="1">
                <a:solidFill>
                  <a:srgbClr val="FFFFFF"/>
                </a:solidFill>
                <a:latin typeface="Arial (Thân)"/>
                <a:ea typeface="Poppins"/>
                <a:cs typeface="Arial" panose="020B0604020202020204" pitchFamily="34" charset="0"/>
                <a:sym typeface="Poppins"/>
              </a:rPr>
              <a:t>máy</a:t>
            </a:r>
            <a:r>
              <a:rPr lang="en-US" sz="3000" dirty="0">
                <a:solidFill>
                  <a:srgbClr val="FFFFFF"/>
                </a:solidFill>
                <a:latin typeface="Arial (Thân)"/>
                <a:ea typeface="Poppins"/>
                <a:cs typeface="Arial" panose="020B0604020202020204" pitchFamily="34" charset="0"/>
                <a:sym typeface="Poppins"/>
              </a:rPr>
              <a:t> Parrot Security</a:t>
            </a:r>
          </a:p>
          <a:p>
            <a:pPr marL="342900" lvl="0" indent="-342900">
              <a:buFontTx/>
              <a:buChar char="-"/>
            </a:pPr>
            <a:r>
              <a:rPr lang="en-US" sz="3000" dirty="0">
                <a:solidFill>
                  <a:srgbClr val="FFFFFF"/>
                </a:solidFill>
                <a:latin typeface="Arial (Thân)"/>
                <a:ea typeface="Poppins"/>
                <a:cs typeface="Arial" panose="020B0604020202020204" pitchFamily="34" charset="0"/>
                <a:sym typeface="Poppins"/>
              </a:rPr>
              <a:t>1 </a:t>
            </a:r>
            <a:r>
              <a:rPr lang="en-US" sz="3000" dirty="0" err="1">
                <a:solidFill>
                  <a:srgbClr val="FFFFFF"/>
                </a:solidFill>
                <a:latin typeface="Arial (Thân)"/>
                <a:ea typeface="Poppins"/>
                <a:cs typeface="Arial" panose="020B0604020202020204" pitchFamily="34" charset="0"/>
                <a:sym typeface="Poppins"/>
              </a:rPr>
              <a:t>máy</a:t>
            </a:r>
            <a:r>
              <a:rPr lang="en-US" sz="3000" dirty="0">
                <a:solidFill>
                  <a:srgbClr val="FFFFFF"/>
                </a:solidFill>
                <a:latin typeface="Arial (Thân)"/>
                <a:ea typeface="Poppins"/>
                <a:cs typeface="Arial" panose="020B0604020202020204" pitchFamily="34" charset="0"/>
                <a:sym typeface="Poppins"/>
              </a:rPr>
              <a:t> Ubuntu 24.04, </a:t>
            </a:r>
            <a:r>
              <a:rPr lang="vi-VN" sz="3000" dirty="0">
                <a:solidFill>
                  <a:srgbClr val="FFFFFF"/>
                </a:solidFill>
                <a:latin typeface="Arial (Thân)"/>
                <a:ea typeface="Poppins"/>
                <a:cs typeface="Arial" panose="020B0604020202020204" pitchFamily="34" charset="0"/>
                <a:sym typeface="Poppins"/>
              </a:rPr>
              <a:t>cài đặt </a:t>
            </a:r>
            <a:r>
              <a:rPr lang="en-US" sz="3000" dirty="0">
                <a:solidFill>
                  <a:srgbClr val="FFFFFF"/>
                </a:solidFill>
                <a:latin typeface="Arial (Thân)"/>
                <a:ea typeface="Poppins"/>
                <a:cs typeface="Arial" panose="020B0604020202020204" pitchFamily="34" charset="0"/>
                <a:sym typeface="Poppins"/>
              </a:rPr>
              <a:t>Docker, Git</a:t>
            </a:r>
          </a:p>
        </p:txBody>
      </p:sp>
      <p:sp>
        <p:nvSpPr>
          <p:cNvPr id="11" name="Freeform 11">
            <a:extLst>
              <a:ext uri="{FF2B5EF4-FFF2-40B4-BE49-F238E27FC236}">
                <a16:creationId xmlns:a16="http://schemas.microsoft.com/office/drawing/2014/main" id="{2F30A471-1C0F-0E4A-FF25-35FCE2DBF1DD}"/>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BA6C924A-8112-65E9-8A04-E911977B6291}"/>
              </a:ext>
            </a:extLst>
          </p:cNvPr>
          <p:cNvSpPr txBox="1"/>
          <p:nvPr/>
        </p:nvSpPr>
        <p:spPr>
          <a:xfrm>
            <a:off x="1574843" y="1023452"/>
            <a:ext cx="2922953" cy="327654"/>
          </a:xfrm>
          <a:prstGeom prst="rect">
            <a:avLst/>
          </a:prstGeom>
        </p:spPr>
        <p:txBody>
          <a:bodyPr lIns="0" tIns="0" rIns="0" bIns="0" rtlCol="0" anchor="t">
            <a:spAutoFit/>
          </a:bodyPr>
          <a:lstStyle/>
          <a:p>
            <a:pPr marL="0" lvl="0" indent="0" algn="l">
              <a:lnSpc>
                <a:spcPts val="2798"/>
              </a:lnSpc>
            </a:pPr>
            <a:r>
              <a:rPr lang="en-US" sz="1998" dirty="0" err="1">
                <a:solidFill>
                  <a:srgbClr val="FFFFFF"/>
                </a:solidFill>
                <a:latin typeface="Arial (Thân)"/>
                <a:ea typeface="Poppins"/>
                <a:cs typeface="Poppins"/>
                <a:sym typeface="Poppins"/>
              </a:rPr>
              <a:t>Nhóm</a:t>
            </a:r>
            <a:r>
              <a:rPr lang="en-US" sz="1998" dirty="0">
                <a:solidFill>
                  <a:srgbClr val="FFFFFF"/>
                </a:solidFill>
                <a:latin typeface="Arial (Thân)"/>
                <a:ea typeface="Poppins"/>
                <a:cs typeface="Poppins"/>
                <a:sym typeface="Poppins"/>
              </a:rPr>
              <a:t> 9 - ATTT K22A</a:t>
            </a:r>
          </a:p>
        </p:txBody>
      </p:sp>
      <p:sp>
        <p:nvSpPr>
          <p:cNvPr id="13" name="TextBox 13">
            <a:extLst>
              <a:ext uri="{FF2B5EF4-FFF2-40B4-BE49-F238E27FC236}">
                <a16:creationId xmlns:a16="http://schemas.microsoft.com/office/drawing/2014/main" id="{5280FCFA-A528-B36E-B8BF-C3FF57707BCF}"/>
              </a:ext>
            </a:extLst>
          </p:cNvPr>
          <p:cNvSpPr txBox="1"/>
          <p:nvPr/>
        </p:nvSpPr>
        <p:spPr>
          <a:xfrm>
            <a:off x="1028700" y="2427514"/>
            <a:ext cx="15354300" cy="1010148"/>
          </a:xfrm>
          <a:prstGeom prst="rect">
            <a:avLst/>
          </a:prstGeom>
        </p:spPr>
        <p:txBody>
          <a:bodyPr wrap="square" lIns="0" tIns="0" rIns="0" bIns="0" rtlCol="0" anchor="t">
            <a:spAutoFit/>
          </a:bodyPr>
          <a:lstStyle/>
          <a:p>
            <a:pPr marL="0" lvl="0" indent="0" algn="l">
              <a:lnSpc>
                <a:spcPts val="8474"/>
              </a:lnSpc>
            </a:pPr>
            <a:r>
              <a:rPr lang="vi-VN" sz="6600" spc="-345" dirty="0">
                <a:solidFill>
                  <a:srgbClr val="FFFFFF"/>
                </a:solidFill>
                <a:latin typeface="Arial (Thân)"/>
                <a:ea typeface="Times New Roman"/>
                <a:cs typeface="Arial" panose="020B0604020202020204" pitchFamily="34" charset="0"/>
                <a:sym typeface="Times New Roman"/>
              </a:rPr>
              <a:t>Danh sách thiết bị sử dụng trong bài</a:t>
            </a:r>
            <a:endParaRPr lang="en-US" sz="6600" spc="-345" dirty="0">
              <a:solidFill>
                <a:srgbClr val="FFFFFF"/>
              </a:solidFill>
              <a:latin typeface="Arial (Thân)"/>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128311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4BA2C-BE4D-5B78-3775-C3AA27FFBA5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E92FF3C-5569-61EC-7B14-811C996EA8B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TextBox 3">
            <a:extLst>
              <a:ext uri="{FF2B5EF4-FFF2-40B4-BE49-F238E27FC236}">
                <a16:creationId xmlns:a16="http://schemas.microsoft.com/office/drawing/2014/main" id="{FA192FCA-830A-AD27-F339-005194C8E83A}"/>
              </a:ext>
            </a:extLst>
          </p:cNvPr>
          <p:cNvSpPr txBox="1"/>
          <p:nvPr/>
        </p:nvSpPr>
        <p:spPr>
          <a:xfrm>
            <a:off x="1028700" y="2366924"/>
            <a:ext cx="16230600" cy="1102866"/>
          </a:xfrm>
          <a:prstGeom prst="rect">
            <a:avLst/>
          </a:prstGeom>
        </p:spPr>
        <p:txBody>
          <a:bodyPr wrap="square" lIns="0" tIns="0" rIns="0" bIns="0" rtlCol="0" anchor="t">
            <a:spAutoFit/>
          </a:bodyPr>
          <a:lstStyle/>
          <a:p>
            <a:pPr marL="0" lvl="0" indent="0" algn="ctr">
              <a:lnSpc>
                <a:spcPts val="8568"/>
              </a:lnSpc>
            </a:pPr>
            <a:r>
              <a:rPr lang="en-US" sz="8159" spc="-359" dirty="0">
                <a:solidFill>
                  <a:srgbClr val="FFFFFF"/>
                </a:solidFill>
                <a:latin typeface="Arial" panose="020B0604020202020204" pitchFamily="34" charset="0"/>
                <a:ea typeface="Times New Roman"/>
                <a:cs typeface="Arial" panose="020B0604020202020204" pitchFamily="34" charset="0"/>
                <a:sym typeface="Times New Roman"/>
              </a:rPr>
              <a:t>CÁC KỸ THUẬT LẨN TRÁNH IDS</a:t>
            </a:r>
          </a:p>
        </p:txBody>
      </p:sp>
      <p:sp>
        <p:nvSpPr>
          <p:cNvPr id="4" name="TextBox 4">
            <a:extLst>
              <a:ext uri="{FF2B5EF4-FFF2-40B4-BE49-F238E27FC236}">
                <a16:creationId xmlns:a16="http://schemas.microsoft.com/office/drawing/2014/main" id="{959792AC-2C2A-F0D6-28C5-B8462E7B0D9D}"/>
              </a:ext>
            </a:extLst>
          </p:cNvPr>
          <p:cNvSpPr txBox="1"/>
          <p:nvPr/>
        </p:nvSpPr>
        <p:spPr>
          <a:xfrm>
            <a:off x="1267504" y="4389760"/>
            <a:ext cx="15267896" cy="1487587"/>
          </a:xfrm>
          <a:prstGeom prst="rect">
            <a:avLst/>
          </a:prstGeom>
        </p:spPr>
        <p:txBody>
          <a:bodyPr wrap="square" lIns="0" tIns="0" rIns="0" bIns="0" rtlCol="0" anchor="t">
            <a:spAutoFit/>
          </a:bodyPr>
          <a:lstStyle/>
          <a:p>
            <a:pPr marL="0" lvl="0" indent="0">
              <a:lnSpc>
                <a:spcPts val="2901"/>
              </a:lnSpc>
            </a:pPr>
            <a:r>
              <a:rPr lang="en-US" sz="2800" dirty="0" err="1">
                <a:solidFill>
                  <a:srgbClr val="FFFFFF"/>
                </a:solidFill>
                <a:latin typeface="Arial" panose="020B0604020202020204" pitchFamily="34" charset="0"/>
                <a:ea typeface="Poppins"/>
                <a:cs typeface="Arial" panose="020B0604020202020204" pitchFamily="34" charset="0"/>
                <a:sym typeface="Poppins"/>
              </a:rPr>
              <a:t>Mặc</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dù</a:t>
            </a:r>
            <a:r>
              <a:rPr lang="en-US" sz="2800" dirty="0">
                <a:solidFill>
                  <a:srgbClr val="FFFFFF"/>
                </a:solidFill>
                <a:latin typeface="Arial" panose="020B0604020202020204" pitchFamily="34" charset="0"/>
                <a:ea typeface="Poppins"/>
                <a:cs typeface="Arial" panose="020B0604020202020204" pitchFamily="34" charset="0"/>
                <a:sym typeface="Poppins"/>
              </a:rPr>
              <a:t> IDS </a:t>
            </a:r>
            <a:r>
              <a:rPr lang="en-US" sz="2800" dirty="0" err="1">
                <a:solidFill>
                  <a:srgbClr val="FFFFFF"/>
                </a:solidFill>
                <a:latin typeface="Arial" panose="020B0604020202020204" pitchFamily="34" charset="0"/>
                <a:ea typeface="Poppins"/>
                <a:cs typeface="Arial" panose="020B0604020202020204" pitchFamily="34" charset="0"/>
                <a:sym typeface="Poppins"/>
              </a:rPr>
              <a:t>ngăn</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chặn</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các</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nỗ</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lực</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xâm</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nhập</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bảo</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mật</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mạng</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nhưng</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kẻ</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tấn</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công</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vẫn</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có</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thể</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trốn</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tránh</a:t>
            </a:r>
            <a:r>
              <a:rPr lang="en-US" sz="2800" dirty="0">
                <a:solidFill>
                  <a:srgbClr val="FFFFFF"/>
                </a:solidFill>
                <a:latin typeface="Arial" panose="020B0604020202020204" pitchFamily="34" charset="0"/>
                <a:ea typeface="Poppins"/>
                <a:cs typeface="Arial" panose="020B0604020202020204" pitchFamily="34" charset="0"/>
                <a:sym typeface="Poppins"/>
              </a:rPr>
              <a:t> IDS </a:t>
            </a:r>
            <a:r>
              <a:rPr lang="en-US" sz="2800" dirty="0" err="1">
                <a:solidFill>
                  <a:srgbClr val="FFFFFF"/>
                </a:solidFill>
                <a:latin typeface="Arial" panose="020B0604020202020204" pitchFamily="34" charset="0"/>
                <a:ea typeface="Poppins"/>
                <a:cs typeface="Arial" panose="020B0604020202020204" pitchFamily="34" charset="0"/>
                <a:sym typeface="Poppins"/>
              </a:rPr>
              <a:t>bằng</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các</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kỹ</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thuật</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lẩn</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tránh</a:t>
            </a:r>
            <a:endParaRPr lang="en-US" sz="2800" dirty="0">
              <a:solidFill>
                <a:srgbClr val="FFFFFF"/>
              </a:solidFill>
              <a:latin typeface="Arial" panose="020B0604020202020204" pitchFamily="34" charset="0"/>
              <a:ea typeface="Poppins"/>
              <a:cs typeface="Arial" panose="020B0604020202020204" pitchFamily="34" charset="0"/>
              <a:sym typeface="Poppins"/>
            </a:endParaRPr>
          </a:p>
          <a:p>
            <a:pPr marL="0" lvl="0" indent="0">
              <a:lnSpc>
                <a:spcPts val="2901"/>
              </a:lnSpc>
            </a:pPr>
            <a:endParaRPr lang="en-US" sz="2800" dirty="0">
              <a:solidFill>
                <a:srgbClr val="FFFFFF"/>
              </a:solidFill>
              <a:latin typeface="Arial" panose="020B0604020202020204" pitchFamily="34" charset="0"/>
              <a:ea typeface="Poppins"/>
              <a:cs typeface="Arial" panose="020B0604020202020204" pitchFamily="34" charset="0"/>
              <a:sym typeface="Poppins"/>
            </a:endParaRPr>
          </a:p>
          <a:p>
            <a:pPr marL="0" lvl="0" indent="0">
              <a:lnSpc>
                <a:spcPts val="2901"/>
              </a:lnSpc>
            </a:pPr>
            <a:r>
              <a:rPr lang="en-US" sz="2800" dirty="0" err="1">
                <a:solidFill>
                  <a:srgbClr val="FFFFFF"/>
                </a:solidFill>
                <a:latin typeface="Arial" panose="020B0604020202020204" pitchFamily="34" charset="0"/>
                <a:ea typeface="Poppins"/>
                <a:cs typeface="Arial" panose="020B0604020202020204" pitchFamily="34" charset="0"/>
                <a:sym typeface="Poppins"/>
              </a:rPr>
              <a:t>Mục</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tiêu</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vô</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hiệu</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hoá</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khả</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năng</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phát</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hiện</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hoặc</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làm</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cho</a:t>
            </a:r>
            <a:r>
              <a:rPr lang="en-US" sz="2800" dirty="0">
                <a:solidFill>
                  <a:srgbClr val="FFFFFF"/>
                </a:solidFill>
                <a:latin typeface="Arial" panose="020B0604020202020204" pitchFamily="34" charset="0"/>
                <a:ea typeface="Poppins"/>
                <a:cs typeface="Arial" panose="020B0604020202020204" pitchFamily="34" charset="0"/>
                <a:sym typeface="Poppins"/>
              </a:rPr>
              <a:t> IDS </a:t>
            </a:r>
            <a:r>
              <a:rPr lang="en-US" sz="2800" dirty="0" err="1">
                <a:solidFill>
                  <a:srgbClr val="FFFFFF"/>
                </a:solidFill>
                <a:latin typeface="Arial" panose="020B0604020202020204" pitchFamily="34" charset="0"/>
                <a:ea typeface="Poppins"/>
                <a:cs typeface="Arial" panose="020B0604020202020204" pitchFamily="34" charset="0"/>
                <a:sym typeface="Poppins"/>
              </a:rPr>
              <a:t>hoạt</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động</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sai</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lệch</a:t>
            </a:r>
            <a:endParaRPr lang="en-US" sz="2800" dirty="0">
              <a:solidFill>
                <a:srgbClr val="FFFFFF"/>
              </a:solidFill>
              <a:latin typeface="Arial" panose="020B0604020202020204" pitchFamily="34" charset="0"/>
              <a:ea typeface="Poppins"/>
              <a:cs typeface="Arial" panose="020B0604020202020204" pitchFamily="34" charset="0"/>
              <a:sym typeface="Poppins"/>
            </a:endParaRPr>
          </a:p>
        </p:txBody>
      </p:sp>
      <p:sp>
        <p:nvSpPr>
          <p:cNvPr id="5" name="Freeform 5">
            <a:extLst>
              <a:ext uri="{FF2B5EF4-FFF2-40B4-BE49-F238E27FC236}">
                <a16:creationId xmlns:a16="http://schemas.microsoft.com/office/drawing/2014/main" id="{F38074A0-E29C-EA79-B3A7-6FB5CCB49287}"/>
              </a:ext>
            </a:extLst>
          </p:cNvPr>
          <p:cNvSpPr/>
          <p:nvPr/>
        </p:nvSpPr>
        <p:spPr>
          <a:xfrm>
            <a:off x="-1340885" y="5505450"/>
            <a:ext cx="5838682" cy="5855316"/>
          </a:xfrm>
          <a:custGeom>
            <a:avLst/>
            <a:gdLst/>
            <a:ahLst/>
            <a:cxnLst/>
            <a:rect l="l" t="t" r="r" b="b"/>
            <a:pathLst>
              <a:path w="5838682" h="5855316">
                <a:moveTo>
                  <a:pt x="0" y="0"/>
                </a:moveTo>
                <a:lnTo>
                  <a:pt x="5838681" y="0"/>
                </a:lnTo>
                <a:lnTo>
                  <a:pt x="5838681" y="5855316"/>
                </a:lnTo>
                <a:lnTo>
                  <a:pt x="0" y="5855316"/>
                </a:lnTo>
                <a:lnTo>
                  <a:pt x="0"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A3B0FE81-5DBC-ED82-DDBE-7BE0EF761296}"/>
              </a:ext>
            </a:extLst>
          </p:cNvPr>
          <p:cNvSpPr/>
          <p:nvPr/>
        </p:nvSpPr>
        <p:spPr>
          <a:xfrm flipH="1">
            <a:off x="13558746" y="5505450"/>
            <a:ext cx="5838682" cy="5855316"/>
          </a:xfrm>
          <a:custGeom>
            <a:avLst/>
            <a:gdLst/>
            <a:ahLst/>
            <a:cxnLst/>
            <a:rect l="l" t="t" r="r" b="b"/>
            <a:pathLst>
              <a:path w="5838682" h="5855316">
                <a:moveTo>
                  <a:pt x="5838681" y="0"/>
                </a:moveTo>
                <a:lnTo>
                  <a:pt x="0" y="0"/>
                </a:lnTo>
                <a:lnTo>
                  <a:pt x="0" y="5855316"/>
                </a:lnTo>
                <a:lnTo>
                  <a:pt x="5838681" y="5855316"/>
                </a:lnTo>
                <a:lnTo>
                  <a:pt x="5838681"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7" name="AutoShape 7">
            <a:extLst>
              <a:ext uri="{FF2B5EF4-FFF2-40B4-BE49-F238E27FC236}">
                <a16:creationId xmlns:a16="http://schemas.microsoft.com/office/drawing/2014/main" id="{95C975EE-F5A3-4948-2364-F74BD7636321}"/>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8" name="Freeform 8">
            <a:extLst>
              <a:ext uri="{FF2B5EF4-FFF2-40B4-BE49-F238E27FC236}">
                <a16:creationId xmlns:a16="http://schemas.microsoft.com/office/drawing/2014/main" id="{656350A6-9470-EF7B-AB51-AE390C3DDF63}"/>
              </a:ext>
            </a:extLst>
          </p:cNvPr>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15E036D3-0DBB-64A3-9DBE-D9E3EE68DFED}"/>
              </a:ext>
            </a:extLst>
          </p:cNvPr>
          <p:cNvSpPr txBox="1"/>
          <p:nvPr/>
        </p:nvSpPr>
        <p:spPr>
          <a:xfrm>
            <a:off x="1574843" y="1023452"/>
            <a:ext cx="2922953" cy="327654"/>
          </a:xfrm>
          <a:prstGeom prst="rect">
            <a:avLst/>
          </a:prstGeom>
        </p:spPr>
        <p:txBody>
          <a:bodyPr lIns="0" tIns="0" rIns="0" bIns="0" rtlCol="0" anchor="t">
            <a:spAutoFit/>
          </a:bodyPr>
          <a:lstStyle/>
          <a:p>
            <a:pPr marL="0" lvl="0" indent="0" algn="l">
              <a:lnSpc>
                <a:spcPts val="2798"/>
              </a:lnSpc>
            </a:pPr>
            <a:r>
              <a:rPr lang="en-US" sz="1998" err="1">
                <a:solidFill>
                  <a:srgbClr val="FFFFFF"/>
                </a:solidFill>
                <a:latin typeface="Arial" panose="020B0604020202020204" pitchFamily="34" charset="0"/>
                <a:ea typeface="Poppins"/>
                <a:cs typeface="Arial" panose="020B0604020202020204" pitchFamily="34" charset="0"/>
                <a:sym typeface="Poppins"/>
              </a:rPr>
              <a:t>Nhóm</a:t>
            </a:r>
            <a:r>
              <a:rPr lang="en-US" sz="1998">
                <a:solidFill>
                  <a:srgbClr val="FFFFFF"/>
                </a:solidFill>
                <a:latin typeface="Arial" panose="020B0604020202020204" pitchFamily="34" charset="0"/>
                <a:ea typeface="Poppins"/>
                <a:cs typeface="Arial" panose="020B0604020202020204" pitchFamily="34" charset="0"/>
                <a:sym typeface="Poppins"/>
              </a:rPr>
              <a:t> 9 - ATTT K22A</a:t>
            </a:r>
          </a:p>
        </p:txBody>
      </p:sp>
    </p:spTree>
    <p:extLst>
      <p:ext uri="{BB962C8B-B14F-4D97-AF65-F5344CB8AC3E}">
        <p14:creationId xmlns:p14="http://schemas.microsoft.com/office/powerpoint/2010/main" val="1577700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p:cNvSpPr txBox="1"/>
          <p:nvPr/>
        </p:nvSpPr>
        <p:spPr>
          <a:xfrm>
            <a:off x="1028700" y="4098917"/>
            <a:ext cx="7358743" cy="2952155"/>
          </a:xfrm>
          <a:prstGeom prst="rect">
            <a:avLst/>
          </a:prstGeom>
        </p:spPr>
        <p:txBody>
          <a:bodyPr lIns="0" tIns="0" rIns="0" bIns="0" rtlCol="0" anchor="t">
            <a:spAutoFit/>
          </a:bodyPr>
          <a:lstStyle/>
          <a:p>
            <a:pPr marL="0" lvl="0" indent="0" algn="l">
              <a:lnSpc>
                <a:spcPts val="2901"/>
              </a:lnSpc>
            </a:pPr>
            <a:r>
              <a:rPr lang="en-US" sz="2398" dirty="0" err="1">
                <a:solidFill>
                  <a:srgbClr val="FFFFFF"/>
                </a:solidFill>
                <a:latin typeface="Arial" panose="020B0604020202020204" pitchFamily="34" charset="0"/>
                <a:ea typeface="Poppins"/>
                <a:cs typeface="Arial" panose="020B0604020202020204" pitchFamily="34" charset="0"/>
                <a:sym typeface="Poppins"/>
              </a:rPr>
              <a:t>Cơ</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chế</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Kẻ</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tấn</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công</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gửi</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các</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gói</a:t>
            </a:r>
            <a:r>
              <a:rPr lang="en-US" sz="2398" dirty="0">
                <a:solidFill>
                  <a:srgbClr val="FFFFFF"/>
                </a:solidFill>
                <a:latin typeface="Arial" panose="020B0604020202020204" pitchFamily="34" charset="0"/>
                <a:ea typeface="Poppins"/>
                <a:cs typeface="Arial" panose="020B0604020202020204" pitchFamily="34" charset="0"/>
                <a:sym typeface="Poppins"/>
              </a:rPr>
              <a:t> tin </a:t>
            </a:r>
            <a:r>
              <a:rPr lang="en-US" sz="2398" dirty="0" err="1">
                <a:solidFill>
                  <a:srgbClr val="FFFFFF"/>
                </a:solidFill>
                <a:latin typeface="Arial" panose="020B0604020202020204" pitchFamily="34" charset="0"/>
                <a:ea typeface="Poppins"/>
                <a:cs typeface="Arial" panose="020B0604020202020204" pitchFamily="34" charset="0"/>
                <a:sym typeface="Poppins"/>
              </a:rPr>
              <a:t>mà</a:t>
            </a:r>
            <a:r>
              <a:rPr lang="en-US" sz="2398" dirty="0">
                <a:solidFill>
                  <a:srgbClr val="FFFFFF"/>
                </a:solidFill>
                <a:latin typeface="Arial" panose="020B0604020202020204" pitchFamily="34" charset="0"/>
                <a:ea typeface="Poppins"/>
                <a:cs typeface="Arial" panose="020B0604020202020204" pitchFamily="34" charset="0"/>
                <a:sym typeface="Poppins"/>
              </a:rPr>
              <a:t> IDS </a:t>
            </a:r>
            <a:r>
              <a:rPr lang="en-US" sz="2398" dirty="0" err="1">
                <a:solidFill>
                  <a:srgbClr val="FFFFFF"/>
                </a:solidFill>
                <a:latin typeface="Arial" panose="020B0604020202020204" pitchFamily="34" charset="0"/>
                <a:ea typeface="Poppins"/>
                <a:cs typeface="Arial" panose="020B0604020202020204" pitchFamily="34" charset="0"/>
                <a:sym typeface="Poppins"/>
              </a:rPr>
              <a:t>chấp</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nhận</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nhưng</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máy</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đích</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loại</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bỏ</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khi</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xử</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lý</a:t>
            </a:r>
            <a:endParaRPr lang="en-US"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endParaRPr lang="en-US"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en-US" sz="2398" dirty="0" err="1">
                <a:solidFill>
                  <a:srgbClr val="FFFFFF"/>
                </a:solidFill>
                <a:latin typeface="Arial" panose="020B0604020202020204" pitchFamily="34" charset="0"/>
                <a:ea typeface="Poppins"/>
                <a:cs typeface="Arial" panose="020B0604020202020204" pitchFamily="34" charset="0"/>
                <a:sym typeface="Poppins"/>
              </a:rPr>
              <a:t>Mục</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đích</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Khiến</a:t>
            </a:r>
            <a:r>
              <a:rPr lang="en-US" sz="2398" dirty="0">
                <a:solidFill>
                  <a:srgbClr val="FFFFFF"/>
                </a:solidFill>
                <a:latin typeface="Arial" panose="020B0604020202020204" pitchFamily="34" charset="0"/>
                <a:ea typeface="Poppins"/>
                <a:cs typeface="Arial" panose="020B0604020202020204" pitchFamily="34" charset="0"/>
                <a:sym typeface="Poppins"/>
              </a:rPr>
              <a:t> IDS </a:t>
            </a:r>
            <a:r>
              <a:rPr lang="en-US" sz="2398" dirty="0" err="1">
                <a:solidFill>
                  <a:srgbClr val="FFFFFF"/>
                </a:solidFill>
                <a:latin typeface="Arial" panose="020B0604020202020204" pitchFamily="34" charset="0"/>
                <a:ea typeface="Poppins"/>
                <a:cs typeface="Arial" panose="020B0604020202020204" pitchFamily="34" charset="0"/>
                <a:sym typeface="Poppins"/>
              </a:rPr>
              <a:t>tái</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dựng</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luồng</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dữ</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liệu</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khác</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với</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dữ</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liệu</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mà</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máy</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đích</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thực</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sự</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tiếp</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nhận</a:t>
            </a:r>
            <a:endParaRPr lang="en-US"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endParaRPr lang="en-US"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en-US" sz="2398" dirty="0" err="1">
                <a:solidFill>
                  <a:srgbClr val="FFFFFF"/>
                </a:solidFill>
                <a:latin typeface="Arial" panose="020B0604020202020204" pitchFamily="34" charset="0"/>
                <a:ea typeface="Poppins"/>
                <a:cs typeface="Arial" panose="020B0604020202020204" pitchFamily="34" charset="0"/>
                <a:sym typeface="Poppins"/>
              </a:rPr>
              <a:t>Ảnh</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hưởng</a:t>
            </a:r>
            <a:r>
              <a:rPr lang="en-US" sz="2398" dirty="0">
                <a:solidFill>
                  <a:srgbClr val="FFFFFF"/>
                </a:solidFill>
                <a:latin typeface="Arial" panose="020B0604020202020204" pitchFamily="34" charset="0"/>
                <a:ea typeface="Poppins"/>
                <a:cs typeface="Arial" panose="020B0604020202020204" pitchFamily="34" charset="0"/>
                <a:sym typeface="Poppins"/>
              </a:rPr>
              <a:t>: IDS </a:t>
            </a:r>
            <a:r>
              <a:rPr lang="en-US" sz="2398" dirty="0" err="1">
                <a:solidFill>
                  <a:srgbClr val="FFFFFF"/>
                </a:solidFill>
                <a:latin typeface="Arial" panose="020B0604020202020204" pitchFamily="34" charset="0"/>
                <a:ea typeface="Poppins"/>
                <a:cs typeface="Arial" panose="020B0604020202020204" pitchFamily="34" charset="0"/>
                <a:sym typeface="Poppins"/>
              </a:rPr>
              <a:t>có</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thể</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phân</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tích</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nhầm</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nội</a:t>
            </a:r>
            <a:r>
              <a:rPr lang="en-US" sz="2398" dirty="0">
                <a:solidFill>
                  <a:srgbClr val="FFFFFF"/>
                </a:solidFill>
                <a:latin typeface="Arial" panose="020B0604020202020204" pitchFamily="34" charset="0"/>
                <a:ea typeface="Poppins"/>
                <a:cs typeface="Arial" panose="020B0604020202020204" pitchFamily="34" charset="0"/>
                <a:sym typeface="Poppins"/>
              </a:rPr>
              <a:t> dung, </a:t>
            </a:r>
            <a:r>
              <a:rPr lang="en-US" sz="2398" dirty="0" err="1">
                <a:solidFill>
                  <a:srgbClr val="FFFFFF"/>
                </a:solidFill>
                <a:latin typeface="Arial" panose="020B0604020202020204" pitchFamily="34" charset="0"/>
                <a:ea typeface="Poppins"/>
                <a:cs typeface="Arial" panose="020B0604020202020204" pitchFamily="34" charset="0"/>
                <a:sym typeface="Poppins"/>
              </a:rPr>
              <a:t>gây</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ra</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cảnh</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báo</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sai</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hoặc</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bỏ</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sót</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hành</a:t>
            </a:r>
            <a:r>
              <a:rPr lang="en-US" sz="2398" dirty="0">
                <a:solidFill>
                  <a:srgbClr val="FFFFFF"/>
                </a:solidFill>
                <a:latin typeface="Arial" panose="020B0604020202020204" pitchFamily="34" charset="0"/>
                <a:ea typeface="Poppins"/>
                <a:cs typeface="Arial" panose="020B0604020202020204" pitchFamily="34" charset="0"/>
                <a:sym typeface="Poppins"/>
              </a:rPr>
              <a:t> vi </a:t>
            </a:r>
            <a:r>
              <a:rPr lang="en-US" sz="2398" dirty="0" err="1">
                <a:solidFill>
                  <a:srgbClr val="FFFFFF"/>
                </a:solidFill>
                <a:latin typeface="Arial" panose="020B0604020202020204" pitchFamily="34" charset="0"/>
                <a:ea typeface="Poppins"/>
                <a:cs typeface="Arial" panose="020B0604020202020204" pitchFamily="34" charset="0"/>
                <a:sym typeface="Poppins"/>
              </a:rPr>
              <a:t>tấn</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công</a:t>
            </a:r>
            <a:endParaRPr lang="en-US" sz="2398" dirty="0">
              <a:solidFill>
                <a:srgbClr val="FFFFFF"/>
              </a:solidFill>
              <a:latin typeface="Arial" panose="020B0604020202020204" pitchFamily="34" charset="0"/>
              <a:ea typeface="Poppins"/>
              <a:cs typeface="Arial" panose="020B0604020202020204" pitchFamily="34" charset="0"/>
              <a:sym typeface="Poppins"/>
            </a:endParaRPr>
          </a:p>
        </p:txBody>
      </p:sp>
      <p:sp>
        <p:nvSpPr>
          <p:cNvPr id="11" name="Freeform 11"/>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p:cNvSpPr txBox="1"/>
          <p:nvPr/>
        </p:nvSpPr>
        <p:spPr>
          <a:xfrm>
            <a:off x="1028700" y="2427514"/>
            <a:ext cx="16230600" cy="1010148"/>
          </a:xfrm>
          <a:prstGeom prst="rect">
            <a:avLst/>
          </a:prstGeom>
        </p:spPr>
        <p:txBody>
          <a:bodyPr wrap="square" lIns="0" tIns="0" rIns="0" bIns="0" rtlCol="0" anchor="t">
            <a:spAutoFit/>
          </a:bodyPr>
          <a:lstStyle/>
          <a:p>
            <a:pPr marL="0" lvl="0" indent="0" algn="l">
              <a:lnSpc>
                <a:spcPts val="8474"/>
              </a:lnSpc>
            </a:pP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Tấn</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công</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chèn</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(Insertion Attack)</a:t>
            </a:r>
          </a:p>
        </p:txBody>
      </p:sp>
      <p:pic>
        <p:nvPicPr>
          <p:cNvPr id="14" name="Picture 13" descr="Insertion Attack">
            <a:extLst>
              <a:ext uri="{FF2B5EF4-FFF2-40B4-BE49-F238E27FC236}">
                <a16:creationId xmlns:a16="http://schemas.microsoft.com/office/drawing/2014/main" id="{E479186D-81EC-7458-19A2-85DB2AF618CB}"/>
              </a:ext>
            </a:extLst>
          </p:cNvPr>
          <p:cNvPicPr>
            <a:picLocks noChangeAspect="1"/>
          </p:cNvPicPr>
          <p:nvPr/>
        </p:nvPicPr>
        <p:blipFill>
          <a:blip r:embed="rId5"/>
          <a:stretch>
            <a:fillRect/>
          </a:stretch>
        </p:blipFill>
        <p:spPr>
          <a:xfrm>
            <a:off x="8915400" y="4098917"/>
            <a:ext cx="8343900" cy="49768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D4C2D-473C-7849-0DBE-EE786A62DFC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AC43F2D-93CA-15D3-43CA-ECDEE68082E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EAE8613B-B2A1-DD8E-D28A-271FC7F33443}"/>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F20DA70B-2685-AA36-C4B0-D3FCF626EA5D}"/>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0208FE7B-78F2-648E-49E0-9502BF821F46}"/>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13EC606E-9BA8-9230-35FC-6E60D5BF05C5}"/>
              </a:ext>
            </a:extLst>
          </p:cNvPr>
          <p:cNvSpPr txBox="1"/>
          <p:nvPr/>
        </p:nvSpPr>
        <p:spPr>
          <a:xfrm>
            <a:off x="1028700" y="4148224"/>
            <a:ext cx="7358743" cy="3324052"/>
          </a:xfrm>
          <a:prstGeom prst="rect">
            <a:avLst/>
          </a:prstGeom>
        </p:spPr>
        <p:txBody>
          <a:bodyPr lIns="0" tIns="0" rIns="0" bIns="0" rtlCol="0" anchor="t">
            <a:spAutoFit/>
          </a:bodyPr>
          <a:lstStyle/>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Cơ chế: Gửi các gói tin mà máy đích chấp nhận nhưng IDS loại bỏ hoặc diễn giải khác khi tái dựng luồng dữ liệu.</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Mục đích: Tạo ra sự khác biệt giữa cách IDS phân tích và cách máy đích xử lý dữ liệu.</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Ảnh hưởng: Nội dung tấn công có thể không khớp với luật phát hiện của IDS.</a:t>
            </a:r>
          </a:p>
        </p:txBody>
      </p:sp>
      <p:sp>
        <p:nvSpPr>
          <p:cNvPr id="11" name="Freeform 11">
            <a:extLst>
              <a:ext uri="{FF2B5EF4-FFF2-40B4-BE49-F238E27FC236}">
                <a16:creationId xmlns:a16="http://schemas.microsoft.com/office/drawing/2014/main" id="{8D6CE522-A61F-3439-B6AA-7AB2368BBD31}"/>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6DABBEE4-7279-B33E-284B-64D81E0B3F6E}"/>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6F4E090D-F9D5-5DB5-69C9-B1FD29C07436}"/>
              </a:ext>
            </a:extLst>
          </p:cNvPr>
          <p:cNvSpPr txBox="1"/>
          <p:nvPr/>
        </p:nvSpPr>
        <p:spPr>
          <a:xfrm>
            <a:off x="1028700" y="2427514"/>
            <a:ext cx="16230600" cy="1010148"/>
          </a:xfrm>
          <a:prstGeom prst="rect">
            <a:avLst/>
          </a:prstGeom>
        </p:spPr>
        <p:txBody>
          <a:bodyPr wrap="square" lIns="0" tIns="0" rIns="0" bIns="0" rtlCol="0" anchor="t">
            <a:spAutoFit/>
          </a:bodyPr>
          <a:lstStyle/>
          <a:p>
            <a:pPr marL="0" lvl="0" indent="0" algn="l">
              <a:lnSpc>
                <a:spcPts val="8474"/>
              </a:lnSpc>
            </a:pP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Tấn</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công</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trốn</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tránh</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(Evasion Attack)</a:t>
            </a:r>
          </a:p>
        </p:txBody>
      </p:sp>
      <p:pic>
        <p:nvPicPr>
          <p:cNvPr id="6" name="Picture 5">
            <a:extLst>
              <a:ext uri="{FF2B5EF4-FFF2-40B4-BE49-F238E27FC236}">
                <a16:creationId xmlns:a16="http://schemas.microsoft.com/office/drawing/2014/main" id="{F0F46B5F-4840-800A-FAFA-E6C18AFB7199}"/>
              </a:ext>
            </a:extLst>
          </p:cNvPr>
          <p:cNvPicPr>
            <a:picLocks noChangeAspect="1"/>
          </p:cNvPicPr>
          <p:nvPr/>
        </p:nvPicPr>
        <p:blipFill>
          <a:blip r:embed="rId5"/>
          <a:stretch>
            <a:fillRect/>
          </a:stretch>
        </p:blipFill>
        <p:spPr>
          <a:xfrm>
            <a:off x="8606434" y="4110603"/>
            <a:ext cx="8967274" cy="3766255"/>
          </a:xfrm>
          <a:prstGeom prst="rect">
            <a:avLst/>
          </a:prstGeom>
        </p:spPr>
      </p:pic>
    </p:spTree>
    <p:extLst>
      <p:ext uri="{BB962C8B-B14F-4D97-AF65-F5344CB8AC3E}">
        <p14:creationId xmlns:p14="http://schemas.microsoft.com/office/powerpoint/2010/main" val="888740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7FD69-5C8F-2383-2384-770EBE96687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8D844E3-6484-204A-D562-B186619ED11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26182CB9-77E3-0A09-DB74-965706A91DEF}"/>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9ABA6465-1FBF-2B13-2F22-4BAC0EDEB9BD}"/>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C2F73C44-AAD4-D513-21BE-7FA4E1836A38}"/>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5685DFED-8319-AD5E-954F-48629519E4B3}"/>
              </a:ext>
            </a:extLst>
          </p:cNvPr>
          <p:cNvSpPr txBox="1"/>
          <p:nvPr/>
        </p:nvSpPr>
        <p:spPr>
          <a:xfrm>
            <a:off x="1028700" y="5580289"/>
            <a:ext cx="7358743" cy="2208361"/>
          </a:xfrm>
          <a:prstGeom prst="rect">
            <a:avLst/>
          </a:prstGeom>
        </p:spPr>
        <p:txBody>
          <a:bodyPr lIns="0" tIns="0" rIns="0" bIns="0" rtlCol="0" anchor="t">
            <a:spAutoFit/>
          </a:bodyPr>
          <a:lstStyle/>
          <a:p>
            <a:pPr marL="0" lvl="0" indent="0" algn="l">
              <a:lnSpc>
                <a:spcPts val="2901"/>
              </a:lnSpc>
            </a:pPr>
            <a:r>
              <a:rPr lang="vi-VN" sz="2398">
                <a:solidFill>
                  <a:srgbClr val="FFFFFF"/>
                </a:solidFill>
                <a:latin typeface="Arial" panose="020B0604020202020204" pitchFamily="34" charset="0"/>
                <a:ea typeface="Poppins"/>
                <a:cs typeface="Arial" panose="020B0604020202020204" pitchFamily="34" charset="0"/>
                <a:sym typeface="Poppins"/>
              </a:rPr>
              <a:t>Cơ chế: Gửi liên tục các gói tin từ 01 nguồn làm cho hệ thống không xử lí kịp thời dẫn đến quá tải.</a:t>
            </a:r>
          </a:p>
          <a:p>
            <a:pPr marL="0" lvl="0" indent="0" algn="l">
              <a:lnSpc>
                <a:spcPts val="2901"/>
              </a:lnSpc>
            </a:pPr>
            <a:r>
              <a:rPr lang="vi-VN" sz="2398">
                <a:solidFill>
                  <a:srgbClr val="FFFFFF"/>
                </a:solidFill>
                <a:latin typeface="Arial" panose="020B0604020202020204" pitchFamily="34" charset="0"/>
                <a:ea typeface="Poppins"/>
                <a:cs typeface="Arial" panose="020B0604020202020204" pitchFamily="34" charset="0"/>
                <a:sym typeface="Poppins"/>
              </a:rPr>
              <a:t>Mục đích: Làm giảm khả năng xử lý lưu lượng hoặc khả năng giám sát của IDS/IPS.</a:t>
            </a:r>
          </a:p>
          <a:p>
            <a:pPr marL="0" lvl="0" indent="0" algn="l">
              <a:lnSpc>
                <a:spcPts val="2901"/>
              </a:lnSpc>
            </a:pPr>
            <a:r>
              <a:rPr lang="vi-VN" sz="2398">
                <a:solidFill>
                  <a:srgbClr val="FFFFFF"/>
                </a:solidFill>
                <a:latin typeface="Arial" panose="020B0604020202020204" pitchFamily="34" charset="0"/>
                <a:ea typeface="Poppins"/>
                <a:cs typeface="Arial" panose="020B0604020202020204" pitchFamily="34" charset="0"/>
                <a:sym typeface="Poppins"/>
              </a:rPr>
              <a:t>Ảnh hưởng: Hệ thống có thể xử lý chậm, mất gói tin hoặc bỏ lỡ các sự kiện tấn công khác.</a:t>
            </a:r>
          </a:p>
        </p:txBody>
      </p:sp>
      <p:sp>
        <p:nvSpPr>
          <p:cNvPr id="11" name="Freeform 11">
            <a:extLst>
              <a:ext uri="{FF2B5EF4-FFF2-40B4-BE49-F238E27FC236}">
                <a16:creationId xmlns:a16="http://schemas.microsoft.com/office/drawing/2014/main" id="{B7C1ABFB-C93F-003F-D145-7D2D7FCA5F0C}"/>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F96F9129-7E16-07A4-A26A-BB809EA546AF}"/>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A0DB935F-BF80-BDAA-9163-CDB4199FD5B8}"/>
              </a:ext>
            </a:extLst>
          </p:cNvPr>
          <p:cNvSpPr txBox="1"/>
          <p:nvPr/>
        </p:nvSpPr>
        <p:spPr>
          <a:xfrm>
            <a:off x="1028700" y="2427514"/>
            <a:ext cx="16230600" cy="1010148"/>
          </a:xfrm>
          <a:prstGeom prst="rect">
            <a:avLst/>
          </a:prstGeom>
        </p:spPr>
        <p:txBody>
          <a:bodyPr wrap="square" lIns="0" tIns="0" rIns="0" bIns="0" rtlCol="0" anchor="t">
            <a:spAutoFit/>
          </a:bodyPr>
          <a:lstStyle/>
          <a:p>
            <a:pPr marL="0" lvl="0" indent="0" algn="l">
              <a:lnSpc>
                <a:spcPts val="8474"/>
              </a:lnSpc>
            </a:pP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Tấn</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công</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từ</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chối</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dịch</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vụ</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(DoS Attack)</a:t>
            </a:r>
          </a:p>
        </p:txBody>
      </p:sp>
      <p:pic>
        <p:nvPicPr>
          <p:cNvPr id="7" name="Picture 6" descr="Difference Between DoS and DDoS Attacks with Examples">
            <a:extLst>
              <a:ext uri="{FF2B5EF4-FFF2-40B4-BE49-F238E27FC236}">
                <a16:creationId xmlns:a16="http://schemas.microsoft.com/office/drawing/2014/main" id="{76F10B6A-EA55-F6DD-7F09-EA7BBA078B0D}"/>
              </a:ext>
            </a:extLst>
          </p:cNvPr>
          <p:cNvPicPr>
            <a:picLocks noChangeAspect="1"/>
          </p:cNvPicPr>
          <p:nvPr/>
        </p:nvPicPr>
        <p:blipFill>
          <a:blip r:embed="rId5"/>
          <a:stretch>
            <a:fillRect/>
          </a:stretch>
        </p:blipFill>
        <p:spPr>
          <a:xfrm>
            <a:off x="9940010" y="4338779"/>
            <a:ext cx="6863443" cy="4575629"/>
          </a:xfrm>
          <a:prstGeom prst="rect">
            <a:avLst/>
          </a:prstGeom>
        </p:spPr>
      </p:pic>
    </p:spTree>
    <p:extLst>
      <p:ext uri="{BB962C8B-B14F-4D97-AF65-F5344CB8AC3E}">
        <p14:creationId xmlns:p14="http://schemas.microsoft.com/office/powerpoint/2010/main" val="2296543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A2946-9291-79A1-5A6A-4E7ECFB63E2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84752CB-B0ED-7F3D-BEE0-08945BCD64C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20C389A9-F9C8-51A7-A67F-76C297E87980}"/>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120E4EA9-7552-A61D-899D-D92A082560D2}"/>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A70EF50F-F44C-CC8A-F462-07FB7901EE27}"/>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84566A19-5960-FC96-E4F0-3A25690A3109}"/>
              </a:ext>
            </a:extLst>
          </p:cNvPr>
          <p:cNvSpPr txBox="1"/>
          <p:nvPr/>
        </p:nvSpPr>
        <p:spPr>
          <a:xfrm>
            <a:off x="1040734" y="3939555"/>
            <a:ext cx="8225955" cy="5904180"/>
          </a:xfrm>
          <a:prstGeom prst="rect">
            <a:avLst/>
          </a:prstGeom>
        </p:spPr>
        <p:txBody>
          <a:bodyPr wrap="square" lIns="0" tIns="0" rIns="0" bIns="0" rtlCol="0" anchor="t">
            <a:spAutoFit/>
          </a:bodyPr>
          <a:lstStyle/>
          <a:p>
            <a:pPr marL="0" lvl="0" indent="0" algn="l"/>
            <a:r>
              <a:rPr lang="vi-VN" sz="2398" dirty="0">
                <a:solidFill>
                  <a:srgbClr val="FFFFFF"/>
                </a:solidFill>
                <a:latin typeface="Arial" panose="020B0604020202020204" pitchFamily="34" charset="0"/>
                <a:ea typeface="Poppins"/>
                <a:cs typeface="Arial" panose="020B0604020202020204" pitchFamily="34" charset="0"/>
                <a:sym typeface="Poppins"/>
              </a:rPr>
              <a:t>Cơ chế: Biến đổi cách biểu diễn dữ liệu nhưng giữ nguyên ý nghĩa hoặc hành vi của nội dung, chẳng hạn mã hóa URL hoặc thay đổi cách viết biểu thức.</a:t>
            </a:r>
          </a:p>
          <a:p>
            <a:pPr marL="0" lvl="0" indent="0" algn="l"/>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r>
              <a:rPr lang="vi-VN" sz="2398" dirty="0">
                <a:solidFill>
                  <a:srgbClr val="FFFFFF"/>
                </a:solidFill>
                <a:latin typeface="Arial" panose="020B0604020202020204" pitchFamily="34" charset="0"/>
                <a:ea typeface="Poppins"/>
                <a:cs typeface="Arial" panose="020B0604020202020204" pitchFamily="34" charset="0"/>
                <a:sym typeface="Poppins"/>
              </a:rPr>
              <a:t>Mục đích: Khiến nội dung không còn khớp trực tiếp với mẫu nhận diện đơn giản.</a:t>
            </a:r>
          </a:p>
          <a:p>
            <a:pPr marL="0" lvl="0" indent="0" algn="l"/>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r>
              <a:rPr lang="vi-VN" sz="2398" dirty="0">
                <a:solidFill>
                  <a:srgbClr val="FFFFFF"/>
                </a:solidFill>
                <a:latin typeface="Arial" panose="020B0604020202020204" pitchFamily="34" charset="0"/>
                <a:ea typeface="Poppins"/>
                <a:cs typeface="Arial" panose="020B0604020202020204" pitchFamily="34" charset="0"/>
                <a:sym typeface="Poppins"/>
              </a:rPr>
              <a:t>Ảnh hưởng: Các luật dựa trên chuỗi ký tự cố định có thể không phát hiện được nội dung đã biến đổi.</a:t>
            </a:r>
            <a:endParaRPr lang="en-US"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r>
              <a:rPr lang="vi-VN" sz="2398" dirty="0">
                <a:solidFill>
                  <a:srgbClr val="FFFFFF"/>
                </a:solidFill>
                <a:latin typeface="Arial" panose="020B0604020202020204" pitchFamily="34" charset="0"/>
                <a:ea typeface="Poppins"/>
                <a:cs typeface="Arial" panose="020B0604020202020204" pitchFamily="34" charset="0"/>
                <a:sym typeface="Poppins"/>
              </a:rPr>
              <a:t>Ví dụ: </a:t>
            </a:r>
          </a:p>
          <a:p>
            <a:pPr marL="0" lvl="0" indent="0" algn="l"/>
            <a:r>
              <a:rPr lang="vi-VN" sz="2398" dirty="0">
                <a:solidFill>
                  <a:srgbClr val="FFFFFF"/>
                </a:solidFill>
                <a:latin typeface="Arial" panose="020B0604020202020204" pitchFamily="34" charset="0"/>
                <a:ea typeface="Poppins"/>
                <a:cs typeface="Arial" panose="020B0604020202020204" pitchFamily="34" charset="0"/>
                <a:sym typeface="Poppins"/>
              </a:rPr>
              <a:t>+ sử dụng kĩ thuật URL </a:t>
            </a:r>
            <a:r>
              <a:rPr lang="vi-VN" sz="2398" dirty="0" err="1">
                <a:solidFill>
                  <a:srgbClr val="FFFFFF"/>
                </a:solidFill>
                <a:latin typeface="Arial" panose="020B0604020202020204" pitchFamily="34" charset="0"/>
                <a:ea typeface="Poppins"/>
                <a:cs typeface="Arial" panose="020B0604020202020204" pitchFamily="34" charset="0"/>
                <a:sym typeface="Poppins"/>
              </a:rPr>
              <a:t>Encode</a:t>
            </a:r>
            <a:r>
              <a:rPr lang="vi-VN" sz="2398" dirty="0">
                <a:solidFill>
                  <a:srgbClr val="FFFFFF"/>
                </a:solidFill>
                <a:latin typeface="Arial" panose="020B0604020202020204" pitchFamily="34" charset="0"/>
                <a:ea typeface="Poppins"/>
                <a:cs typeface="Arial" panose="020B0604020202020204" pitchFamily="34" charset="0"/>
                <a:sym typeface="Poppins"/>
              </a:rPr>
              <a:t> trong tấn công </a:t>
            </a:r>
            <a:r>
              <a:rPr lang="vi-VN" sz="2398" dirty="0" err="1">
                <a:solidFill>
                  <a:srgbClr val="FFFFFF"/>
                </a:solidFill>
                <a:latin typeface="Arial" panose="020B0604020202020204" pitchFamily="34" charset="0"/>
                <a:ea typeface="Poppins"/>
                <a:cs typeface="Arial" panose="020B0604020202020204" pitchFamily="34" charset="0"/>
                <a:sym typeface="Poppins"/>
              </a:rPr>
              <a:t>Path</a:t>
            </a:r>
            <a:r>
              <a:rPr lang="vi-VN" sz="2398" dirty="0">
                <a:solidFill>
                  <a:srgbClr val="FFFFFF"/>
                </a:solidFill>
                <a:latin typeface="Arial" panose="020B0604020202020204" pitchFamily="34" charset="0"/>
                <a:ea typeface="Poppins"/>
                <a:cs typeface="Arial" panose="020B0604020202020204" pitchFamily="34" charset="0"/>
                <a:sym typeface="Poppins"/>
              </a:rPr>
              <a:t> </a:t>
            </a:r>
            <a:r>
              <a:rPr lang="vi-VN" sz="2398" dirty="0" err="1">
                <a:solidFill>
                  <a:srgbClr val="FFFFFF"/>
                </a:solidFill>
                <a:latin typeface="Arial" panose="020B0604020202020204" pitchFamily="34" charset="0"/>
                <a:ea typeface="Poppins"/>
                <a:cs typeface="Arial" panose="020B0604020202020204" pitchFamily="34" charset="0"/>
                <a:sym typeface="Poppins"/>
              </a:rPr>
              <a:t>Traversal</a:t>
            </a:r>
            <a:r>
              <a:rPr lang="vi-VN" sz="2398" dirty="0">
                <a:solidFill>
                  <a:srgbClr val="FFFFFF"/>
                </a:solidFill>
                <a:latin typeface="Arial" panose="020B0604020202020204" pitchFamily="34" charset="0"/>
                <a:ea typeface="Poppins"/>
                <a:cs typeface="Arial" panose="020B0604020202020204" pitchFamily="34" charset="0"/>
                <a:sym typeface="Poppins"/>
              </a:rPr>
              <a:t> biến </a:t>
            </a:r>
            <a:r>
              <a:rPr lang="vi-VN" sz="2398" dirty="0" err="1">
                <a:solidFill>
                  <a:srgbClr val="FFFFFF"/>
                </a:solidFill>
                <a:latin typeface="Arial" panose="020B0604020202020204" pitchFamily="34" charset="0"/>
                <a:ea typeface="Poppins"/>
                <a:cs typeface="Arial" panose="020B0604020202020204" pitchFamily="34" charset="0"/>
                <a:sym typeface="Poppins"/>
              </a:rPr>
              <a:t>payload</a:t>
            </a:r>
            <a:r>
              <a:rPr lang="vi-VN" sz="2398" dirty="0">
                <a:solidFill>
                  <a:srgbClr val="FFFFFF"/>
                </a:solidFill>
                <a:latin typeface="Arial" panose="020B0604020202020204" pitchFamily="34" charset="0"/>
                <a:ea typeface="Poppins"/>
                <a:cs typeface="Arial" panose="020B0604020202020204" pitchFamily="34" charset="0"/>
                <a:sym typeface="Poppins"/>
              </a:rPr>
              <a:t> ../../../../</a:t>
            </a:r>
            <a:r>
              <a:rPr lang="vi-VN" sz="2398" dirty="0" err="1">
                <a:solidFill>
                  <a:srgbClr val="FFFFFF"/>
                </a:solidFill>
                <a:latin typeface="Arial" panose="020B0604020202020204" pitchFamily="34" charset="0"/>
                <a:ea typeface="Poppins"/>
                <a:cs typeface="Arial" panose="020B0604020202020204" pitchFamily="34" charset="0"/>
                <a:sym typeface="Poppins"/>
              </a:rPr>
              <a:t>etc</a:t>
            </a:r>
            <a:r>
              <a:rPr lang="vi-VN" sz="2398" dirty="0">
                <a:solidFill>
                  <a:srgbClr val="FFFFFF"/>
                </a:solidFill>
                <a:latin typeface="Arial" panose="020B0604020202020204" pitchFamily="34" charset="0"/>
                <a:ea typeface="Poppins"/>
                <a:cs typeface="Arial" panose="020B0604020202020204" pitchFamily="34" charset="0"/>
                <a:sym typeface="Poppins"/>
              </a:rPr>
              <a:t>/</a:t>
            </a:r>
            <a:r>
              <a:rPr lang="vi-VN" sz="2398" dirty="0" err="1">
                <a:solidFill>
                  <a:srgbClr val="FFFFFF"/>
                </a:solidFill>
                <a:latin typeface="Arial" panose="020B0604020202020204" pitchFamily="34" charset="0"/>
                <a:ea typeface="Poppins"/>
                <a:cs typeface="Arial" panose="020B0604020202020204" pitchFamily="34" charset="0"/>
                <a:sym typeface="Poppins"/>
              </a:rPr>
              <a:t>passwd</a:t>
            </a:r>
            <a:r>
              <a:rPr lang="vi-VN" sz="2398" dirty="0">
                <a:solidFill>
                  <a:srgbClr val="FFFFFF"/>
                </a:solidFill>
                <a:latin typeface="Arial" panose="020B0604020202020204" pitchFamily="34" charset="0"/>
                <a:ea typeface="Poppins"/>
                <a:cs typeface="Arial" panose="020B0604020202020204" pitchFamily="34" charset="0"/>
                <a:sym typeface="Poppins"/>
              </a:rPr>
              <a:t> thành ..%2F..%2F..%2F..%2Fetc%2Fpasswd</a:t>
            </a:r>
          </a:p>
          <a:p>
            <a:pPr marL="0" lvl="0" indent="0" algn="l"/>
            <a:r>
              <a:rPr lang="vi-VN" sz="2398" dirty="0">
                <a:solidFill>
                  <a:srgbClr val="FFFFFF"/>
                </a:solidFill>
                <a:latin typeface="Arial" panose="020B0604020202020204" pitchFamily="34" charset="0"/>
                <a:ea typeface="Poppins"/>
                <a:cs typeface="Arial" panose="020B0604020202020204" pitchFamily="34" charset="0"/>
                <a:sym typeface="Poppins"/>
              </a:rPr>
              <a:t>+ sử dụng kĩ thuật URL </a:t>
            </a:r>
            <a:r>
              <a:rPr lang="vi-VN" sz="2398" dirty="0" err="1">
                <a:solidFill>
                  <a:srgbClr val="FFFFFF"/>
                </a:solidFill>
                <a:latin typeface="Arial" panose="020B0604020202020204" pitchFamily="34" charset="0"/>
                <a:ea typeface="Poppins"/>
                <a:cs typeface="Arial" panose="020B0604020202020204" pitchFamily="34" charset="0"/>
                <a:sym typeface="Poppins"/>
              </a:rPr>
              <a:t>Encode</a:t>
            </a:r>
            <a:r>
              <a:rPr lang="vi-VN" sz="2398" dirty="0">
                <a:solidFill>
                  <a:srgbClr val="FFFFFF"/>
                </a:solidFill>
                <a:latin typeface="Arial" panose="020B0604020202020204" pitchFamily="34" charset="0"/>
                <a:ea typeface="Poppins"/>
                <a:cs typeface="Arial" panose="020B0604020202020204" pitchFamily="34" charset="0"/>
                <a:sym typeface="Poppins"/>
              </a:rPr>
              <a:t> trong tấn công SQL </a:t>
            </a:r>
            <a:r>
              <a:rPr lang="vi-VN" sz="2398" dirty="0" err="1">
                <a:solidFill>
                  <a:srgbClr val="FFFFFF"/>
                </a:solidFill>
                <a:latin typeface="Arial" panose="020B0604020202020204" pitchFamily="34" charset="0"/>
                <a:ea typeface="Poppins"/>
                <a:cs typeface="Arial" panose="020B0604020202020204" pitchFamily="34" charset="0"/>
                <a:sym typeface="Poppins"/>
              </a:rPr>
              <a:t>Injection</a:t>
            </a:r>
            <a:r>
              <a:rPr lang="vi-VN" sz="2398" dirty="0">
                <a:solidFill>
                  <a:srgbClr val="FFFFFF"/>
                </a:solidFill>
                <a:latin typeface="Arial" panose="020B0604020202020204" pitchFamily="34" charset="0"/>
                <a:ea typeface="Poppins"/>
                <a:cs typeface="Arial" panose="020B0604020202020204" pitchFamily="34" charset="0"/>
                <a:sym typeface="Poppins"/>
              </a:rPr>
              <a:t> biến chuỗi </a:t>
            </a:r>
            <a:r>
              <a:rPr lang="vi-VN" sz="2398" dirty="0" err="1">
                <a:solidFill>
                  <a:srgbClr val="FFFFFF"/>
                </a:solidFill>
                <a:latin typeface="Arial" panose="020B0604020202020204" pitchFamily="34" charset="0"/>
                <a:ea typeface="Poppins"/>
                <a:cs typeface="Arial" panose="020B0604020202020204" pitchFamily="34" charset="0"/>
                <a:sym typeface="Poppins"/>
              </a:rPr>
              <a:t>admin</a:t>
            </a:r>
            <a:r>
              <a:rPr lang="vi-VN" sz="2398" dirty="0">
                <a:solidFill>
                  <a:srgbClr val="FFFFFF"/>
                </a:solidFill>
                <a:latin typeface="Arial" panose="020B0604020202020204" pitchFamily="34" charset="0"/>
                <a:ea typeface="Poppins"/>
                <a:cs typeface="Arial" panose="020B0604020202020204" pitchFamily="34" charset="0"/>
                <a:sym typeface="Poppins"/>
              </a:rPr>
              <a:t> ‘ -- thành admin%20’%20--</a:t>
            </a:r>
          </a:p>
        </p:txBody>
      </p:sp>
      <p:sp>
        <p:nvSpPr>
          <p:cNvPr id="11" name="Freeform 11">
            <a:extLst>
              <a:ext uri="{FF2B5EF4-FFF2-40B4-BE49-F238E27FC236}">
                <a16:creationId xmlns:a16="http://schemas.microsoft.com/office/drawing/2014/main" id="{5D8027A8-C2B6-4F65-964E-E8724C26A8D4}"/>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8B72E711-4577-5555-0022-6B8FAD4C309A}"/>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EE6E0C18-7BD6-3FBD-A0CB-09A42B0D37DF}"/>
              </a:ext>
            </a:extLst>
          </p:cNvPr>
          <p:cNvSpPr txBox="1"/>
          <p:nvPr/>
        </p:nvSpPr>
        <p:spPr>
          <a:xfrm>
            <a:off x="1028700" y="2427514"/>
            <a:ext cx="11620500" cy="1010148"/>
          </a:xfrm>
          <a:prstGeom prst="rect">
            <a:avLst/>
          </a:prstGeom>
        </p:spPr>
        <p:txBody>
          <a:bodyPr wrap="square" lIns="0" tIns="0" rIns="0" bIns="0" rtlCol="0" anchor="t">
            <a:spAutoFit/>
          </a:bodyPr>
          <a:lstStyle/>
          <a:p>
            <a:pPr marL="0" lvl="0" indent="0" algn="l">
              <a:lnSpc>
                <a:spcPts val="8474"/>
              </a:lnSpc>
            </a:pP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Làm</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tối</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nghĩa</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(Obfuscation)</a:t>
            </a:r>
          </a:p>
        </p:txBody>
      </p:sp>
      <p:pic>
        <p:nvPicPr>
          <p:cNvPr id="6" name="Hình ảnh 5">
            <a:extLst>
              <a:ext uri="{FF2B5EF4-FFF2-40B4-BE49-F238E27FC236}">
                <a16:creationId xmlns:a16="http://schemas.microsoft.com/office/drawing/2014/main" id="{A6A0EA25-3D3F-270C-3717-A194535C8B6F}"/>
              </a:ext>
            </a:extLst>
          </p:cNvPr>
          <p:cNvPicPr>
            <a:picLocks noChangeAspect="1"/>
          </p:cNvPicPr>
          <p:nvPr/>
        </p:nvPicPr>
        <p:blipFill>
          <a:blip r:embed="rId5"/>
          <a:stretch>
            <a:fillRect/>
          </a:stretch>
        </p:blipFill>
        <p:spPr>
          <a:xfrm>
            <a:off x="9677400" y="3939555"/>
            <a:ext cx="7600097" cy="5699735"/>
          </a:xfrm>
          <a:prstGeom prst="rect">
            <a:avLst/>
          </a:prstGeom>
        </p:spPr>
      </p:pic>
    </p:spTree>
    <p:extLst>
      <p:ext uri="{BB962C8B-B14F-4D97-AF65-F5344CB8AC3E}">
        <p14:creationId xmlns:p14="http://schemas.microsoft.com/office/powerpoint/2010/main" val="809951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1E1AC-BA2E-8B26-63DE-F47D6A76296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A59DFDB-38B6-FE79-C9C1-4FEF2D658D0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41EC4345-563B-3508-759A-D52DC3ED69A5}"/>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538A5CED-F20E-4735-B8EB-4EC37BE3DCC2}"/>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D8B568BE-28BB-BFE3-72A1-11138D233DBF}"/>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19CDCE79-34CE-D7FF-1929-ED1BCC096F80}"/>
              </a:ext>
            </a:extLst>
          </p:cNvPr>
          <p:cNvSpPr txBox="1"/>
          <p:nvPr/>
        </p:nvSpPr>
        <p:spPr>
          <a:xfrm>
            <a:off x="1028700" y="4080013"/>
            <a:ext cx="7879252" cy="5927328"/>
          </a:xfrm>
          <a:prstGeom prst="rect">
            <a:avLst/>
          </a:prstGeom>
        </p:spPr>
        <p:txBody>
          <a:bodyPr wrap="square" lIns="0" tIns="0" rIns="0" bIns="0" rtlCol="0" anchor="t">
            <a:spAutoFit/>
          </a:bodyPr>
          <a:lstStyle/>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Cơ chế: Tạo lưu lượng hợp lệ hoặc bất thường có đặc điểm giống các mẫu mà IDS dùng để phát hiện tấn công.</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Mục đích: Làm gia tăng số lượng cảnh báo không chính xác.</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Ảnh hưởng: Gây nhiễu quá trình giám sát, tăng khối lượng công việc của chuyên viên và khiến cảnh báo thực sự bị bỏ qua.</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Ví dụ: </a:t>
            </a: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+ 10 thiết bị thực hiện mở 10.000.000 kết nối TCP 3 bước hoàn chỉnh, dẫn đến IDS phát cảnh báo sai</a:t>
            </a: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 rất nhiều người dùng truy cập tại 01 thời điểm trên 01 trang </a:t>
            </a:r>
            <a:r>
              <a:rPr lang="vi-VN" sz="2398" dirty="0" err="1">
                <a:solidFill>
                  <a:srgbClr val="FFFFFF"/>
                </a:solidFill>
                <a:latin typeface="Arial" panose="020B0604020202020204" pitchFamily="34" charset="0"/>
                <a:ea typeface="Poppins"/>
                <a:cs typeface="Arial" panose="020B0604020202020204" pitchFamily="34" charset="0"/>
                <a:sym typeface="Poppins"/>
              </a:rPr>
              <a:t>web</a:t>
            </a:r>
            <a:r>
              <a:rPr lang="vi-VN" sz="2398" dirty="0">
                <a:solidFill>
                  <a:srgbClr val="FFFFFF"/>
                </a:solidFill>
                <a:latin typeface="Arial" panose="020B0604020202020204" pitchFamily="34" charset="0"/>
                <a:ea typeface="Poppins"/>
                <a:cs typeface="Arial" panose="020B0604020202020204" pitchFamily="34" charset="0"/>
                <a:sym typeface="Poppins"/>
              </a:rPr>
              <a:t> =&gt; cảnh báo phát hiện </a:t>
            </a:r>
            <a:r>
              <a:rPr lang="vi-VN" sz="2398" dirty="0" err="1">
                <a:solidFill>
                  <a:srgbClr val="FFFFFF"/>
                </a:solidFill>
                <a:latin typeface="Arial" panose="020B0604020202020204" pitchFamily="34" charset="0"/>
                <a:ea typeface="Poppins"/>
                <a:cs typeface="Arial" panose="020B0604020202020204" pitchFamily="34" charset="0"/>
                <a:sym typeface="Poppins"/>
              </a:rPr>
              <a:t>DDoS</a:t>
            </a:r>
            <a:r>
              <a:rPr lang="vi-VN" sz="2398" dirty="0">
                <a:solidFill>
                  <a:srgbClr val="FFFFFF"/>
                </a:solidFill>
                <a:latin typeface="Arial" panose="020B0604020202020204" pitchFamily="34" charset="0"/>
                <a:ea typeface="Poppins"/>
                <a:cs typeface="Arial" panose="020B0604020202020204" pitchFamily="34" charset="0"/>
                <a:sym typeface="Poppins"/>
              </a:rPr>
              <a:t> sai</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p:txBody>
      </p:sp>
      <p:sp>
        <p:nvSpPr>
          <p:cNvPr id="11" name="Freeform 11">
            <a:extLst>
              <a:ext uri="{FF2B5EF4-FFF2-40B4-BE49-F238E27FC236}">
                <a16:creationId xmlns:a16="http://schemas.microsoft.com/office/drawing/2014/main" id="{FABE9787-DB9D-48D6-9601-C5D4372A80AE}"/>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16F358E9-1095-E1E4-1607-69BD49523798}"/>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735C38B6-86A1-E500-F719-15F92046FC9C}"/>
              </a:ext>
            </a:extLst>
          </p:cNvPr>
          <p:cNvSpPr txBox="1"/>
          <p:nvPr/>
        </p:nvSpPr>
        <p:spPr>
          <a:xfrm>
            <a:off x="1028700" y="2427514"/>
            <a:ext cx="15735300" cy="1010148"/>
          </a:xfrm>
          <a:prstGeom prst="rect">
            <a:avLst/>
          </a:prstGeom>
        </p:spPr>
        <p:txBody>
          <a:bodyPr wrap="square" lIns="0" tIns="0" rIns="0" bIns="0" rtlCol="0" anchor="t">
            <a:spAutoFit/>
          </a:bodyPr>
          <a:lstStyle/>
          <a:p>
            <a:pPr marL="0" lvl="0" indent="0" algn="l">
              <a:lnSpc>
                <a:spcPts val="8474"/>
              </a:lnSpc>
            </a:pP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Tạo</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báo</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động</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giả</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(False Positives)</a:t>
            </a:r>
          </a:p>
        </p:txBody>
      </p:sp>
      <p:pic>
        <p:nvPicPr>
          <p:cNvPr id="6" name="Picture 5" descr="What is False Positive? - Smartpedia - t2informatik">
            <a:extLst>
              <a:ext uri="{FF2B5EF4-FFF2-40B4-BE49-F238E27FC236}">
                <a16:creationId xmlns:a16="http://schemas.microsoft.com/office/drawing/2014/main" id="{E7E48AB4-324F-E84B-BEEE-2AC25983F7F2}"/>
              </a:ext>
            </a:extLst>
          </p:cNvPr>
          <p:cNvPicPr>
            <a:picLocks noChangeAspect="1"/>
          </p:cNvPicPr>
          <p:nvPr/>
        </p:nvPicPr>
        <p:blipFill>
          <a:blip r:embed="rId5"/>
          <a:stretch>
            <a:fillRect/>
          </a:stretch>
        </p:blipFill>
        <p:spPr>
          <a:xfrm>
            <a:off x="9416143" y="4080014"/>
            <a:ext cx="7879252" cy="5711686"/>
          </a:xfrm>
          <a:prstGeom prst="rect">
            <a:avLst/>
          </a:prstGeom>
        </p:spPr>
      </p:pic>
    </p:spTree>
    <p:extLst>
      <p:ext uri="{BB962C8B-B14F-4D97-AF65-F5344CB8AC3E}">
        <p14:creationId xmlns:p14="http://schemas.microsoft.com/office/powerpoint/2010/main" val="2390245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11C84-8B20-FE3E-D9C2-06BD2D7A40E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4055924-A576-F21B-4CEE-D81B9BA24E8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EE7C1C88-3EE4-1F74-798C-2B0E514B84E6}"/>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10D5FCD5-D8D3-FC95-287B-EA7F0A6A6936}"/>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96367D4B-12DB-8B2D-0D6B-D33941A8F023}"/>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C35136AE-782E-268F-7FB1-379C48536D27}"/>
              </a:ext>
            </a:extLst>
          </p:cNvPr>
          <p:cNvSpPr txBox="1"/>
          <p:nvPr/>
        </p:nvSpPr>
        <p:spPr>
          <a:xfrm>
            <a:off x="1000267" y="4195991"/>
            <a:ext cx="16230600" cy="3695948"/>
          </a:xfrm>
          <a:prstGeom prst="rect">
            <a:avLst/>
          </a:prstGeom>
        </p:spPr>
        <p:txBody>
          <a:bodyPr wrap="square" lIns="0" tIns="0" rIns="0" bIns="0" rtlCol="0" anchor="t">
            <a:spAutoFit/>
          </a:bodyPr>
          <a:lstStyle/>
          <a:p>
            <a:pPr marL="0" lvl="0" indent="0" algn="l"/>
            <a:r>
              <a:rPr lang="vi-VN" sz="2398" dirty="0">
                <a:solidFill>
                  <a:srgbClr val="FFFFFF"/>
                </a:solidFill>
                <a:latin typeface="Arial" panose="020B0604020202020204" pitchFamily="34" charset="0"/>
                <a:ea typeface="Poppins"/>
                <a:cs typeface="Arial" panose="020B0604020202020204" pitchFamily="34" charset="0"/>
                <a:sym typeface="Poppins"/>
              </a:rPr>
              <a:t>Cơ chế: Chia nội dung truyền tải thành nhiều đoạn nhỏ qua một phiên TCP, khiến các gói dữ liệu hoàn chỉnh không xuất hiện trong từng gói tin riêng lẻ.</a:t>
            </a:r>
          </a:p>
          <a:p>
            <a:pPr marL="0" lvl="0" indent="0" algn="l"/>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r>
              <a:rPr lang="vi-VN" sz="2398" dirty="0">
                <a:solidFill>
                  <a:srgbClr val="FFFFFF"/>
                </a:solidFill>
                <a:latin typeface="Arial" panose="020B0604020202020204" pitchFamily="34" charset="0"/>
                <a:ea typeface="Poppins"/>
                <a:cs typeface="Arial" panose="020B0604020202020204" pitchFamily="34" charset="0"/>
                <a:sym typeface="Poppins"/>
              </a:rPr>
              <a:t>Mục đích: Kiểm tra khả năng theo dõi phiên và tái dựng luồng TCP của IDS.</a:t>
            </a:r>
          </a:p>
          <a:p>
            <a:pPr marL="0" lvl="0" indent="0" algn="l"/>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r>
              <a:rPr lang="vi-VN" sz="2398" dirty="0">
                <a:solidFill>
                  <a:srgbClr val="FFFFFF"/>
                </a:solidFill>
                <a:latin typeface="Arial" panose="020B0604020202020204" pitchFamily="34" charset="0"/>
                <a:ea typeface="Poppins"/>
                <a:cs typeface="Arial" panose="020B0604020202020204" pitchFamily="34" charset="0"/>
                <a:sym typeface="Poppins"/>
              </a:rPr>
              <a:t>Ảnh hưởng: Các luật kiểm tra từng gói độc lập sẽ bỏ sót nội dung, chỉ nhận diện được khi ghép nối toàn bộ luồng.</a:t>
            </a:r>
          </a:p>
          <a:p>
            <a:pPr marL="0" lvl="0" indent="0" algn="l"/>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r>
              <a:rPr lang="vi-VN" sz="2398" dirty="0">
                <a:solidFill>
                  <a:srgbClr val="FFFFFF"/>
                </a:solidFill>
                <a:latin typeface="Arial" panose="020B0604020202020204" pitchFamily="34" charset="0"/>
                <a:ea typeface="Poppins"/>
                <a:cs typeface="Arial" panose="020B0604020202020204" pitchFamily="34" charset="0"/>
                <a:sym typeface="Poppins"/>
              </a:rPr>
              <a:t>Ví dụ: </a:t>
            </a:r>
          </a:p>
          <a:p>
            <a:pPr marL="0" lvl="0" indent="0" algn="l"/>
            <a:r>
              <a:rPr lang="en-US" sz="2398" dirty="0">
                <a:solidFill>
                  <a:srgbClr val="FFFFFF"/>
                </a:solidFill>
                <a:latin typeface="Arial" panose="020B0604020202020204" pitchFamily="34" charset="0"/>
                <a:ea typeface="Poppins"/>
                <a:cs typeface="Arial" panose="020B0604020202020204" pitchFamily="34" charset="0"/>
                <a:sym typeface="Poppins"/>
              </a:rPr>
              <a:t>Đ</a:t>
            </a:r>
            <a:r>
              <a:rPr lang="vi-VN" sz="2398" dirty="0">
                <a:solidFill>
                  <a:srgbClr val="FFFFFF"/>
                </a:solidFill>
                <a:latin typeface="Arial" panose="020B0604020202020204" pitchFamily="34" charset="0"/>
                <a:ea typeface="Poppins"/>
                <a:cs typeface="Arial" panose="020B0604020202020204" pitchFamily="34" charset="0"/>
                <a:sym typeface="Poppins"/>
              </a:rPr>
              <a:t>ối với chuỗi /bin/</a:t>
            </a:r>
            <a:r>
              <a:rPr lang="vi-VN" sz="2398" dirty="0" err="1">
                <a:solidFill>
                  <a:srgbClr val="FFFFFF"/>
                </a:solidFill>
                <a:latin typeface="Arial" panose="020B0604020202020204" pitchFamily="34" charset="0"/>
                <a:ea typeface="Poppins"/>
                <a:cs typeface="Arial" panose="020B0604020202020204" pitchFamily="34" charset="0"/>
                <a:sym typeface="Poppins"/>
              </a:rPr>
              <a:t>sh</a:t>
            </a:r>
            <a:r>
              <a:rPr lang="vi-VN" sz="2398" dirty="0">
                <a:solidFill>
                  <a:srgbClr val="FFFFFF"/>
                </a:solidFill>
                <a:latin typeface="Arial" panose="020B0604020202020204" pitchFamily="34" charset="0"/>
                <a:ea typeface="Poppins"/>
                <a:cs typeface="Arial" panose="020B0604020202020204" pitchFamily="34" charset="0"/>
                <a:sym typeface="Poppins"/>
              </a:rPr>
              <a:t> chia ra 2 gói là /bin và /</a:t>
            </a:r>
            <a:r>
              <a:rPr lang="vi-VN" sz="2398" dirty="0" err="1">
                <a:solidFill>
                  <a:srgbClr val="FFFFFF"/>
                </a:solidFill>
                <a:latin typeface="Arial" panose="020B0604020202020204" pitchFamily="34" charset="0"/>
                <a:ea typeface="Poppins"/>
                <a:cs typeface="Arial" panose="020B0604020202020204" pitchFamily="34" charset="0"/>
                <a:sym typeface="Poppins"/>
              </a:rPr>
              <a:t>sh</a:t>
            </a:r>
            <a:r>
              <a:rPr lang="vi-VN" sz="2398" dirty="0">
                <a:solidFill>
                  <a:srgbClr val="FFFFFF"/>
                </a:solidFill>
                <a:latin typeface="Arial" panose="020B0604020202020204" pitchFamily="34" charset="0"/>
                <a:ea typeface="Poppins"/>
                <a:cs typeface="Arial" panose="020B0604020202020204" pitchFamily="34" charset="0"/>
                <a:sym typeface="Poppins"/>
              </a:rPr>
              <a:t>\0, nếu như chỉ kiểm tra chính xác chuỗi /bin/</a:t>
            </a:r>
            <a:r>
              <a:rPr lang="vi-VN" sz="2398" dirty="0" err="1">
                <a:solidFill>
                  <a:srgbClr val="FFFFFF"/>
                </a:solidFill>
                <a:latin typeface="Arial" panose="020B0604020202020204" pitchFamily="34" charset="0"/>
                <a:ea typeface="Poppins"/>
                <a:cs typeface="Arial" panose="020B0604020202020204" pitchFamily="34" charset="0"/>
                <a:sym typeface="Poppins"/>
              </a:rPr>
              <a:t>sh</a:t>
            </a:r>
            <a:r>
              <a:rPr lang="vi-VN" sz="2398" dirty="0">
                <a:solidFill>
                  <a:srgbClr val="FFFFFF"/>
                </a:solidFill>
                <a:latin typeface="Arial" panose="020B0604020202020204" pitchFamily="34" charset="0"/>
                <a:ea typeface="Poppins"/>
                <a:cs typeface="Arial" panose="020B0604020202020204" pitchFamily="34" charset="0"/>
                <a:sym typeface="Poppins"/>
              </a:rPr>
              <a:t> sẽ bị bỏ qua do không khớp vì /bin và /</a:t>
            </a:r>
            <a:r>
              <a:rPr lang="vi-VN" sz="2398" dirty="0" err="1">
                <a:solidFill>
                  <a:srgbClr val="FFFFFF"/>
                </a:solidFill>
                <a:latin typeface="Arial" panose="020B0604020202020204" pitchFamily="34" charset="0"/>
                <a:ea typeface="Poppins"/>
                <a:cs typeface="Arial" panose="020B0604020202020204" pitchFamily="34" charset="0"/>
                <a:sym typeface="Poppins"/>
              </a:rPr>
              <a:t>sh</a:t>
            </a:r>
            <a:r>
              <a:rPr lang="vi-VN" sz="2398" dirty="0">
                <a:solidFill>
                  <a:srgbClr val="FFFFFF"/>
                </a:solidFill>
                <a:latin typeface="Arial" panose="020B0604020202020204" pitchFamily="34" charset="0"/>
                <a:ea typeface="Poppins"/>
                <a:cs typeface="Arial" panose="020B0604020202020204" pitchFamily="34" charset="0"/>
                <a:sym typeface="Poppins"/>
              </a:rPr>
              <a:t> là 2 chuỗi hoàn toàn khác nhau, nếu ghép lại sẽ chính xác</a:t>
            </a:r>
          </a:p>
        </p:txBody>
      </p:sp>
      <p:sp>
        <p:nvSpPr>
          <p:cNvPr id="11" name="Freeform 11">
            <a:extLst>
              <a:ext uri="{FF2B5EF4-FFF2-40B4-BE49-F238E27FC236}">
                <a16:creationId xmlns:a16="http://schemas.microsoft.com/office/drawing/2014/main" id="{134A53CD-F553-E02D-0F3D-604CD5C72D73}"/>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0592FCC2-C364-9043-3D82-2E683D2C80A0}"/>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D90D67D6-EAF8-A044-75CB-372F55D0E80E}"/>
              </a:ext>
            </a:extLst>
          </p:cNvPr>
          <p:cNvSpPr txBox="1"/>
          <p:nvPr/>
        </p:nvSpPr>
        <p:spPr>
          <a:xfrm>
            <a:off x="1028700" y="2427514"/>
            <a:ext cx="16573500" cy="1010148"/>
          </a:xfrm>
          <a:prstGeom prst="rect">
            <a:avLst/>
          </a:prstGeom>
        </p:spPr>
        <p:txBody>
          <a:bodyPr wrap="square" lIns="0" tIns="0" rIns="0" bIns="0" rtlCol="0" anchor="t">
            <a:spAutoFit/>
          </a:bodyPr>
          <a:lstStyle/>
          <a:p>
            <a:pPr marL="0" lvl="0" indent="0" algn="l">
              <a:lnSpc>
                <a:spcPts val="8474"/>
              </a:lnSpc>
            </a:pP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Ghép</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nối</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phiên</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(Session Splicing)</a:t>
            </a:r>
          </a:p>
        </p:txBody>
      </p:sp>
    </p:spTree>
    <p:extLst>
      <p:ext uri="{BB962C8B-B14F-4D97-AF65-F5344CB8AC3E}">
        <p14:creationId xmlns:p14="http://schemas.microsoft.com/office/powerpoint/2010/main" val="4031997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8AE41-D07D-B9EC-5645-C17DF1B6D26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38ACC59-4178-03AD-E45D-48A8DF9F62F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E8FADD12-641C-7D97-A6C2-DFADE2A7F6B2}"/>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1705B60D-C81A-9C6E-DF7F-9FB3B2058B07}"/>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4F19A94F-D983-3BC7-8E31-E0280B0A25AB}"/>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E6A6FE6E-10FF-AB6B-2268-C3ADA863644D}"/>
              </a:ext>
            </a:extLst>
          </p:cNvPr>
          <p:cNvSpPr txBox="1"/>
          <p:nvPr/>
        </p:nvSpPr>
        <p:spPr>
          <a:xfrm>
            <a:off x="1028700" y="4163009"/>
            <a:ext cx="14668500" cy="4067845"/>
          </a:xfrm>
          <a:prstGeom prst="rect">
            <a:avLst/>
          </a:prstGeom>
        </p:spPr>
        <p:txBody>
          <a:bodyPr wrap="square" lIns="0" tIns="0" rIns="0" bIns="0" rtlCol="0" anchor="t">
            <a:spAutoFit/>
          </a:bodyPr>
          <a:lstStyle/>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Cơ chế: Sử dụng các cách biểu diễn </a:t>
            </a:r>
            <a:r>
              <a:rPr lang="vi-VN" sz="2398" dirty="0" err="1">
                <a:solidFill>
                  <a:srgbClr val="FFFFFF"/>
                </a:solidFill>
                <a:latin typeface="Arial" panose="020B0604020202020204" pitchFamily="34" charset="0"/>
                <a:ea typeface="Poppins"/>
                <a:cs typeface="Arial" panose="020B0604020202020204" pitchFamily="34" charset="0"/>
                <a:sym typeface="Poppins"/>
              </a:rPr>
              <a:t>Unicode</a:t>
            </a:r>
            <a:r>
              <a:rPr lang="vi-VN" sz="2398" dirty="0">
                <a:solidFill>
                  <a:srgbClr val="FFFFFF"/>
                </a:solidFill>
                <a:latin typeface="Arial" panose="020B0604020202020204" pitchFamily="34" charset="0"/>
                <a:ea typeface="Poppins"/>
                <a:cs typeface="Arial" panose="020B0604020202020204" pitchFamily="34" charset="0"/>
                <a:sym typeface="Poppins"/>
              </a:rPr>
              <a:t> khác nhau cho cùng một ký tự hoặc nội dung tương đương, tùy ngữ cảnh ứng dụng.</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Mục đích: Khai thác sự khác biệt trong quá trình giải mã và chuẩn hóa dữ liệu giữa IDS với ứng dụng đích.</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Ảnh hưởng: IDS có thể không nhận diện được nội dung nguy hiểm nếu không chuẩn hóa dữ liệu nhất quán.</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Ví dụ: </a:t>
            </a:r>
          </a:p>
          <a:p>
            <a:pPr marL="0" lvl="0" indent="0" algn="l">
              <a:lnSpc>
                <a:spcPts val="2901"/>
              </a:lnSpc>
            </a:pPr>
            <a:r>
              <a:rPr lang="en-US" sz="2398" dirty="0">
                <a:solidFill>
                  <a:srgbClr val="FFFFFF"/>
                </a:solidFill>
                <a:latin typeface="Arial" panose="020B0604020202020204" pitchFamily="34" charset="0"/>
                <a:ea typeface="Poppins"/>
                <a:cs typeface="Arial" panose="020B0604020202020204" pitchFamily="34" charset="0"/>
                <a:sym typeface="Poppins"/>
              </a:rPr>
              <a:t>T</a:t>
            </a:r>
            <a:r>
              <a:rPr lang="vi-VN" sz="2398" dirty="0">
                <a:solidFill>
                  <a:srgbClr val="FFFFFF"/>
                </a:solidFill>
                <a:latin typeface="Arial" panose="020B0604020202020204" pitchFamily="34" charset="0"/>
                <a:ea typeface="Poppins"/>
                <a:cs typeface="Arial" panose="020B0604020202020204" pitchFamily="34" charset="0"/>
                <a:sym typeface="Poppins"/>
              </a:rPr>
              <a:t>rong tấn công SQL </a:t>
            </a:r>
            <a:r>
              <a:rPr lang="vi-VN" sz="2398" dirty="0" err="1">
                <a:solidFill>
                  <a:srgbClr val="FFFFFF"/>
                </a:solidFill>
                <a:latin typeface="Arial" panose="020B0604020202020204" pitchFamily="34" charset="0"/>
                <a:ea typeface="Poppins"/>
                <a:cs typeface="Arial" panose="020B0604020202020204" pitchFamily="34" charset="0"/>
                <a:sym typeface="Poppins"/>
              </a:rPr>
              <a:t>Injection</a:t>
            </a:r>
            <a:r>
              <a:rPr lang="vi-VN" sz="2398" dirty="0">
                <a:solidFill>
                  <a:srgbClr val="FFFFFF"/>
                </a:solidFill>
                <a:latin typeface="Arial" panose="020B0604020202020204" pitchFamily="34" charset="0"/>
                <a:ea typeface="Poppins"/>
                <a:cs typeface="Arial" panose="020B0604020202020204" pitchFamily="34" charset="0"/>
                <a:sym typeface="Poppins"/>
              </a:rPr>
              <a:t>:</a:t>
            </a:r>
          </a:p>
          <a:p>
            <a:pPr marL="0" lvl="0" indent="0" algn="l">
              <a:lnSpc>
                <a:spcPts val="2901"/>
              </a:lnSpc>
            </a:pPr>
            <a:r>
              <a:rPr lang="vi-VN" sz="2398" dirty="0" err="1">
                <a:solidFill>
                  <a:srgbClr val="FFFFFF"/>
                </a:solidFill>
                <a:latin typeface="Arial" panose="020B0604020202020204" pitchFamily="34" charset="0"/>
                <a:ea typeface="Poppins"/>
                <a:cs typeface="Arial" panose="020B0604020202020204" pitchFamily="34" charset="0"/>
                <a:sym typeface="Poppins"/>
              </a:rPr>
              <a:t>admin</a:t>
            </a:r>
            <a:r>
              <a:rPr lang="vi-VN" sz="2398" dirty="0">
                <a:solidFill>
                  <a:srgbClr val="FFFFFF"/>
                </a:solidFill>
                <a:latin typeface="Arial" panose="020B0604020202020204" pitchFamily="34" charset="0"/>
                <a:ea typeface="Poppins"/>
                <a:cs typeface="Arial" panose="020B0604020202020204" pitchFamily="34" charset="0"/>
                <a:sym typeface="Poppins"/>
              </a:rPr>
              <a:t> ‘ -- (\u0061\u0064\u006D\u0069\u006E\u0027\u002D\u002D) biến đổi thành </a:t>
            </a:r>
            <a:r>
              <a:rPr lang="vi-VN" sz="2398" dirty="0" err="1">
                <a:solidFill>
                  <a:srgbClr val="FFFFFF"/>
                </a:solidFill>
                <a:latin typeface="Arial" panose="020B0604020202020204" pitchFamily="34" charset="0"/>
                <a:ea typeface="Poppins"/>
                <a:cs typeface="Arial" panose="020B0604020202020204" pitchFamily="34" charset="0"/>
                <a:sym typeface="Poppins"/>
              </a:rPr>
              <a:t>ａｄｍｉｎ</a:t>
            </a:r>
            <a:r>
              <a:rPr lang="vi-VN" sz="2398" dirty="0">
                <a:solidFill>
                  <a:srgbClr val="FFFFFF"/>
                </a:solidFill>
                <a:latin typeface="Arial" panose="020B0604020202020204" pitchFamily="34" charset="0"/>
                <a:ea typeface="Poppins"/>
                <a:cs typeface="Arial" panose="020B0604020202020204" pitchFamily="34" charset="0"/>
                <a:sym typeface="Poppins"/>
              </a:rPr>
              <a:t>’－－ (\uFF41\uFF44\uFF4D\uFF49\uFF4E\uFF07\uFF0D\uFF0D), dẫn đến IDS không nhận dạng đúng và bỏ qua</a:t>
            </a:r>
          </a:p>
        </p:txBody>
      </p:sp>
      <p:sp>
        <p:nvSpPr>
          <p:cNvPr id="11" name="Freeform 11">
            <a:extLst>
              <a:ext uri="{FF2B5EF4-FFF2-40B4-BE49-F238E27FC236}">
                <a16:creationId xmlns:a16="http://schemas.microsoft.com/office/drawing/2014/main" id="{7A950214-A3B3-9514-BE74-E27EC595B523}"/>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A95BAA99-ECDE-F06C-0073-FB362C8862DB}"/>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90911056-81D0-EC0F-5998-0920094FC396}"/>
              </a:ext>
            </a:extLst>
          </p:cNvPr>
          <p:cNvSpPr txBox="1"/>
          <p:nvPr/>
        </p:nvSpPr>
        <p:spPr>
          <a:xfrm>
            <a:off x="1028700" y="2427514"/>
            <a:ext cx="14973300" cy="1010148"/>
          </a:xfrm>
          <a:prstGeom prst="rect">
            <a:avLst/>
          </a:prstGeom>
        </p:spPr>
        <p:txBody>
          <a:bodyPr wrap="square" lIns="0" tIns="0" rIns="0" bIns="0" rtlCol="0" anchor="t">
            <a:spAutoFit/>
          </a:bodyPr>
          <a:lstStyle/>
          <a:p>
            <a:pPr marL="0" lvl="0" indent="0" algn="l">
              <a:lnSpc>
                <a:spcPts val="8474"/>
              </a:lnSpc>
            </a:pP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Trốn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tránh</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Unicode (Unicode Evasion)</a:t>
            </a:r>
          </a:p>
        </p:txBody>
      </p:sp>
    </p:spTree>
    <p:extLst>
      <p:ext uri="{BB962C8B-B14F-4D97-AF65-F5344CB8AC3E}">
        <p14:creationId xmlns:p14="http://schemas.microsoft.com/office/powerpoint/2010/main" val="1472645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63AC2-DBE1-4016-64D6-FA4FC3EE84E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990AD59-68E3-9557-814D-6B27BE8642D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4BAEAC8E-D955-AE26-8CBC-E2854DEB687E}"/>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2722EEC5-BD7B-F7B4-6928-47DFFD5A7C4A}"/>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ACB650EB-FB05-9526-A209-761B9B92AF8B}"/>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2EF9562A-4507-F461-0888-0FC27C50A590}"/>
              </a:ext>
            </a:extLst>
          </p:cNvPr>
          <p:cNvSpPr txBox="1"/>
          <p:nvPr/>
        </p:nvSpPr>
        <p:spPr>
          <a:xfrm>
            <a:off x="1028700" y="5143500"/>
            <a:ext cx="7581900" cy="3695948"/>
          </a:xfrm>
          <a:prstGeom prst="rect">
            <a:avLst/>
          </a:prstGeom>
        </p:spPr>
        <p:txBody>
          <a:bodyPr wrap="square" lIns="0" tIns="0" rIns="0" bIns="0" rtlCol="0" anchor="t">
            <a:spAutoFit/>
          </a:bodyPr>
          <a:lstStyle/>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Cơ chế: Chia gói tin thành nhiều mảnh nhỏ trước khi quét cổng dịch vụ.</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Mục đích: Kiểm tra khả năng xử lý phân mảnh và tái lắp ráp gói IP của IDS/IPS.</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Ảnh hưởng: Nếu quá trình tái lắp ráp không chính xác hoặc không đầy đủ, hệ thống có thể bỏ sót dấu hiệu tấn công</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p:txBody>
      </p:sp>
      <p:sp>
        <p:nvSpPr>
          <p:cNvPr id="11" name="Freeform 11">
            <a:extLst>
              <a:ext uri="{FF2B5EF4-FFF2-40B4-BE49-F238E27FC236}">
                <a16:creationId xmlns:a16="http://schemas.microsoft.com/office/drawing/2014/main" id="{F6CA4893-1A3E-46A8-88D3-20757E63546A}"/>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AFD71AE2-28D7-9F87-8AE8-DD985A38752E}"/>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DACCA273-42DC-6D74-D6DE-933DEBA74BBE}"/>
              </a:ext>
            </a:extLst>
          </p:cNvPr>
          <p:cNvSpPr txBox="1"/>
          <p:nvPr/>
        </p:nvSpPr>
        <p:spPr>
          <a:xfrm>
            <a:off x="1028700" y="2427514"/>
            <a:ext cx="9486900" cy="2100190"/>
          </a:xfrm>
          <a:prstGeom prst="rect">
            <a:avLst/>
          </a:prstGeom>
        </p:spPr>
        <p:txBody>
          <a:bodyPr wrap="square" lIns="0" tIns="0" rIns="0" bIns="0" rtlCol="0" anchor="t">
            <a:spAutoFit/>
          </a:bodyPr>
          <a:lstStyle/>
          <a:p>
            <a:pPr marL="0" lvl="0" indent="0" algn="l">
              <a:lnSpc>
                <a:spcPts val="8474"/>
              </a:lnSpc>
            </a:pP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Tấn</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công</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phân</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mảnh</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(Fragmentation Attack)</a:t>
            </a:r>
          </a:p>
        </p:txBody>
      </p:sp>
      <p:pic>
        <p:nvPicPr>
          <p:cNvPr id="8" name="Picture 7">
            <a:extLst>
              <a:ext uri="{FF2B5EF4-FFF2-40B4-BE49-F238E27FC236}">
                <a16:creationId xmlns:a16="http://schemas.microsoft.com/office/drawing/2014/main" id="{809D314E-75CA-2B5B-F038-816BDCEC2138}"/>
              </a:ext>
            </a:extLst>
          </p:cNvPr>
          <p:cNvPicPr>
            <a:picLocks noChangeAspect="1"/>
          </p:cNvPicPr>
          <p:nvPr/>
        </p:nvPicPr>
        <p:blipFill>
          <a:blip r:embed="rId5"/>
          <a:stretch>
            <a:fillRect/>
          </a:stretch>
        </p:blipFill>
        <p:spPr>
          <a:xfrm>
            <a:off x="10858500" y="2034012"/>
            <a:ext cx="6400800" cy="7738760"/>
          </a:xfrm>
          <a:prstGeom prst="rect">
            <a:avLst/>
          </a:prstGeom>
        </p:spPr>
      </p:pic>
    </p:spTree>
    <p:extLst>
      <p:ext uri="{BB962C8B-B14F-4D97-AF65-F5344CB8AC3E}">
        <p14:creationId xmlns:p14="http://schemas.microsoft.com/office/powerpoint/2010/main" val="3088330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175A-0D86-8BD3-D0E9-70E3953A7B3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4232124-5999-CD00-A4B1-803C2FCBDC9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458FB85E-06B4-3D4C-C489-5752E2448477}"/>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494D54F1-76F7-D763-CC7C-2DA27A8108ED}"/>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B127D631-942F-5BB0-1C86-9B76F2BB87AF}"/>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70E04FF6-7003-1E8A-7EFD-4F6E2654C5F9}"/>
              </a:ext>
            </a:extLst>
          </p:cNvPr>
          <p:cNvSpPr txBox="1"/>
          <p:nvPr/>
        </p:nvSpPr>
        <p:spPr>
          <a:xfrm>
            <a:off x="1028700" y="3971011"/>
            <a:ext cx="16230600" cy="3324052"/>
          </a:xfrm>
          <a:prstGeom prst="rect">
            <a:avLst/>
          </a:prstGeom>
        </p:spPr>
        <p:txBody>
          <a:bodyPr wrap="square" lIns="0" tIns="0" rIns="0" bIns="0" rtlCol="0" anchor="t">
            <a:spAutoFit/>
          </a:bodyPr>
          <a:lstStyle/>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Nguyên lý: Kẻ tấn công lợi dụng sự khác biệt về thời gian chờ lắp ráp lại các phân mảnh giữa IDS và máy chủ đích.</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Ví dụ:</a:t>
            </a: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Thời gian chờ của IDS: 10 giây.</a:t>
            </a: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Thời gian chờ của máy chủ: 20 giây.</a:t>
            </a: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Kẻ tấn công gửi phân mảnh tiếp theo sau 15 giây.</a:t>
            </a: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IDS hết thời gian chờ và loại bỏ phân mảnh, nhưng máy chủ vẫn tiếp tục chờ và lắp ráp dữ liệu.</a:t>
            </a: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Kết quả: Máy chủ nhận được dữ liệu tấn công hoàn chỉnh, trong khi IDS không phát hiện được nội dung độc hại.</a:t>
            </a: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Điều kiện thành công: Thời gian chờ lắp ráp của IDS ngắn hơn máy chủ đích.</a:t>
            </a:r>
          </a:p>
        </p:txBody>
      </p:sp>
      <p:sp>
        <p:nvSpPr>
          <p:cNvPr id="11" name="Freeform 11">
            <a:extLst>
              <a:ext uri="{FF2B5EF4-FFF2-40B4-BE49-F238E27FC236}">
                <a16:creationId xmlns:a16="http://schemas.microsoft.com/office/drawing/2014/main" id="{0A0F50D3-FEBF-EE28-84DC-649B65BA46DD}"/>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D99E6CDC-B0E7-E664-7BA4-76EB8EBE1B91}"/>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9A1ADCAF-89A5-B078-5BD1-00BC6240517E}"/>
              </a:ext>
            </a:extLst>
          </p:cNvPr>
          <p:cNvSpPr txBox="1"/>
          <p:nvPr/>
        </p:nvSpPr>
        <p:spPr>
          <a:xfrm>
            <a:off x="1028700" y="2427514"/>
            <a:ext cx="10934700" cy="1010148"/>
          </a:xfrm>
          <a:prstGeom prst="rect">
            <a:avLst/>
          </a:prstGeom>
        </p:spPr>
        <p:txBody>
          <a:bodyPr wrap="square" lIns="0" tIns="0" rIns="0" bIns="0" rtlCol="0" anchor="t">
            <a:spAutoFit/>
          </a:bodyPr>
          <a:lstStyle/>
          <a:p>
            <a:pPr marL="0" lvl="0" indent="0" algn="l">
              <a:lnSpc>
                <a:spcPts val="8474"/>
              </a:lnSpc>
            </a:pPr>
            <a:r>
              <a:rPr lang="en-US" sz="6600" spc="-345">
                <a:solidFill>
                  <a:srgbClr val="FFFFFF"/>
                </a:solidFill>
                <a:latin typeface="Arial" panose="020B0604020202020204" pitchFamily="34" charset="0"/>
                <a:ea typeface="Times New Roman"/>
                <a:cs typeface="Arial" panose="020B0604020202020204" pitchFamily="34" charset="0"/>
                <a:sym typeface="Times New Roman"/>
              </a:rPr>
              <a:t>Kịch bản tấn công phân mảnh 1</a:t>
            </a:r>
          </a:p>
        </p:txBody>
      </p:sp>
    </p:spTree>
    <p:extLst>
      <p:ext uri="{BB962C8B-B14F-4D97-AF65-F5344CB8AC3E}">
        <p14:creationId xmlns:p14="http://schemas.microsoft.com/office/powerpoint/2010/main" val="1973548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03F7A-6AF3-2F28-4A3B-650B81F953B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90A8EA5-9047-E86F-3906-CCE8041F6BC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49233A0B-3E58-A8AD-4E27-3A1951530511}"/>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6E14A659-91DB-222A-7971-BA649E4BFC23}"/>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3F43C720-2E2F-79D3-566E-13FC72D07647}"/>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09A6C6E1-C766-867F-E208-BAE00D9A5C7B}"/>
              </a:ext>
            </a:extLst>
          </p:cNvPr>
          <p:cNvSpPr txBox="1"/>
          <p:nvPr/>
        </p:nvSpPr>
        <p:spPr>
          <a:xfrm>
            <a:off x="1147149" y="4053512"/>
            <a:ext cx="11315700" cy="6299225"/>
          </a:xfrm>
          <a:prstGeom prst="rect">
            <a:avLst/>
          </a:prstGeom>
        </p:spPr>
        <p:txBody>
          <a:bodyPr wrap="square" lIns="0" tIns="0" rIns="0" bIns="0" rtlCol="0" anchor="t">
            <a:spAutoFit/>
          </a:bodyPr>
          <a:lstStyle/>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Nguyên lý: Kẻ tấn công lợi dụng thời gian chờ lắp ráp của IDS dài hơn máy chủ đích, kết hợp với các phân mảnh có dữ liệu sai và hợp lệ.</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Ví dụ:</a:t>
            </a: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Thời gian chờ của IDS: 60 giây.</a:t>
            </a: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Thời gian chờ của máy chủ: 30 giây.</a:t>
            </a: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Kẻ tấn công gửi các phân mảnh sai frag-2', frag-4' trước.</a:t>
            </a: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Máy chủ hết thời gian chờ và loại bỏ các phân mảnh chưa đủ để lắp ráp.</a:t>
            </a: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Sau đó, kẻ tấn công gửi các phân mảnh hợp lệ. IDS lắp ráp với dữ liệu sai và loại bỏ gói tin do kiểm tra tổng kiểm tra không hợp lệ, trong khi máy chủ có thể lắp ráp các phân mảnh hợp lệ.</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Kết quả: Máy chủ có thể nhận được gói tin hoàn chỉnh, nhưng IDS không nhận diện đúng nội dung mà máy chủ xử lý.</a:t>
            </a: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Điều kiện thành công: Khác biệt về thời gian chờ, thứ tự phân mảnh và cách xử lý phân mảnh giữa IDS và máy chủ.</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p:txBody>
      </p:sp>
      <p:sp>
        <p:nvSpPr>
          <p:cNvPr id="11" name="Freeform 11">
            <a:extLst>
              <a:ext uri="{FF2B5EF4-FFF2-40B4-BE49-F238E27FC236}">
                <a16:creationId xmlns:a16="http://schemas.microsoft.com/office/drawing/2014/main" id="{E8BAA0A0-E577-E15E-632F-FBFC247FDB8D}"/>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E22DFFC1-749D-5E78-3FF4-3010C3755595}"/>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84B0519E-0079-66FF-9906-6AD09EEFDEEB}"/>
              </a:ext>
            </a:extLst>
          </p:cNvPr>
          <p:cNvSpPr txBox="1"/>
          <p:nvPr/>
        </p:nvSpPr>
        <p:spPr>
          <a:xfrm>
            <a:off x="1028700" y="2427514"/>
            <a:ext cx="11087100" cy="1010148"/>
          </a:xfrm>
          <a:prstGeom prst="rect">
            <a:avLst/>
          </a:prstGeom>
        </p:spPr>
        <p:txBody>
          <a:bodyPr wrap="square" lIns="0" tIns="0" rIns="0" bIns="0" rtlCol="0" anchor="t">
            <a:spAutoFit/>
          </a:bodyPr>
          <a:lstStyle/>
          <a:p>
            <a:pPr marL="0" lvl="0" indent="0" algn="l">
              <a:lnSpc>
                <a:spcPts val="8474"/>
              </a:lnSpc>
            </a:pPr>
            <a:r>
              <a:rPr lang="en-US" sz="6600" spc="-345">
                <a:solidFill>
                  <a:srgbClr val="FFFFFF"/>
                </a:solidFill>
                <a:latin typeface="Arial" panose="020B0604020202020204" pitchFamily="34" charset="0"/>
                <a:ea typeface="Times New Roman"/>
                <a:cs typeface="Arial" panose="020B0604020202020204" pitchFamily="34" charset="0"/>
                <a:sym typeface="Times New Roman"/>
              </a:rPr>
              <a:t>Kịch bản tấn công phân mảnh 2</a:t>
            </a:r>
          </a:p>
        </p:txBody>
      </p:sp>
      <p:pic>
        <p:nvPicPr>
          <p:cNvPr id="7" name="Picture 6">
            <a:extLst>
              <a:ext uri="{FF2B5EF4-FFF2-40B4-BE49-F238E27FC236}">
                <a16:creationId xmlns:a16="http://schemas.microsoft.com/office/drawing/2014/main" id="{3B2A56CA-747A-C1B0-029A-402D5DA4E1E2}"/>
              </a:ext>
            </a:extLst>
          </p:cNvPr>
          <p:cNvPicPr>
            <a:picLocks noChangeAspect="1"/>
          </p:cNvPicPr>
          <p:nvPr/>
        </p:nvPicPr>
        <p:blipFill>
          <a:blip r:embed="rId5"/>
          <a:stretch>
            <a:fillRect/>
          </a:stretch>
        </p:blipFill>
        <p:spPr>
          <a:xfrm>
            <a:off x="12721356" y="4069181"/>
            <a:ext cx="4459053" cy="4821905"/>
          </a:xfrm>
          <a:prstGeom prst="rect">
            <a:avLst/>
          </a:prstGeom>
        </p:spPr>
      </p:pic>
    </p:spTree>
    <p:extLst>
      <p:ext uri="{BB962C8B-B14F-4D97-AF65-F5344CB8AC3E}">
        <p14:creationId xmlns:p14="http://schemas.microsoft.com/office/powerpoint/2010/main" val="2376490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65A19-733A-CD26-0505-47447C912D2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16833E0-293E-C98C-816C-B28416A97AD0}"/>
              </a:ext>
            </a:extLst>
          </p:cNvPr>
          <p:cNvSpPr/>
          <p:nvPr/>
        </p:nvSpPr>
        <p:spPr>
          <a:xfrm>
            <a:off x="13079"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0BD5376E-E80D-9A43-9F64-0D8C9BC29774}"/>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72BABA89-5C9E-C197-3AA6-1A559D9C3ABF}"/>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6E15ED31-C0A6-DF53-68EF-40CAE056B22C}"/>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D53D6720-E265-041F-CEAB-52112EB9B069}"/>
              </a:ext>
            </a:extLst>
          </p:cNvPr>
          <p:cNvSpPr txBox="1"/>
          <p:nvPr/>
        </p:nvSpPr>
        <p:spPr>
          <a:xfrm>
            <a:off x="1028700" y="4305300"/>
            <a:ext cx="7358743" cy="3695948"/>
          </a:xfrm>
          <a:prstGeom prst="rect">
            <a:avLst/>
          </a:prstGeom>
        </p:spPr>
        <p:txBody>
          <a:bodyPr lIns="0" tIns="0" rIns="0" bIns="0" rtlCol="0" anchor="t">
            <a:spAutoFit/>
          </a:bodyPr>
          <a:lstStyle/>
          <a:p>
            <a:pPr marL="0" lvl="0" indent="0" algn="l"/>
            <a:r>
              <a:rPr lang="vi-VN" sz="2398" dirty="0">
                <a:solidFill>
                  <a:srgbClr val="FFFFFF"/>
                </a:solidFill>
                <a:latin typeface="Arial" panose="020B0604020202020204" pitchFamily="34" charset="0"/>
                <a:ea typeface="Poppins"/>
                <a:cs typeface="Arial" panose="020B0604020202020204" pitchFamily="34" charset="0"/>
                <a:sym typeface="Poppins"/>
              </a:rPr>
              <a:t>Cơ chế: Tạo các mảnh với vùng dữ liệu chồng lấn nhau, có thể chứa các </a:t>
            </a:r>
            <a:r>
              <a:rPr lang="vi-VN" sz="2398" dirty="0" err="1">
                <a:solidFill>
                  <a:srgbClr val="FFFFFF"/>
                </a:solidFill>
                <a:latin typeface="Arial" panose="020B0604020202020204" pitchFamily="34" charset="0"/>
                <a:ea typeface="Poppins"/>
                <a:cs typeface="Arial" panose="020B0604020202020204" pitchFamily="34" charset="0"/>
                <a:sym typeface="Poppins"/>
              </a:rPr>
              <a:t>byte</a:t>
            </a:r>
            <a:r>
              <a:rPr lang="vi-VN" sz="2398" dirty="0">
                <a:solidFill>
                  <a:srgbClr val="FFFFFF"/>
                </a:solidFill>
                <a:latin typeface="Arial" panose="020B0604020202020204" pitchFamily="34" charset="0"/>
                <a:ea typeface="Poppins"/>
                <a:cs typeface="Arial" panose="020B0604020202020204" pitchFamily="34" charset="0"/>
                <a:sym typeface="Poppins"/>
              </a:rPr>
              <a:t> khác nhau tại cùng vị trí.</a:t>
            </a:r>
          </a:p>
          <a:p>
            <a:pPr marL="0" lvl="0" indent="0" algn="l"/>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r>
              <a:rPr lang="vi-VN" sz="2398" dirty="0">
                <a:solidFill>
                  <a:srgbClr val="FFFFFF"/>
                </a:solidFill>
                <a:latin typeface="Arial" panose="020B0604020202020204" pitchFamily="34" charset="0"/>
                <a:ea typeface="Poppins"/>
                <a:cs typeface="Arial" panose="020B0604020202020204" pitchFamily="34" charset="0"/>
                <a:sym typeface="Poppins"/>
              </a:rPr>
              <a:t>Mục đích: Kiểm tra sự khác biệt trong chính sách tái lắp ráp giữa IDS và hệ thống đích.</a:t>
            </a:r>
          </a:p>
          <a:p>
            <a:pPr marL="0" lvl="0" indent="0" algn="l"/>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r>
              <a:rPr lang="vi-VN" sz="2398" dirty="0">
                <a:solidFill>
                  <a:srgbClr val="FFFFFF"/>
                </a:solidFill>
                <a:latin typeface="Arial" panose="020B0604020202020204" pitchFamily="34" charset="0"/>
                <a:ea typeface="Poppins"/>
                <a:cs typeface="Arial" panose="020B0604020202020204" pitchFamily="34" charset="0"/>
                <a:sym typeface="Poppins"/>
              </a:rPr>
              <a:t>Ảnh hưởng: Nếu hai hệ thống tái lắp ráp khác nhau, IDS có thể phân tích một nội dung trong khi máy đích nhận nội dung khác.</a:t>
            </a:r>
          </a:p>
          <a:p>
            <a:pPr marL="0" lvl="0" indent="0" algn="l"/>
            <a:endParaRPr lang="vi-VN" sz="2398" dirty="0">
              <a:solidFill>
                <a:srgbClr val="FFFFFF"/>
              </a:solidFill>
              <a:latin typeface="Arial" panose="020B0604020202020204" pitchFamily="34" charset="0"/>
              <a:ea typeface="Poppins"/>
              <a:cs typeface="Arial" panose="020B0604020202020204" pitchFamily="34" charset="0"/>
              <a:sym typeface="Poppins"/>
            </a:endParaRPr>
          </a:p>
        </p:txBody>
      </p:sp>
      <p:sp>
        <p:nvSpPr>
          <p:cNvPr id="11" name="Freeform 11">
            <a:extLst>
              <a:ext uri="{FF2B5EF4-FFF2-40B4-BE49-F238E27FC236}">
                <a16:creationId xmlns:a16="http://schemas.microsoft.com/office/drawing/2014/main" id="{AE5604CD-0753-EC29-C84A-475C26146DFB}"/>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0ED50447-6755-E581-82E2-60E2A1A0FFD9}"/>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BBDF3E0D-0F88-4036-CBA1-B78AA1B76D2B}"/>
              </a:ext>
            </a:extLst>
          </p:cNvPr>
          <p:cNvSpPr txBox="1"/>
          <p:nvPr/>
        </p:nvSpPr>
        <p:spPr>
          <a:xfrm>
            <a:off x="1028700" y="2427514"/>
            <a:ext cx="16256758" cy="1010148"/>
          </a:xfrm>
          <a:prstGeom prst="rect">
            <a:avLst/>
          </a:prstGeom>
        </p:spPr>
        <p:txBody>
          <a:bodyPr wrap="square" lIns="0" tIns="0" rIns="0" bIns="0" rtlCol="0" anchor="t">
            <a:spAutoFit/>
          </a:bodyPr>
          <a:lstStyle/>
          <a:p>
            <a:pPr marL="0" lvl="0" indent="0" algn="l">
              <a:lnSpc>
                <a:spcPts val="8474"/>
              </a:lnSpc>
            </a:pP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Đoạn</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mã</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chồng</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chéo</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(Overlapping Fragment) </a:t>
            </a:r>
          </a:p>
        </p:txBody>
      </p:sp>
      <p:pic>
        <p:nvPicPr>
          <p:cNvPr id="7" name="Picture 6">
            <a:extLst>
              <a:ext uri="{FF2B5EF4-FFF2-40B4-BE49-F238E27FC236}">
                <a16:creationId xmlns:a16="http://schemas.microsoft.com/office/drawing/2014/main" id="{D22F0B0C-83BB-0E66-16C5-C96017763DCE}"/>
              </a:ext>
            </a:extLst>
          </p:cNvPr>
          <p:cNvPicPr>
            <a:picLocks noChangeAspect="1"/>
          </p:cNvPicPr>
          <p:nvPr/>
        </p:nvPicPr>
        <p:blipFill>
          <a:blip r:embed="rId5"/>
          <a:stretch>
            <a:fillRect/>
          </a:stretch>
        </p:blipFill>
        <p:spPr>
          <a:xfrm>
            <a:off x="9144000" y="4305300"/>
            <a:ext cx="7991475" cy="3131301"/>
          </a:xfrm>
          <a:prstGeom prst="rect">
            <a:avLst/>
          </a:prstGeom>
        </p:spPr>
      </p:pic>
    </p:spTree>
    <p:extLst>
      <p:ext uri="{BB962C8B-B14F-4D97-AF65-F5344CB8AC3E}">
        <p14:creationId xmlns:p14="http://schemas.microsoft.com/office/powerpoint/2010/main" val="1698839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CCFE9-79D9-37C8-1D70-2A5A608A077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0C7224E-1D1E-166D-3371-42D278B541B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8AD1DE05-28B0-77D4-78E1-069A321C3C2F}"/>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ACD4064E-DE75-585C-D662-513C0B72977B}"/>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E9E73E66-E11F-90BF-C537-8FA8927E45D5}"/>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E58861B5-E3A0-C51B-0B19-44BCA2F75896}"/>
              </a:ext>
            </a:extLst>
          </p:cNvPr>
          <p:cNvSpPr txBox="1"/>
          <p:nvPr/>
        </p:nvSpPr>
        <p:spPr>
          <a:xfrm>
            <a:off x="1028700" y="3796835"/>
            <a:ext cx="15201900" cy="4062651"/>
          </a:xfrm>
          <a:prstGeom prst="rect">
            <a:avLst/>
          </a:prstGeom>
        </p:spPr>
        <p:txBody>
          <a:bodyPr wrap="square" lIns="0" tIns="0" rIns="0" bIns="0" rtlCol="0" anchor="t">
            <a:spAutoFit/>
          </a:bodyPr>
          <a:lstStyle/>
          <a:p>
            <a:pPr marL="0" lvl="0" indent="0" algn="l"/>
            <a:r>
              <a:rPr lang="vi-VN" sz="2400" dirty="0">
                <a:solidFill>
                  <a:srgbClr val="FFFFFF"/>
                </a:solidFill>
                <a:latin typeface="Arial" panose="020B0604020202020204" pitchFamily="34" charset="0"/>
                <a:ea typeface="Poppins"/>
                <a:cs typeface="Arial" panose="020B0604020202020204" pitchFamily="34" charset="0"/>
                <a:sym typeface="Poppins"/>
              </a:rPr>
              <a:t>URG (</a:t>
            </a:r>
            <a:r>
              <a:rPr lang="vi-VN" sz="2400" dirty="0" err="1">
                <a:solidFill>
                  <a:srgbClr val="FFFFFF"/>
                </a:solidFill>
                <a:latin typeface="Arial" panose="020B0604020202020204" pitchFamily="34" charset="0"/>
                <a:ea typeface="Poppins"/>
                <a:cs typeface="Arial" panose="020B0604020202020204" pitchFamily="34" charset="0"/>
                <a:sym typeface="Poppins"/>
              </a:rPr>
              <a:t>Urgent</a:t>
            </a:r>
            <a:r>
              <a:rPr lang="vi-VN" sz="2400" dirty="0">
                <a:solidFill>
                  <a:srgbClr val="FFFFFF"/>
                </a:solidFill>
                <a:latin typeface="Arial" panose="020B0604020202020204" pitchFamily="34" charset="0"/>
                <a:ea typeface="Poppins"/>
                <a:cs typeface="Arial" panose="020B0604020202020204" pitchFamily="34" charset="0"/>
                <a:sym typeface="Poppins"/>
              </a:rPr>
              <a:t>) là một cờ trong </a:t>
            </a:r>
            <a:r>
              <a:rPr lang="vi-VN" sz="2400" dirty="0" err="1">
                <a:solidFill>
                  <a:srgbClr val="FFFFFF"/>
                </a:solidFill>
                <a:latin typeface="Arial" panose="020B0604020202020204" pitchFamily="34" charset="0"/>
                <a:ea typeface="Poppins"/>
                <a:cs typeface="Arial" panose="020B0604020202020204" pitchFamily="34" charset="0"/>
                <a:sym typeface="Poppins"/>
              </a:rPr>
              <a:t>header</a:t>
            </a:r>
            <a:r>
              <a:rPr lang="vi-VN" sz="2400" dirty="0">
                <a:solidFill>
                  <a:srgbClr val="FFFFFF"/>
                </a:solidFill>
                <a:latin typeface="Arial" panose="020B0604020202020204" pitchFamily="34" charset="0"/>
                <a:ea typeface="Poppins"/>
                <a:cs typeface="Arial" panose="020B0604020202020204" pitchFamily="34" charset="0"/>
                <a:sym typeface="Poppins"/>
              </a:rPr>
              <a:t> TCP, dùng để báo rằng gói tin có dữ liệu được đánh dấu khẩn cấp.</a:t>
            </a:r>
          </a:p>
          <a:p>
            <a:pPr marL="0" lvl="0" indent="0" algn="l"/>
            <a:endParaRPr lang="vi-VN" sz="2400" dirty="0">
              <a:solidFill>
                <a:srgbClr val="FFFFFF"/>
              </a:solidFill>
              <a:latin typeface="Arial" panose="020B0604020202020204" pitchFamily="34" charset="0"/>
              <a:ea typeface="Poppins"/>
              <a:cs typeface="Arial" panose="020B0604020202020204" pitchFamily="34" charset="0"/>
              <a:sym typeface="Poppins"/>
            </a:endParaRPr>
          </a:p>
          <a:p>
            <a:pPr marL="0" lvl="0" indent="0" algn="l"/>
            <a:r>
              <a:rPr lang="vi-VN" sz="2400" dirty="0">
                <a:solidFill>
                  <a:srgbClr val="FFFFFF"/>
                </a:solidFill>
                <a:latin typeface="Arial" panose="020B0604020202020204" pitchFamily="34" charset="0"/>
                <a:ea typeface="Poppins"/>
                <a:cs typeface="Arial" panose="020B0604020202020204" pitchFamily="34" charset="0"/>
                <a:sym typeface="Poppins"/>
              </a:rPr>
              <a:t>Cơ chế: Sử dụng cờ URG và trường </a:t>
            </a:r>
            <a:r>
              <a:rPr lang="vi-VN" sz="2400" dirty="0" err="1">
                <a:solidFill>
                  <a:srgbClr val="FFFFFF"/>
                </a:solidFill>
                <a:latin typeface="Arial" panose="020B0604020202020204" pitchFamily="34" charset="0"/>
                <a:ea typeface="Poppins"/>
                <a:cs typeface="Arial" panose="020B0604020202020204" pitchFamily="34" charset="0"/>
                <a:sym typeface="Poppins"/>
              </a:rPr>
              <a:t>Urgent</a:t>
            </a:r>
            <a:r>
              <a:rPr lang="vi-VN" sz="2400" dirty="0">
                <a:solidFill>
                  <a:srgbClr val="FFFFFF"/>
                </a:solidFill>
                <a:latin typeface="Arial" panose="020B0604020202020204" pitchFamily="34" charset="0"/>
                <a:ea typeface="Poppins"/>
                <a:cs typeface="Arial" panose="020B0604020202020204" pitchFamily="34" charset="0"/>
                <a:sym typeface="Poppins"/>
              </a:rPr>
              <a:t> </a:t>
            </a:r>
            <a:r>
              <a:rPr lang="vi-VN" sz="2400" dirty="0" err="1">
                <a:solidFill>
                  <a:srgbClr val="FFFFFF"/>
                </a:solidFill>
                <a:latin typeface="Arial" panose="020B0604020202020204" pitchFamily="34" charset="0"/>
                <a:ea typeface="Poppins"/>
                <a:cs typeface="Arial" panose="020B0604020202020204" pitchFamily="34" charset="0"/>
                <a:sym typeface="Poppins"/>
              </a:rPr>
              <a:t>Pointer</a:t>
            </a:r>
            <a:r>
              <a:rPr lang="vi-VN" sz="2400" dirty="0">
                <a:solidFill>
                  <a:srgbClr val="FFFFFF"/>
                </a:solidFill>
                <a:latin typeface="Arial" panose="020B0604020202020204" pitchFamily="34" charset="0"/>
                <a:ea typeface="Poppins"/>
                <a:cs typeface="Arial" panose="020B0604020202020204" pitchFamily="34" charset="0"/>
                <a:sym typeface="Poppins"/>
              </a:rPr>
              <a:t> trong TCP để đánh dấu dữ liệu khẩn cấp.</a:t>
            </a:r>
          </a:p>
          <a:p>
            <a:pPr marL="0" lvl="0" indent="0" algn="l"/>
            <a:r>
              <a:rPr lang="vi-VN" sz="2400" dirty="0">
                <a:solidFill>
                  <a:srgbClr val="FFFFFF"/>
                </a:solidFill>
                <a:latin typeface="Arial" panose="020B0604020202020204" pitchFamily="34" charset="0"/>
                <a:ea typeface="Poppins"/>
                <a:cs typeface="Arial" panose="020B0604020202020204" pitchFamily="34" charset="0"/>
                <a:sym typeface="Poppins"/>
              </a:rPr>
              <a:t>Mục đích: Kiểm tra sự khác biệt trong cách IDS và hệ điều hành xử lý dữ liệu được đánh dấu khẩn cấp.</a:t>
            </a:r>
          </a:p>
          <a:p>
            <a:pPr marL="0" lvl="0" indent="0" algn="l"/>
            <a:endParaRPr lang="vi-VN" sz="2400" dirty="0">
              <a:solidFill>
                <a:srgbClr val="FFFFFF"/>
              </a:solidFill>
              <a:latin typeface="Arial" panose="020B0604020202020204" pitchFamily="34" charset="0"/>
              <a:ea typeface="Poppins"/>
              <a:cs typeface="Arial" panose="020B0604020202020204" pitchFamily="34" charset="0"/>
              <a:sym typeface="Poppins"/>
            </a:endParaRPr>
          </a:p>
          <a:p>
            <a:pPr marL="0" lvl="0" indent="0" algn="l"/>
            <a:r>
              <a:rPr lang="vi-VN" sz="2400" dirty="0">
                <a:solidFill>
                  <a:srgbClr val="FFFFFF"/>
                </a:solidFill>
                <a:latin typeface="Arial" panose="020B0604020202020204" pitchFamily="34" charset="0"/>
                <a:ea typeface="Poppins"/>
                <a:cs typeface="Arial" panose="020B0604020202020204" pitchFamily="34" charset="0"/>
                <a:sym typeface="Poppins"/>
              </a:rPr>
              <a:t>Ảnh hưởng: Nếu cách diễn giải dữ liệu khác nhau, nội dung có thể được phân tích không nhất quán. Cờ URG tự nó không phải dấu hiệu chắc chắn của tấn công.</a:t>
            </a:r>
          </a:p>
          <a:p>
            <a:pPr marL="0" lvl="0" indent="0" algn="l"/>
            <a:endParaRPr lang="vi-VN" sz="2400" dirty="0">
              <a:solidFill>
                <a:srgbClr val="FFFFFF"/>
              </a:solidFill>
              <a:latin typeface="Arial" panose="020B0604020202020204" pitchFamily="34" charset="0"/>
              <a:ea typeface="Poppins"/>
              <a:cs typeface="Arial" panose="020B0604020202020204" pitchFamily="34" charset="0"/>
              <a:sym typeface="Poppins"/>
            </a:endParaRPr>
          </a:p>
          <a:p>
            <a:pPr marL="0" lvl="0" indent="0" algn="l"/>
            <a:r>
              <a:rPr lang="vi-VN" sz="2400" dirty="0">
                <a:solidFill>
                  <a:srgbClr val="FFFFFF"/>
                </a:solidFill>
                <a:latin typeface="Arial" panose="020B0604020202020204" pitchFamily="34" charset="0"/>
                <a:ea typeface="Poppins"/>
                <a:cs typeface="Arial" panose="020B0604020202020204" pitchFamily="34" charset="0"/>
                <a:sym typeface="Poppins"/>
              </a:rPr>
              <a:t>Ví dụ: khi gửi chuỗi dữ liệu là powershell.exe để mở </a:t>
            </a:r>
            <a:r>
              <a:rPr lang="vi-VN" sz="2400" dirty="0" err="1">
                <a:solidFill>
                  <a:srgbClr val="FFFFFF"/>
                </a:solidFill>
                <a:latin typeface="Arial" panose="020B0604020202020204" pitchFamily="34" charset="0"/>
                <a:ea typeface="Poppins"/>
                <a:cs typeface="Arial" panose="020B0604020202020204" pitchFamily="34" charset="0"/>
                <a:sym typeface="Poppins"/>
              </a:rPr>
              <a:t>powershell</a:t>
            </a:r>
            <a:r>
              <a:rPr lang="vi-VN" sz="2400" dirty="0">
                <a:solidFill>
                  <a:srgbClr val="FFFFFF"/>
                </a:solidFill>
                <a:latin typeface="Arial" panose="020B0604020202020204" pitchFamily="34" charset="0"/>
                <a:ea typeface="Poppins"/>
                <a:cs typeface="Arial" panose="020B0604020202020204" pitchFamily="34" charset="0"/>
                <a:sym typeface="Poppins"/>
              </a:rPr>
              <a:t>, thông </a:t>
            </a:r>
            <a:r>
              <a:rPr lang="vi-VN" sz="2400" dirty="0" err="1">
                <a:solidFill>
                  <a:srgbClr val="FFFFFF"/>
                </a:solidFill>
                <a:latin typeface="Arial" panose="020B0604020202020204" pitchFamily="34" charset="0"/>
                <a:ea typeface="Poppins"/>
                <a:cs typeface="Arial" panose="020B0604020202020204" pitchFamily="34" charset="0"/>
                <a:sym typeface="Poppins"/>
              </a:rPr>
              <a:t>thuờng</a:t>
            </a:r>
            <a:r>
              <a:rPr lang="vi-VN" sz="2400" dirty="0">
                <a:solidFill>
                  <a:srgbClr val="FFFFFF"/>
                </a:solidFill>
                <a:latin typeface="Arial" panose="020B0604020202020204" pitchFamily="34" charset="0"/>
                <a:ea typeface="Poppins"/>
                <a:cs typeface="Arial" panose="020B0604020202020204" pitchFamily="34" charset="0"/>
                <a:sym typeface="Poppins"/>
              </a:rPr>
              <a:t> IDS sẽ đọc theo thứ tự lần lượt từ trái qua phải so khớp mẫu, nhưng khi có cờ URG thì IDS sẽ đọc không chính xác, vẫn là chuỗi powershell.exe, không biến đổi, không mã hóa, không làm tối nghĩa… làm cho IDS hiểu sai và bỏ qua </a:t>
            </a:r>
          </a:p>
        </p:txBody>
      </p:sp>
      <p:sp>
        <p:nvSpPr>
          <p:cNvPr id="11" name="Freeform 11">
            <a:extLst>
              <a:ext uri="{FF2B5EF4-FFF2-40B4-BE49-F238E27FC236}">
                <a16:creationId xmlns:a16="http://schemas.microsoft.com/office/drawing/2014/main" id="{CABDD01A-5111-EB9E-4D93-CA1BB3D28DC0}"/>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C8F1EBAF-D528-8249-7809-0AEDFA31E6EE}"/>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33DCEFF7-1FD4-3021-474A-214810075065}"/>
              </a:ext>
            </a:extLst>
          </p:cNvPr>
          <p:cNvSpPr txBox="1"/>
          <p:nvPr/>
        </p:nvSpPr>
        <p:spPr>
          <a:xfrm>
            <a:off x="1028700" y="2427514"/>
            <a:ext cx="8724900" cy="1010148"/>
          </a:xfrm>
          <a:prstGeom prst="rect">
            <a:avLst/>
          </a:prstGeom>
        </p:spPr>
        <p:txBody>
          <a:bodyPr wrap="square" lIns="0" tIns="0" rIns="0" bIns="0" rtlCol="0" anchor="t">
            <a:spAutoFit/>
          </a:bodyPr>
          <a:lstStyle/>
          <a:p>
            <a:pPr marL="0" lvl="0" indent="0" algn="l">
              <a:lnSpc>
                <a:spcPts val="8474"/>
              </a:lnSpc>
            </a:pP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Cờ</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khẩn</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cấp</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trong</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TCP </a:t>
            </a:r>
          </a:p>
        </p:txBody>
      </p:sp>
    </p:spTree>
    <p:extLst>
      <p:ext uri="{BB962C8B-B14F-4D97-AF65-F5344CB8AC3E}">
        <p14:creationId xmlns:p14="http://schemas.microsoft.com/office/powerpoint/2010/main" val="3263012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A8296-65C8-F711-FF8B-7AEC83631D7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2990472-99EC-A5C7-26FD-52DE1BAC963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E6383236-1A74-E30F-168B-7FCA0189DA7B}"/>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B9BD6F75-B1DF-D247-21B2-6BF467933FF0}"/>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BAE85C7B-6538-1755-AC92-00F2B8E08739}"/>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DBF53589-2A34-20E1-8E81-1AE0A556327A}"/>
              </a:ext>
            </a:extLst>
          </p:cNvPr>
          <p:cNvSpPr txBox="1"/>
          <p:nvPr/>
        </p:nvSpPr>
        <p:spPr>
          <a:xfrm>
            <a:off x="1048753" y="3948441"/>
            <a:ext cx="15562847" cy="2954655"/>
          </a:xfrm>
          <a:prstGeom prst="rect">
            <a:avLst/>
          </a:prstGeom>
        </p:spPr>
        <p:txBody>
          <a:bodyPr wrap="square" lIns="0" tIns="0" rIns="0" bIns="0" rtlCol="0" anchor="t">
            <a:spAutoFit/>
          </a:bodyPr>
          <a:lstStyle/>
          <a:p>
            <a:pPr marL="0" lvl="0" indent="0" algn="l"/>
            <a:r>
              <a:rPr lang="vi-VN" sz="2400" dirty="0">
                <a:solidFill>
                  <a:srgbClr val="FFFFFF"/>
                </a:solidFill>
                <a:latin typeface="Arial" panose="020B0604020202020204" pitchFamily="34" charset="0"/>
                <a:ea typeface="Poppins"/>
                <a:cs typeface="Arial" panose="020B0604020202020204" pitchFamily="34" charset="0"/>
                <a:sym typeface="Poppins"/>
              </a:rPr>
              <a:t>RST là cờ dùng để đặt lại hoặc hủy kết nối TCP.</a:t>
            </a:r>
          </a:p>
          <a:p>
            <a:pPr marL="0" lvl="0" indent="0" algn="l"/>
            <a:endParaRPr lang="vi-VN" sz="2400" dirty="0">
              <a:solidFill>
                <a:srgbClr val="FFFFFF"/>
              </a:solidFill>
              <a:latin typeface="Arial" panose="020B0604020202020204" pitchFamily="34" charset="0"/>
              <a:ea typeface="Poppins"/>
              <a:cs typeface="Arial" panose="020B0604020202020204" pitchFamily="34" charset="0"/>
              <a:sym typeface="Poppins"/>
            </a:endParaRPr>
          </a:p>
          <a:p>
            <a:pPr marL="0" lvl="0" indent="0" algn="l"/>
            <a:r>
              <a:rPr lang="vi-VN" sz="2400" dirty="0">
                <a:solidFill>
                  <a:srgbClr val="FFFFFF"/>
                </a:solidFill>
                <a:latin typeface="Arial" panose="020B0604020202020204" pitchFamily="34" charset="0"/>
                <a:ea typeface="Poppins"/>
                <a:cs typeface="Arial" panose="020B0604020202020204" pitchFamily="34" charset="0"/>
                <a:sym typeface="Poppins"/>
              </a:rPr>
              <a:t>Cơ chế: Gửi gói TCP có cờ RST với thông tin trạng thái hoặc số thứ tự không phù hợp với phiên kết nối.</a:t>
            </a:r>
          </a:p>
          <a:p>
            <a:pPr marL="0" lvl="0" indent="0" algn="l"/>
            <a:endParaRPr lang="vi-VN" sz="2400" dirty="0">
              <a:solidFill>
                <a:srgbClr val="FFFFFF"/>
              </a:solidFill>
              <a:latin typeface="Arial" panose="020B0604020202020204" pitchFamily="34" charset="0"/>
              <a:ea typeface="Poppins"/>
              <a:cs typeface="Arial" panose="020B0604020202020204" pitchFamily="34" charset="0"/>
              <a:sym typeface="Poppins"/>
            </a:endParaRPr>
          </a:p>
          <a:p>
            <a:pPr marL="0" lvl="0" indent="0" algn="l"/>
            <a:r>
              <a:rPr lang="vi-VN" sz="2400" dirty="0">
                <a:solidFill>
                  <a:srgbClr val="FFFFFF"/>
                </a:solidFill>
                <a:latin typeface="Arial" panose="020B0604020202020204" pitchFamily="34" charset="0"/>
                <a:ea typeface="Poppins"/>
                <a:cs typeface="Arial" panose="020B0604020202020204" pitchFamily="34" charset="0"/>
                <a:sym typeface="Poppins"/>
              </a:rPr>
              <a:t>Mục đích: Kiểm tra cách IDS xử lý các gói đặt lại kết nối và đồng bộ trạng thái phiên TCP.</a:t>
            </a:r>
          </a:p>
          <a:p>
            <a:pPr marL="0" lvl="0" indent="0" algn="l"/>
            <a:endParaRPr lang="vi-VN" sz="2400" dirty="0">
              <a:solidFill>
                <a:srgbClr val="FFFFFF"/>
              </a:solidFill>
              <a:latin typeface="Arial" panose="020B0604020202020204" pitchFamily="34" charset="0"/>
              <a:ea typeface="Poppins"/>
              <a:cs typeface="Arial" panose="020B0604020202020204" pitchFamily="34" charset="0"/>
              <a:sym typeface="Poppins"/>
            </a:endParaRPr>
          </a:p>
          <a:p>
            <a:pPr marL="0" lvl="0" indent="0" algn="l"/>
            <a:r>
              <a:rPr lang="vi-VN" sz="2400" dirty="0">
                <a:solidFill>
                  <a:srgbClr val="FFFFFF"/>
                </a:solidFill>
                <a:latin typeface="Arial" panose="020B0604020202020204" pitchFamily="34" charset="0"/>
                <a:ea typeface="Poppins"/>
                <a:cs typeface="Arial" panose="020B0604020202020204" pitchFamily="34" charset="0"/>
                <a:sym typeface="Poppins"/>
              </a:rPr>
              <a:t>Ảnh hưởng: Nếu IDS và máy đích đánh giá tính hợp lệ của gói RST khác nhau, trạng thái theo dõi kết nối có thể bị sai lệch.</a:t>
            </a:r>
          </a:p>
        </p:txBody>
      </p:sp>
      <p:sp>
        <p:nvSpPr>
          <p:cNvPr id="11" name="Freeform 11">
            <a:extLst>
              <a:ext uri="{FF2B5EF4-FFF2-40B4-BE49-F238E27FC236}">
                <a16:creationId xmlns:a16="http://schemas.microsoft.com/office/drawing/2014/main" id="{E1C8229C-9222-1842-B885-B0115AB3301E}"/>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F394282D-5B79-8413-5784-57BE14082A63}"/>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4CF58C48-383C-B5FB-F48B-6ECBE24F5220}"/>
              </a:ext>
            </a:extLst>
          </p:cNvPr>
          <p:cNvSpPr txBox="1"/>
          <p:nvPr/>
        </p:nvSpPr>
        <p:spPr>
          <a:xfrm>
            <a:off x="1048753" y="2509045"/>
            <a:ext cx="8572500" cy="1010148"/>
          </a:xfrm>
          <a:prstGeom prst="rect">
            <a:avLst/>
          </a:prstGeom>
        </p:spPr>
        <p:txBody>
          <a:bodyPr wrap="square" lIns="0" tIns="0" rIns="0" bIns="0" rtlCol="0" anchor="t">
            <a:spAutoFit/>
          </a:bodyPr>
          <a:lstStyle/>
          <a:p>
            <a:pPr marL="0" lvl="0" indent="0" algn="l">
              <a:lnSpc>
                <a:spcPts val="8474"/>
              </a:lnSpc>
            </a:pPr>
            <a:r>
              <a:rPr lang="en-US" sz="6600" spc="-345">
                <a:solidFill>
                  <a:srgbClr val="FFFFFF"/>
                </a:solidFill>
                <a:latin typeface="Arial" panose="020B0604020202020204" pitchFamily="34" charset="0"/>
                <a:ea typeface="Times New Roman"/>
                <a:cs typeface="Arial" panose="020B0604020202020204" pitchFamily="34" charset="0"/>
                <a:sym typeface="Times New Roman"/>
              </a:rPr>
              <a:t>Gói RST không hợp lệ</a:t>
            </a:r>
          </a:p>
        </p:txBody>
      </p:sp>
    </p:spTree>
    <p:extLst>
      <p:ext uri="{BB962C8B-B14F-4D97-AF65-F5344CB8AC3E}">
        <p14:creationId xmlns:p14="http://schemas.microsoft.com/office/powerpoint/2010/main" val="3524004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B016F-BAF0-6D52-8838-0B1752B5620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49F9663-A364-2C18-2810-4C8E0416AD9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5F7C6AAA-BC1C-DFAA-F1AE-2C29E7639151}"/>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16696E36-9C79-7100-16E0-B68EEE3AEB09}"/>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CF2286DE-B954-DCD5-924C-946CBD92EEF9}"/>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DE799EF2-EB0B-6A40-A3C7-5EA225CD5617}"/>
              </a:ext>
            </a:extLst>
          </p:cNvPr>
          <p:cNvSpPr txBox="1"/>
          <p:nvPr/>
        </p:nvSpPr>
        <p:spPr>
          <a:xfrm>
            <a:off x="1201019" y="3652623"/>
            <a:ext cx="7790447" cy="3693319"/>
          </a:xfrm>
          <a:prstGeom prst="rect">
            <a:avLst/>
          </a:prstGeom>
        </p:spPr>
        <p:txBody>
          <a:bodyPr wrap="square" lIns="0" tIns="0" rIns="0" bIns="0" rtlCol="0" anchor="t">
            <a:spAutoFit/>
          </a:bodyPr>
          <a:lstStyle/>
          <a:p>
            <a:pPr marL="0" lvl="0" indent="0" algn="l"/>
            <a:r>
              <a:rPr lang="vi-VN" sz="2400" dirty="0">
                <a:solidFill>
                  <a:srgbClr val="FFFFFF"/>
                </a:solidFill>
                <a:latin typeface="Arial" panose="020B0604020202020204" pitchFamily="34" charset="0"/>
                <a:ea typeface="Poppins"/>
                <a:cs typeface="Arial" panose="020B0604020202020204" pitchFamily="34" charset="0"/>
                <a:sym typeface="Poppins"/>
              </a:rPr>
              <a:t>Cơ chế: Biến đổi cách biểu diễn mã khai thác, thường bằng cách mã hóa </a:t>
            </a:r>
            <a:r>
              <a:rPr lang="vi-VN" sz="2400" dirty="0" err="1">
                <a:solidFill>
                  <a:srgbClr val="FFFFFF"/>
                </a:solidFill>
                <a:latin typeface="Arial" panose="020B0604020202020204" pitchFamily="34" charset="0"/>
                <a:ea typeface="Poppins"/>
                <a:cs typeface="Arial" panose="020B0604020202020204" pitchFamily="34" charset="0"/>
                <a:sym typeface="Poppins"/>
              </a:rPr>
              <a:t>payload</a:t>
            </a:r>
            <a:r>
              <a:rPr lang="vi-VN" sz="2400" dirty="0">
                <a:solidFill>
                  <a:srgbClr val="FFFFFF"/>
                </a:solidFill>
                <a:latin typeface="Arial" panose="020B0604020202020204" pitchFamily="34" charset="0"/>
                <a:ea typeface="Poppins"/>
                <a:cs typeface="Arial" panose="020B0604020202020204" pitchFamily="34" charset="0"/>
                <a:sym typeface="Poppins"/>
              </a:rPr>
              <a:t> và sử dụng đoạn giải mã, trong khi giữ nguyên hành vi dự kiến.</a:t>
            </a:r>
          </a:p>
          <a:p>
            <a:pPr marL="0" lvl="0" indent="0" algn="l"/>
            <a:endParaRPr lang="vi-VN" sz="2400" dirty="0">
              <a:solidFill>
                <a:srgbClr val="FFFFFF"/>
              </a:solidFill>
              <a:latin typeface="Arial" panose="020B0604020202020204" pitchFamily="34" charset="0"/>
              <a:ea typeface="Poppins"/>
              <a:cs typeface="Arial" panose="020B0604020202020204" pitchFamily="34" charset="0"/>
              <a:sym typeface="Poppins"/>
            </a:endParaRPr>
          </a:p>
          <a:p>
            <a:pPr marL="0" lvl="0" indent="0" algn="l"/>
            <a:r>
              <a:rPr lang="vi-VN" sz="2400" dirty="0">
                <a:solidFill>
                  <a:srgbClr val="FFFFFF"/>
                </a:solidFill>
                <a:latin typeface="Arial" panose="020B0604020202020204" pitchFamily="34" charset="0"/>
                <a:ea typeface="Poppins"/>
                <a:cs typeface="Arial" panose="020B0604020202020204" pitchFamily="34" charset="0"/>
                <a:sym typeface="Poppins"/>
              </a:rPr>
              <a:t>Mục đích: Tránh các cơ chế phát hiện dựa trên chữ ký </a:t>
            </a:r>
            <a:r>
              <a:rPr lang="vi-VN" sz="2400" dirty="0" err="1">
                <a:solidFill>
                  <a:srgbClr val="FFFFFF"/>
                </a:solidFill>
                <a:latin typeface="Arial" panose="020B0604020202020204" pitchFamily="34" charset="0"/>
                <a:ea typeface="Poppins"/>
                <a:cs typeface="Arial" panose="020B0604020202020204" pitchFamily="34" charset="0"/>
                <a:sym typeface="Poppins"/>
              </a:rPr>
              <a:t>byte</a:t>
            </a:r>
            <a:r>
              <a:rPr lang="vi-VN" sz="2400" dirty="0">
                <a:solidFill>
                  <a:srgbClr val="FFFFFF"/>
                </a:solidFill>
                <a:latin typeface="Arial" panose="020B0604020202020204" pitchFamily="34" charset="0"/>
                <a:ea typeface="Poppins"/>
                <a:cs typeface="Arial" panose="020B0604020202020204" pitchFamily="34" charset="0"/>
                <a:sym typeface="Poppins"/>
              </a:rPr>
              <a:t> cố định của mã độc.</a:t>
            </a:r>
          </a:p>
          <a:p>
            <a:pPr marL="0" lvl="0" indent="0" algn="l"/>
            <a:r>
              <a:rPr lang="vi-VN" sz="2400" dirty="0">
                <a:solidFill>
                  <a:srgbClr val="FFFFFF"/>
                </a:solidFill>
                <a:latin typeface="Arial" panose="020B0604020202020204" pitchFamily="34" charset="0"/>
                <a:ea typeface="Poppins"/>
                <a:cs typeface="Arial" panose="020B0604020202020204" pitchFamily="34" charset="0"/>
                <a:sym typeface="Poppins"/>
              </a:rPr>
              <a:t>Ảnh hưởng: IDS có thể không nhận diện được </a:t>
            </a:r>
            <a:r>
              <a:rPr lang="vi-VN" sz="2400" dirty="0" err="1">
                <a:solidFill>
                  <a:srgbClr val="FFFFFF"/>
                </a:solidFill>
                <a:latin typeface="Arial" panose="020B0604020202020204" pitchFamily="34" charset="0"/>
                <a:ea typeface="Poppins"/>
                <a:cs typeface="Arial" panose="020B0604020202020204" pitchFamily="34" charset="0"/>
                <a:sym typeface="Poppins"/>
              </a:rPr>
              <a:t>payload</a:t>
            </a:r>
            <a:r>
              <a:rPr lang="vi-VN" sz="2400" dirty="0">
                <a:solidFill>
                  <a:srgbClr val="FFFFFF"/>
                </a:solidFill>
                <a:latin typeface="Arial" panose="020B0604020202020204" pitchFamily="34" charset="0"/>
                <a:ea typeface="Poppins"/>
                <a:cs typeface="Arial" panose="020B0604020202020204" pitchFamily="34" charset="0"/>
                <a:sym typeface="Poppins"/>
              </a:rPr>
              <a:t> nếu chỉ so khớp mẫu tĩnh mà không phân tích sâu hơn.</a:t>
            </a:r>
            <a:endParaRPr lang="en-US" sz="2400" dirty="0">
              <a:solidFill>
                <a:srgbClr val="FFFFFF"/>
              </a:solidFill>
              <a:latin typeface="Arial" panose="020B0604020202020204" pitchFamily="34" charset="0"/>
              <a:ea typeface="Poppins"/>
              <a:cs typeface="Arial" panose="020B0604020202020204" pitchFamily="34" charset="0"/>
              <a:sym typeface="Poppins"/>
            </a:endParaRPr>
          </a:p>
          <a:p>
            <a:pPr marL="0" lvl="0" indent="0" algn="l"/>
            <a:endParaRPr lang="en-US" sz="2400" dirty="0">
              <a:solidFill>
                <a:srgbClr val="FFFFFF"/>
              </a:solidFill>
              <a:latin typeface="Arial" panose="020B0604020202020204" pitchFamily="34" charset="0"/>
              <a:ea typeface="Poppins"/>
              <a:cs typeface="Arial" panose="020B0604020202020204" pitchFamily="34" charset="0"/>
              <a:sym typeface="Poppins"/>
            </a:endParaRPr>
          </a:p>
          <a:p>
            <a:pPr marL="0" lvl="0" indent="0" algn="l"/>
            <a:r>
              <a:rPr lang="vi-VN" sz="2400" dirty="0">
                <a:solidFill>
                  <a:srgbClr val="FFFFFF"/>
                </a:solidFill>
                <a:latin typeface="Arial" panose="020B0604020202020204" pitchFamily="34" charset="0"/>
                <a:ea typeface="Poppins"/>
                <a:cs typeface="Arial" panose="020B0604020202020204" pitchFamily="34" charset="0"/>
                <a:sym typeface="Poppins"/>
              </a:rPr>
              <a:t>Ví dụ về </a:t>
            </a:r>
            <a:r>
              <a:rPr lang="vi-VN" sz="2400" dirty="0" err="1">
                <a:solidFill>
                  <a:srgbClr val="FFFFFF"/>
                </a:solidFill>
                <a:latin typeface="Arial" panose="020B0604020202020204" pitchFamily="34" charset="0"/>
                <a:ea typeface="Poppins"/>
                <a:cs typeface="Arial" panose="020B0604020202020204" pitchFamily="34" charset="0"/>
                <a:sym typeface="Poppins"/>
              </a:rPr>
              <a:t>shellcode</a:t>
            </a:r>
            <a:r>
              <a:rPr lang="vi-VN" sz="2400" dirty="0">
                <a:solidFill>
                  <a:srgbClr val="FFFFFF"/>
                </a:solidFill>
                <a:latin typeface="Arial" panose="020B0604020202020204" pitchFamily="34" charset="0"/>
                <a:ea typeface="Poppins"/>
                <a:cs typeface="Arial" panose="020B0604020202020204" pitchFamily="34" charset="0"/>
                <a:sym typeface="Poppins"/>
              </a:rPr>
              <a:t> đa hình:</a:t>
            </a:r>
          </a:p>
        </p:txBody>
      </p:sp>
      <p:sp>
        <p:nvSpPr>
          <p:cNvPr id="11" name="Freeform 11">
            <a:extLst>
              <a:ext uri="{FF2B5EF4-FFF2-40B4-BE49-F238E27FC236}">
                <a16:creationId xmlns:a16="http://schemas.microsoft.com/office/drawing/2014/main" id="{942E1E50-6FC9-9189-256B-84E1B529C226}"/>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13F82DD5-A7F3-6226-17CA-38CDB808D6CF}"/>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A18287A1-A65E-D5ED-76B8-345F927C1521}"/>
              </a:ext>
            </a:extLst>
          </p:cNvPr>
          <p:cNvSpPr txBox="1"/>
          <p:nvPr/>
        </p:nvSpPr>
        <p:spPr>
          <a:xfrm>
            <a:off x="1028700" y="2074624"/>
            <a:ext cx="8572500" cy="1010148"/>
          </a:xfrm>
          <a:prstGeom prst="rect">
            <a:avLst/>
          </a:prstGeom>
        </p:spPr>
        <p:txBody>
          <a:bodyPr wrap="square" lIns="0" tIns="0" rIns="0" bIns="0" rtlCol="0" anchor="t">
            <a:spAutoFit/>
          </a:bodyPr>
          <a:lstStyle/>
          <a:p>
            <a:pPr marL="0" lvl="0" indent="0" algn="l">
              <a:lnSpc>
                <a:spcPts val="8474"/>
              </a:lnSpc>
            </a:pP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Shellcode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đa</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hình</a:t>
            </a:r>
            <a:endParaRPr lang="en-US" sz="6600" spc="-345" dirty="0">
              <a:solidFill>
                <a:srgbClr val="FFFFFF"/>
              </a:solidFill>
              <a:latin typeface="Arial" panose="020B0604020202020204" pitchFamily="34" charset="0"/>
              <a:ea typeface="Times New Roman"/>
              <a:cs typeface="Arial" panose="020B0604020202020204" pitchFamily="34" charset="0"/>
              <a:sym typeface="Times New Roman"/>
            </a:endParaRPr>
          </a:p>
        </p:txBody>
      </p:sp>
      <p:graphicFrame>
        <p:nvGraphicFramePr>
          <p:cNvPr id="6" name="Bảng 5">
            <a:extLst>
              <a:ext uri="{FF2B5EF4-FFF2-40B4-BE49-F238E27FC236}">
                <a16:creationId xmlns:a16="http://schemas.microsoft.com/office/drawing/2014/main" id="{9D59017B-1C8C-56D4-95D0-285BC188EE5E}"/>
              </a:ext>
            </a:extLst>
          </p:cNvPr>
          <p:cNvGraphicFramePr>
            <a:graphicFrameLocks noGrp="1"/>
          </p:cNvGraphicFramePr>
          <p:nvPr>
            <p:extLst>
              <p:ext uri="{D42A27DB-BD31-4B8C-83A1-F6EECF244321}">
                <p14:modId xmlns:p14="http://schemas.microsoft.com/office/powerpoint/2010/main" val="1272543279"/>
              </p:ext>
            </p:extLst>
          </p:nvPr>
        </p:nvGraphicFramePr>
        <p:xfrm>
          <a:off x="10062045" y="3662290"/>
          <a:ext cx="7165848" cy="6431280"/>
        </p:xfrm>
        <a:graphic>
          <a:graphicData uri="http://schemas.openxmlformats.org/drawingml/2006/table">
            <a:tbl>
              <a:tblPr firstRow="1" bandRow="1"/>
              <a:tblGrid>
                <a:gridCol w="3582924">
                  <a:extLst>
                    <a:ext uri="{9D8B030D-6E8A-4147-A177-3AD203B41FA5}">
                      <a16:colId xmlns:a16="http://schemas.microsoft.com/office/drawing/2014/main" val="4126019924"/>
                    </a:ext>
                  </a:extLst>
                </a:gridCol>
                <a:gridCol w="3582924">
                  <a:extLst>
                    <a:ext uri="{9D8B030D-6E8A-4147-A177-3AD203B41FA5}">
                      <a16:colId xmlns:a16="http://schemas.microsoft.com/office/drawing/2014/main" val="3695042381"/>
                    </a:ext>
                  </a:extLst>
                </a:gridCol>
              </a:tblGrid>
              <a:tr h="2811250">
                <a:tc>
                  <a:txBody>
                    <a:bodyPr/>
                    <a:lstStyle>
                      <a:lvl1pPr marL="0" algn="l" defTabSz="914400" rtl="0" eaLnBrk="1" latinLnBrk="0" hangingPunct="1">
                        <a:defRPr sz="1800" b="1" kern="1200">
                          <a:solidFill>
                            <a:schemeClr val="dk1"/>
                          </a:solidFill>
                          <a:latin typeface="Aptos" panose="02110004020202020204"/>
                        </a:defRPr>
                      </a:lvl1pPr>
                      <a:lvl2pPr marL="457200" algn="l" defTabSz="914400" rtl="0" eaLnBrk="1" latinLnBrk="0" hangingPunct="1">
                        <a:defRPr sz="1800" b="1" kern="1200">
                          <a:solidFill>
                            <a:schemeClr val="dk1"/>
                          </a:solidFill>
                          <a:latin typeface="Aptos" panose="02110004020202020204"/>
                        </a:defRPr>
                      </a:lvl2pPr>
                      <a:lvl3pPr marL="914400" algn="l" defTabSz="914400" rtl="0" eaLnBrk="1" latinLnBrk="0" hangingPunct="1">
                        <a:defRPr sz="1800" b="1" kern="1200">
                          <a:solidFill>
                            <a:schemeClr val="dk1"/>
                          </a:solidFill>
                          <a:latin typeface="Aptos" panose="02110004020202020204"/>
                        </a:defRPr>
                      </a:lvl3pPr>
                      <a:lvl4pPr marL="1371600" algn="l" defTabSz="914400" rtl="0" eaLnBrk="1" latinLnBrk="0" hangingPunct="1">
                        <a:defRPr sz="1800" b="1" kern="1200">
                          <a:solidFill>
                            <a:schemeClr val="dk1"/>
                          </a:solidFill>
                          <a:latin typeface="Aptos" panose="02110004020202020204"/>
                        </a:defRPr>
                      </a:lvl4pPr>
                      <a:lvl5pPr marL="1828800" algn="l" defTabSz="914400" rtl="0" eaLnBrk="1" latinLnBrk="0" hangingPunct="1">
                        <a:defRPr sz="1800" b="1" kern="1200">
                          <a:solidFill>
                            <a:schemeClr val="dk1"/>
                          </a:solidFill>
                          <a:latin typeface="Aptos" panose="02110004020202020204"/>
                        </a:defRPr>
                      </a:lvl5pPr>
                      <a:lvl6pPr marL="2286000" algn="l" defTabSz="914400" rtl="0" eaLnBrk="1" latinLnBrk="0" hangingPunct="1">
                        <a:defRPr sz="1800" b="1" kern="1200">
                          <a:solidFill>
                            <a:schemeClr val="dk1"/>
                          </a:solidFill>
                          <a:latin typeface="Aptos" panose="02110004020202020204"/>
                        </a:defRPr>
                      </a:lvl6pPr>
                      <a:lvl7pPr marL="2743200" algn="l" defTabSz="914400" rtl="0" eaLnBrk="1" latinLnBrk="0" hangingPunct="1">
                        <a:defRPr sz="1800" b="1" kern="1200">
                          <a:solidFill>
                            <a:schemeClr val="dk1"/>
                          </a:solidFill>
                          <a:latin typeface="Aptos" panose="02110004020202020204"/>
                        </a:defRPr>
                      </a:lvl7pPr>
                      <a:lvl8pPr marL="3200400" algn="l" defTabSz="914400" rtl="0" eaLnBrk="1" latinLnBrk="0" hangingPunct="1">
                        <a:defRPr sz="1800" b="1" kern="1200">
                          <a:solidFill>
                            <a:schemeClr val="dk1"/>
                          </a:solidFill>
                          <a:latin typeface="Aptos" panose="02110004020202020204"/>
                        </a:defRPr>
                      </a:lvl8pPr>
                      <a:lvl9pPr marL="3657600" algn="l" defTabSz="914400" rtl="0" eaLnBrk="1" latinLnBrk="0" hangingPunct="1">
                        <a:defRPr sz="1800" b="1" kern="1200">
                          <a:solidFill>
                            <a:schemeClr val="dk1"/>
                          </a:solidFill>
                          <a:latin typeface="Aptos" panose="02110004020202020204"/>
                        </a:defRPr>
                      </a:lvl9pPr>
                    </a:lstStyle>
                    <a:p>
                      <a:r>
                        <a:rPr lang="vi-VN" sz="3200" b="0" kern="1200" dirty="0" err="1">
                          <a:solidFill>
                            <a:schemeClr val="tx1"/>
                          </a:solidFill>
                          <a:effectLst/>
                          <a:latin typeface="+mn-lt"/>
                        </a:rPr>
                        <a:t>global</a:t>
                      </a:r>
                      <a:r>
                        <a:rPr lang="vi-VN" sz="3200" b="0" kern="1200" dirty="0">
                          <a:solidFill>
                            <a:schemeClr val="tx1"/>
                          </a:solidFill>
                          <a:effectLst/>
                          <a:latin typeface="+mn-lt"/>
                        </a:rPr>
                        <a:t> _</a:t>
                      </a:r>
                      <a:r>
                        <a:rPr lang="vi-VN" sz="3200" b="0" kern="1200" dirty="0" err="1">
                          <a:solidFill>
                            <a:schemeClr val="tx1"/>
                          </a:solidFill>
                          <a:effectLst/>
                          <a:latin typeface="+mn-lt"/>
                        </a:rPr>
                        <a:t>start</a:t>
                      </a:r>
                      <a:endParaRPr lang="vi-VN" sz="3200" b="0" kern="1200" dirty="0">
                        <a:solidFill>
                          <a:schemeClr val="tx1"/>
                        </a:solidFill>
                        <a:effectLst/>
                        <a:latin typeface="+mn-lt"/>
                      </a:endParaRPr>
                    </a:p>
                    <a:p>
                      <a:endParaRPr lang="vi-VN" sz="3200" b="0" kern="1200" dirty="0">
                        <a:solidFill>
                          <a:schemeClr val="tx1"/>
                        </a:solidFill>
                        <a:effectLst/>
                        <a:latin typeface="+mn-lt"/>
                      </a:endParaRPr>
                    </a:p>
                    <a:p>
                      <a:r>
                        <a:rPr lang="vi-VN" sz="3200" b="0" kern="1200" dirty="0" err="1">
                          <a:solidFill>
                            <a:schemeClr val="tx1"/>
                          </a:solidFill>
                          <a:effectLst/>
                          <a:latin typeface="+mn-lt"/>
                        </a:rPr>
                        <a:t>section</a:t>
                      </a:r>
                      <a:r>
                        <a:rPr lang="vi-VN" sz="3200" b="0" kern="1200" dirty="0">
                          <a:solidFill>
                            <a:schemeClr val="tx1"/>
                          </a:solidFill>
                          <a:effectLst/>
                          <a:latin typeface="+mn-lt"/>
                        </a:rPr>
                        <a:t> .</a:t>
                      </a:r>
                      <a:r>
                        <a:rPr lang="vi-VN" sz="3200" b="0" kern="1200" dirty="0" err="1">
                          <a:solidFill>
                            <a:schemeClr val="tx1"/>
                          </a:solidFill>
                          <a:effectLst/>
                          <a:latin typeface="+mn-lt"/>
                        </a:rPr>
                        <a:t>text</a:t>
                      </a:r>
                      <a:endParaRPr lang="vi-VN" sz="3200" b="0" kern="1200" dirty="0">
                        <a:solidFill>
                          <a:schemeClr val="tx1"/>
                        </a:solidFill>
                        <a:effectLst/>
                        <a:latin typeface="+mn-lt"/>
                      </a:endParaRPr>
                    </a:p>
                    <a:p>
                      <a:endParaRPr lang="vi-VN" sz="3200" b="0" kern="1200" dirty="0">
                        <a:solidFill>
                          <a:schemeClr val="tx1"/>
                        </a:solidFill>
                        <a:effectLst/>
                        <a:latin typeface="+mn-lt"/>
                      </a:endParaRPr>
                    </a:p>
                    <a:p>
                      <a:r>
                        <a:rPr lang="vi-VN" sz="3200" b="0" kern="1200" dirty="0">
                          <a:solidFill>
                            <a:schemeClr val="tx1"/>
                          </a:solidFill>
                          <a:effectLst/>
                          <a:latin typeface="+mn-lt"/>
                        </a:rPr>
                        <a:t>_</a:t>
                      </a:r>
                      <a:r>
                        <a:rPr lang="vi-VN" sz="3200" b="0" kern="1200" dirty="0" err="1">
                          <a:solidFill>
                            <a:schemeClr val="tx1"/>
                          </a:solidFill>
                          <a:effectLst/>
                          <a:latin typeface="+mn-lt"/>
                        </a:rPr>
                        <a:t>start</a:t>
                      </a:r>
                      <a:r>
                        <a:rPr lang="vi-VN" sz="3200" b="0" kern="1200" dirty="0">
                          <a:solidFill>
                            <a:schemeClr val="tx1"/>
                          </a:solidFill>
                          <a:effectLst/>
                          <a:latin typeface="+mn-lt"/>
                        </a:rPr>
                        <a:t>:</a:t>
                      </a:r>
                    </a:p>
                    <a:p>
                      <a:endParaRPr lang="vi-VN" sz="3200" b="0" kern="1200" dirty="0">
                        <a:solidFill>
                          <a:schemeClr val="tx1"/>
                        </a:solidFill>
                        <a:effectLst/>
                        <a:latin typeface="+mn-lt"/>
                      </a:endParaRPr>
                    </a:p>
                    <a:p>
                      <a:pPr algn="l"/>
                      <a:r>
                        <a:rPr lang="vi-VN" sz="3200" b="0" kern="1200" dirty="0">
                          <a:solidFill>
                            <a:schemeClr val="tx1"/>
                          </a:solidFill>
                          <a:effectLst/>
                          <a:latin typeface="+mn-lt"/>
                        </a:rPr>
                        <a:t>	</a:t>
                      </a:r>
                      <a:r>
                        <a:rPr lang="vi-VN" sz="3200" b="0" kern="1200" dirty="0" err="1">
                          <a:solidFill>
                            <a:schemeClr val="tx1"/>
                          </a:solidFill>
                          <a:effectLst/>
                          <a:latin typeface="+mn-lt"/>
                        </a:rPr>
                        <a:t>mov</a:t>
                      </a:r>
                      <a:r>
                        <a:rPr lang="vi-VN" sz="3200" b="0" kern="1200" dirty="0">
                          <a:solidFill>
                            <a:schemeClr val="tx1"/>
                          </a:solidFill>
                          <a:effectLst/>
                          <a:latin typeface="+mn-lt"/>
                        </a:rPr>
                        <a:t> </a:t>
                      </a:r>
                      <a:r>
                        <a:rPr lang="vi-VN" sz="3200" b="0" kern="1200" dirty="0" err="1">
                          <a:solidFill>
                            <a:schemeClr val="tx1"/>
                          </a:solidFill>
                          <a:effectLst/>
                          <a:latin typeface="+mn-lt"/>
                        </a:rPr>
                        <a:t>eax</a:t>
                      </a:r>
                      <a:r>
                        <a:rPr lang="vi-VN" sz="3200" b="0" kern="1200" dirty="0">
                          <a:solidFill>
                            <a:schemeClr val="tx1"/>
                          </a:solidFill>
                          <a:effectLst/>
                          <a:latin typeface="+mn-lt"/>
                        </a:rPr>
                        <a:t>, 37</a:t>
                      </a:r>
                    </a:p>
                    <a:p>
                      <a:pPr algn="l"/>
                      <a:r>
                        <a:rPr lang="vi-VN" sz="3200" b="0" kern="1200" dirty="0">
                          <a:solidFill>
                            <a:schemeClr val="tx1"/>
                          </a:solidFill>
                          <a:effectLst/>
                          <a:latin typeface="+mn-lt"/>
                        </a:rPr>
                        <a:t>	</a:t>
                      </a:r>
                      <a:r>
                        <a:rPr lang="vi-VN" sz="3200" b="0" kern="1200" dirty="0" err="1">
                          <a:solidFill>
                            <a:schemeClr val="tx1"/>
                          </a:solidFill>
                          <a:effectLst/>
                          <a:latin typeface="+mn-lt"/>
                        </a:rPr>
                        <a:t>mov</a:t>
                      </a:r>
                      <a:r>
                        <a:rPr lang="vi-VN" sz="3200" b="0" kern="1200" dirty="0">
                          <a:solidFill>
                            <a:schemeClr val="tx1"/>
                          </a:solidFill>
                          <a:effectLst/>
                          <a:latin typeface="+mn-lt"/>
                        </a:rPr>
                        <a:t> </a:t>
                      </a:r>
                      <a:r>
                        <a:rPr lang="vi-VN" sz="3200" b="0" kern="1200" dirty="0" err="1">
                          <a:solidFill>
                            <a:schemeClr val="tx1"/>
                          </a:solidFill>
                          <a:effectLst/>
                          <a:latin typeface="+mn-lt"/>
                        </a:rPr>
                        <a:t>ebx</a:t>
                      </a:r>
                      <a:r>
                        <a:rPr lang="vi-VN" sz="3200" b="0" kern="1200" dirty="0">
                          <a:solidFill>
                            <a:schemeClr val="tx1"/>
                          </a:solidFill>
                          <a:effectLst/>
                          <a:latin typeface="+mn-lt"/>
                        </a:rPr>
                        <a:t>, 0</a:t>
                      </a:r>
                    </a:p>
                    <a:p>
                      <a:pPr algn="l"/>
                      <a:r>
                        <a:rPr lang="vi-VN" sz="3200" b="0" kern="1200" dirty="0">
                          <a:solidFill>
                            <a:schemeClr val="tx1"/>
                          </a:solidFill>
                          <a:effectLst/>
                          <a:latin typeface="+mn-lt"/>
                        </a:rPr>
                        <a:t>	</a:t>
                      </a:r>
                      <a:r>
                        <a:rPr lang="vi-VN" sz="3200" b="0" kern="1200" dirty="0" err="1">
                          <a:solidFill>
                            <a:schemeClr val="tx1"/>
                          </a:solidFill>
                          <a:effectLst/>
                          <a:latin typeface="+mn-lt"/>
                        </a:rPr>
                        <a:t>sub</a:t>
                      </a:r>
                      <a:r>
                        <a:rPr lang="vi-VN" sz="3200" b="0" kern="1200" dirty="0">
                          <a:solidFill>
                            <a:schemeClr val="tx1"/>
                          </a:solidFill>
                          <a:effectLst/>
                          <a:latin typeface="+mn-lt"/>
                        </a:rPr>
                        <a:t> </a:t>
                      </a:r>
                      <a:r>
                        <a:rPr lang="vi-VN" sz="3200" b="0" kern="1200" dirty="0" err="1">
                          <a:solidFill>
                            <a:schemeClr val="tx1"/>
                          </a:solidFill>
                          <a:effectLst/>
                          <a:latin typeface="+mn-lt"/>
                        </a:rPr>
                        <a:t>ebx</a:t>
                      </a:r>
                      <a:r>
                        <a:rPr lang="vi-VN" sz="3200" b="0" kern="1200" dirty="0">
                          <a:solidFill>
                            <a:schemeClr val="tx1"/>
                          </a:solidFill>
                          <a:effectLst/>
                          <a:latin typeface="+mn-lt"/>
                        </a:rPr>
                        <a:t>, 1</a:t>
                      </a:r>
                    </a:p>
                    <a:p>
                      <a:pPr algn="l"/>
                      <a:r>
                        <a:rPr lang="vi-VN" sz="3200" b="0" kern="1200" dirty="0">
                          <a:solidFill>
                            <a:schemeClr val="tx1"/>
                          </a:solidFill>
                          <a:effectLst/>
                          <a:latin typeface="+mn-lt"/>
                        </a:rPr>
                        <a:t>	</a:t>
                      </a:r>
                      <a:r>
                        <a:rPr lang="vi-VN" sz="3200" b="0" kern="1200" dirty="0" err="1">
                          <a:solidFill>
                            <a:schemeClr val="tx1"/>
                          </a:solidFill>
                          <a:effectLst/>
                          <a:latin typeface="+mn-lt"/>
                        </a:rPr>
                        <a:t>mov</a:t>
                      </a:r>
                      <a:r>
                        <a:rPr lang="vi-VN" sz="3200" b="0" kern="1200" dirty="0">
                          <a:solidFill>
                            <a:schemeClr val="tx1"/>
                          </a:solidFill>
                          <a:effectLst/>
                          <a:latin typeface="+mn-lt"/>
                        </a:rPr>
                        <a:t> </a:t>
                      </a:r>
                      <a:r>
                        <a:rPr lang="vi-VN" sz="3200" b="0" kern="1200" dirty="0" err="1">
                          <a:solidFill>
                            <a:schemeClr val="tx1"/>
                          </a:solidFill>
                          <a:effectLst/>
                          <a:latin typeface="+mn-lt"/>
                        </a:rPr>
                        <a:t>ecx</a:t>
                      </a:r>
                      <a:r>
                        <a:rPr lang="vi-VN" sz="3200" b="0" kern="1200" dirty="0">
                          <a:solidFill>
                            <a:schemeClr val="tx1"/>
                          </a:solidFill>
                          <a:effectLst/>
                          <a:latin typeface="+mn-lt"/>
                        </a:rPr>
                        <a:t>, 9 </a:t>
                      </a:r>
                    </a:p>
                    <a:p>
                      <a:pPr algn="l"/>
                      <a:r>
                        <a:rPr lang="vi-VN" sz="3200" b="0" kern="1200" dirty="0">
                          <a:solidFill>
                            <a:schemeClr val="tx1"/>
                          </a:solidFill>
                          <a:effectLst/>
                          <a:latin typeface="+mn-lt"/>
                        </a:rPr>
                        <a:t>	</a:t>
                      </a:r>
                      <a:r>
                        <a:rPr lang="vi-VN" sz="3200" b="0" kern="1200" dirty="0" err="1">
                          <a:solidFill>
                            <a:schemeClr val="tx1"/>
                          </a:solidFill>
                          <a:effectLst/>
                          <a:latin typeface="+mn-lt"/>
                        </a:rPr>
                        <a:t>int</a:t>
                      </a:r>
                      <a:r>
                        <a:rPr lang="vi-VN" sz="3200" b="0" kern="1200" dirty="0">
                          <a:solidFill>
                            <a:schemeClr val="tx1"/>
                          </a:solidFill>
                          <a:effectLst/>
                          <a:latin typeface="+mn-lt"/>
                        </a:rPr>
                        <a:t> 0x80</a:t>
                      </a:r>
                      <a:endParaRPr lang="vi-VN" sz="3200" dirty="0">
                        <a:latin typeface="+mn-lt"/>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b="1" kern="1200">
                          <a:solidFill>
                            <a:schemeClr val="dk1"/>
                          </a:solidFill>
                          <a:latin typeface="Aptos" panose="02110004020202020204"/>
                        </a:defRPr>
                      </a:lvl1pPr>
                      <a:lvl2pPr marL="457200" algn="l" defTabSz="914400" rtl="0" eaLnBrk="1" latinLnBrk="0" hangingPunct="1">
                        <a:defRPr sz="1800" b="1" kern="1200">
                          <a:solidFill>
                            <a:schemeClr val="dk1"/>
                          </a:solidFill>
                          <a:latin typeface="Aptos" panose="02110004020202020204"/>
                        </a:defRPr>
                      </a:lvl2pPr>
                      <a:lvl3pPr marL="914400" algn="l" defTabSz="914400" rtl="0" eaLnBrk="1" latinLnBrk="0" hangingPunct="1">
                        <a:defRPr sz="1800" b="1" kern="1200">
                          <a:solidFill>
                            <a:schemeClr val="dk1"/>
                          </a:solidFill>
                          <a:latin typeface="Aptos" panose="02110004020202020204"/>
                        </a:defRPr>
                      </a:lvl3pPr>
                      <a:lvl4pPr marL="1371600" algn="l" defTabSz="914400" rtl="0" eaLnBrk="1" latinLnBrk="0" hangingPunct="1">
                        <a:defRPr sz="1800" b="1" kern="1200">
                          <a:solidFill>
                            <a:schemeClr val="dk1"/>
                          </a:solidFill>
                          <a:latin typeface="Aptos" panose="02110004020202020204"/>
                        </a:defRPr>
                      </a:lvl4pPr>
                      <a:lvl5pPr marL="1828800" algn="l" defTabSz="914400" rtl="0" eaLnBrk="1" latinLnBrk="0" hangingPunct="1">
                        <a:defRPr sz="1800" b="1" kern="1200">
                          <a:solidFill>
                            <a:schemeClr val="dk1"/>
                          </a:solidFill>
                          <a:latin typeface="Aptos" panose="02110004020202020204"/>
                        </a:defRPr>
                      </a:lvl5pPr>
                      <a:lvl6pPr marL="2286000" algn="l" defTabSz="914400" rtl="0" eaLnBrk="1" latinLnBrk="0" hangingPunct="1">
                        <a:defRPr sz="1800" b="1" kern="1200">
                          <a:solidFill>
                            <a:schemeClr val="dk1"/>
                          </a:solidFill>
                          <a:latin typeface="Aptos" panose="02110004020202020204"/>
                        </a:defRPr>
                      </a:lvl6pPr>
                      <a:lvl7pPr marL="2743200" algn="l" defTabSz="914400" rtl="0" eaLnBrk="1" latinLnBrk="0" hangingPunct="1">
                        <a:defRPr sz="1800" b="1" kern="1200">
                          <a:solidFill>
                            <a:schemeClr val="dk1"/>
                          </a:solidFill>
                          <a:latin typeface="Aptos" panose="02110004020202020204"/>
                        </a:defRPr>
                      </a:lvl7pPr>
                      <a:lvl8pPr marL="3200400" algn="l" defTabSz="914400" rtl="0" eaLnBrk="1" latinLnBrk="0" hangingPunct="1">
                        <a:defRPr sz="1800" b="1" kern="1200">
                          <a:solidFill>
                            <a:schemeClr val="dk1"/>
                          </a:solidFill>
                          <a:latin typeface="Aptos" panose="02110004020202020204"/>
                        </a:defRPr>
                      </a:lvl8pPr>
                      <a:lvl9pPr marL="3657600" algn="l" defTabSz="914400" rtl="0" eaLnBrk="1" latinLnBrk="0" hangingPunct="1">
                        <a:defRPr sz="1800" b="1" kern="1200">
                          <a:solidFill>
                            <a:schemeClr val="dk1"/>
                          </a:solidFill>
                          <a:latin typeface="Aptos" panose="02110004020202020204"/>
                        </a:defRPr>
                      </a:lvl9pPr>
                    </a:lstStyle>
                    <a:p>
                      <a:r>
                        <a:rPr lang="vi-VN" sz="3200" b="0" kern="1200" dirty="0" err="1">
                          <a:solidFill>
                            <a:schemeClr val="tx1"/>
                          </a:solidFill>
                          <a:effectLst/>
                          <a:latin typeface="+mn-lt"/>
                        </a:rPr>
                        <a:t>global</a:t>
                      </a:r>
                      <a:r>
                        <a:rPr lang="vi-VN" sz="3200" b="0" kern="1200" dirty="0">
                          <a:solidFill>
                            <a:schemeClr val="tx1"/>
                          </a:solidFill>
                          <a:effectLst/>
                          <a:latin typeface="+mn-lt"/>
                        </a:rPr>
                        <a:t> _</a:t>
                      </a:r>
                      <a:r>
                        <a:rPr lang="vi-VN" sz="3200" b="0" kern="1200" dirty="0" err="1">
                          <a:solidFill>
                            <a:schemeClr val="tx1"/>
                          </a:solidFill>
                          <a:effectLst/>
                          <a:latin typeface="+mn-lt"/>
                        </a:rPr>
                        <a:t>start</a:t>
                      </a:r>
                      <a:endParaRPr lang="vi-VN" sz="3200" b="0" kern="1200" dirty="0">
                        <a:solidFill>
                          <a:schemeClr val="tx1"/>
                        </a:solidFill>
                        <a:effectLst/>
                        <a:latin typeface="+mn-lt"/>
                      </a:endParaRPr>
                    </a:p>
                    <a:p>
                      <a:endParaRPr lang="vi-VN" sz="3200" b="0" kern="1200" dirty="0">
                        <a:solidFill>
                          <a:schemeClr val="tx1"/>
                        </a:solidFill>
                        <a:effectLst/>
                        <a:latin typeface="+mn-lt"/>
                      </a:endParaRPr>
                    </a:p>
                    <a:p>
                      <a:r>
                        <a:rPr lang="vi-VN" sz="3200" b="0" kern="1200" dirty="0" err="1">
                          <a:solidFill>
                            <a:schemeClr val="tx1"/>
                          </a:solidFill>
                          <a:effectLst/>
                          <a:latin typeface="+mn-lt"/>
                        </a:rPr>
                        <a:t>section</a:t>
                      </a:r>
                      <a:r>
                        <a:rPr lang="vi-VN" sz="3200" b="0" kern="1200" dirty="0">
                          <a:solidFill>
                            <a:schemeClr val="tx1"/>
                          </a:solidFill>
                          <a:effectLst/>
                          <a:latin typeface="+mn-lt"/>
                        </a:rPr>
                        <a:t> .</a:t>
                      </a:r>
                      <a:r>
                        <a:rPr lang="vi-VN" sz="3200" b="0" kern="1200" dirty="0" err="1">
                          <a:solidFill>
                            <a:schemeClr val="tx1"/>
                          </a:solidFill>
                          <a:effectLst/>
                          <a:latin typeface="+mn-lt"/>
                        </a:rPr>
                        <a:t>text</a:t>
                      </a:r>
                      <a:endParaRPr lang="vi-VN" sz="3200" b="0" kern="1200" dirty="0">
                        <a:solidFill>
                          <a:schemeClr val="tx1"/>
                        </a:solidFill>
                        <a:effectLst/>
                        <a:latin typeface="+mn-lt"/>
                      </a:endParaRPr>
                    </a:p>
                    <a:p>
                      <a:endParaRPr lang="vi-VN" sz="3200" b="0" kern="1200" dirty="0">
                        <a:solidFill>
                          <a:schemeClr val="tx1"/>
                        </a:solidFill>
                        <a:effectLst/>
                        <a:latin typeface="+mn-lt"/>
                      </a:endParaRPr>
                    </a:p>
                    <a:p>
                      <a:r>
                        <a:rPr lang="vi-VN" sz="3200" b="0" kern="1200" dirty="0">
                          <a:solidFill>
                            <a:schemeClr val="tx1"/>
                          </a:solidFill>
                          <a:effectLst/>
                          <a:latin typeface="+mn-lt"/>
                        </a:rPr>
                        <a:t>_</a:t>
                      </a:r>
                      <a:r>
                        <a:rPr lang="vi-VN" sz="3200" b="0" kern="1200" dirty="0" err="1">
                          <a:solidFill>
                            <a:schemeClr val="tx1"/>
                          </a:solidFill>
                          <a:effectLst/>
                          <a:latin typeface="+mn-lt"/>
                        </a:rPr>
                        <a:t>start</a:t>
                      </a:r>
                      <a:r>
                        <a:rPr lang="vi-VN" sz="3200" b="0" kern="1200" dirty="0">
                          <a:solidFill>
                            <a:schemeClr val="tx1"/>
                          </a:solidFill>
                          <a:effectLst/>
                          <a:latin typeface="+mn-lt"/>
                        </a:rPr>
                        <a:t>:</a:t>
                      </a:r>
                    </a:p>
                    <a:p>
                      <a:endParaRPr lang="vi-VN" sz="3200" b="0" kern="1200" dirty="0">
                        <a:solidFill>
                          <a:schemeClr val="tx1"/>
                        </a:solidFill>
                        <a:effectLst/>
                        <a:latin typeface="+mn-lt"/>
                      </a:endParaRPr>
                    </a:p>
                    <a:p>
                      <a:r>
                        <a:rPr lang="vi-VN" sz="3200" b="0" kern="1200" dirty="0">
                          <a:solidFill>
                            <a:schemeClr val="tx1"/>
                          </a:solidFill>
                          <a:effectLst/>
                          <a:latin typeface="+mn-lt"/>
                        </a:rPr>
                        <a:t>	</a:t>
                      </a:r>
                      <a:r>
                        <a:rPr lang="vi-VN" sz="3200" b="0" kern="1200" dirty="0" err="1">
                          <a:solidFill>
                            <a:schemeClr val="tx1"/>
                          </a:solidFill>
                          <a:effectLst/>
                          <a:latin typeface="+mn-lt"/>
                        </a:rPr>
                        <a:t>push</a:t>
                      </a:r>
                      <a:r>
                        <a:rPr lang="vi-VN" sz="3200" b="0" kern="1200" dirty="0">
                          <a:solidFill>
                            <a:schemeClr val="tx1"/>
                          </a:solidFill>
                          <a:effectLst/>
                          <a:latin typeface="+mn-lt"/>
                        </a:rPr>
                        <a:t> 37</a:t>
                      </a:r>
                    </a:p>
                    <a:p>
                      <a:r>
                        <a:rPr lang="vi-VN" sz="3200" b="0" kern="1200" dirty="0">
                          <a:solidFill>
                            <a:schemeClr val="tx1"/>
                          </a:solidFill>
                          <a:effectLst/>
                          <a:latin typeface="+mn-lt"/>
                        </a:rPr>
                        <a:t>	</a:t>
                      </a:r>
                      <a:r>
                        <a:rPr lang="vi-VN" sz="3200" b="0" kern="1200" dirty="0" err="1">
                          <a:solidFill>
                            <a:schemeClr val="tx1"/>
                          </a:solidFill>
                          <a:effectLst/>
                          <a:latin typeface="+mn-lt"/>
                        </a:rPr>
                        <a:t>pop</a:t>
                      </a:r>
                      <a:r>
                        <a:rPr lang="vi-VN" sz="3200" b="0" kern="1200" dirty="0">
                          <a:solidFill>
                            <a:schemeClr val="tx1"/>
                          </a:solidFill>
                          <a:effectLst/>
                          <a:latin typeface="+mn-lt"/>
                        </a:rPr>
                        <a:t> </a:t>
                      </a:r>
                      <a:r>
                        <a:rPr lang="vi-VN" sz="3200" b="0" kern="1200" dirty="0" err="1">
                          <a:solidFill>
                            <a:schemeClr val="tx1"/>
                          </a:solidFill>
                          <a:effectLst/>
                          <a:latin typeface="+mn-lt"/>
                        </a:rPr>
                        <a:t>eax</a:t>
                      </a:r>
                      <a:endParaRPr lang="vi-VN" sz="3200" b="0" kern="1200" dirty="0">
                        <a:solidFill>
                          <a:schemeClr val="tx1"/>
                        </a:solidFill>
                        <a:effectLst/>
                        <a:latin typeface="+mn-lt"/>
                      </a:endParaRPr>
                    </a:p>
                    <a:p>
                      <a:r>
                        <a:rPr lang="vi-VN" sz="3200" b="0" kern="1200" dirty="0">
                          <a:solidFill>
                            <a:schemeClr val="tx1"/>
                          </a:solidFill>
                          <a:effectLst/>
                          <a:latin typeface="+mn-lt"/>
                        </a:rPr>
                        <a:t>	</a:t>
                      </a:r>
                      <a:r>
                        <a:rPr lang="vi-VN" sz="3200" b="0" kern="1200" dirty="0" err="1">
                          <a:solidFill>
                            <a:schemeClr val="tx1"/>
                          </a:solidFill>
                          <a:effectLst/>
                          <a:latin typeface="+mn-lt"/>
                        </a:rPr>
                        <a:t>push</a:t>
                      </a:r>
                      <a:r>
                        <a:rPr lang="vi-VN" sz="3200" b="0" kern="1200" dirty="0">
                          <a:solidFill>
                            <a:schemeClr val="tx1"/>
                          </a:solidFill>
                          <a:effectLst/>
                          <a:latin typeface="+mn-lt"/>
                        </a:rPr>
                        <a:t> </a:t>
                      </a:r>
                      <a:r>
                        <a:rPr lang="vi-VN" sz="3200" b="0" kern="1200" dirty="0" err="1">
                          <a:solidFill>
                            <a:schemeClr val="tx1"/>
                          </a:solidFill>
                          <a:effectLst/>
                          <a:latin typeface="+mn-lt"/>
                        </a:rPr>
                        <a:t>byte</a:t>
                      </a:r>
                      <a:r>
                        <a:rPr lang="vi-VN" sz="3200" b="0" kern="1200" dirty="0">
                          <a:solidFill>
                            <a:schemeClr val="tx1"/>
                          </a:solidFill>
                          <a:effectLst/>
                          <a:latin typeface="+mn-lt"/>
                        </a:rPr>
                        <a:t> -1</a:t>
                      </a:r>
                    </a:p>
                    <a:p>
                      <a:r>
                        <a:rPr lang="vi-VN" sz="3200" b="0" kern="1200" dirty="0">
                          <a:solidFill>
                            <a:schemeClr val="tx1"/>
                          </a:solidFill>
                          <a:effectLst/>
                          <a:latin typeface="+mn-lt"/>
                        </a:rPr>
                        <a:t>	</a:t>
                      </a:r>
                      <a:r>
                        <a:rPr lang="vi-VN" sz="3200" b="0" kern="1200" dirty="0" err="1">
                          <a:solidFill>
                            <a:schemeClr val="tx1"/>
                          </a:solidFill>
                          <a:effectLst/>
                          <a:latin typeface="+mn-lt"/>
                        </a:rPr>
                        <a:t>pop</a:t>
                      </a:r>
                      <a:r>
                        <a:rPr lang="vi-VN" sz="3200" b="0" kern="1200" dirty="0">
                          <a:solidFill>
                            <a:schemeClr val="tx1"/>
                          </a:solidFill>
                          <a:effectLst/>
                          <a:latin typeface="+mn-lt"/>
                        </a:rPr>
                        <a:t> </a:t>
                      </a:r>
                      <a:r>
                        <a:rPr lang="vi-VN" sz="3200" b="0" kern="1200" dirty="0" err="1">
                          <a:solidFill>
                            <a:schemeClr val="tx1"/>
                          </a:solidFill>
                          <a:effectLst/>
                          <a:latin typeface="+mn-lt"/>
                        </a:rPr>
                        <a:t>ebx</a:t>
                      </a:r>
                      <a:endParaRPr lang="vi-VN" sz="3200" b="0" kern="1200" dirty="0">
                        <a:solidFill>
                          <a:schemeClr val="tx1"/>
                        </a:solidFill>
                        <a:effectLst/>
                        <a:latin typeface="+mn-lt"/>
                      </a:endParaRPr>
                    </a:p>
                    <a:p>
                      <a:r>
                        <a:rPr lang="vi-VN" sz="3200" b="0" kern="1200" dirty="0">
                          <a:solidFill>
                            <a:schemeClr val="tx1"/>
                          </a:solidFill>
                          <a:effectLst/>
                          <a:latin typeface="+mn-lt"/>
                        </a:rPr>
                        <a:t>	</a:t>
                      </a:r>
                      <a:r>
                        <a:rPr lang="vi-VN" sz="3200" b="0" kern="1200" dirty="0" err="1">
                          <a:solidFill>
                            <a:schemeClr val="tx1"/>
                          </a:solidFill>
                          <a:effectLst/>
                          <a:latin typeface="+mn-lt"/>
                        </a:rPr>
                        <a:t>push</a:t>
                      </a:r>
                      <a:r>
                        <a:rPr lang="vi-VN" sz="3200" b="0" kern="1200" dirty="0">
                          <a:solidFill>
                            <a:schemeClr val="tx1"/>
                          </a:solidFill>
                          <a:effectLst/>
                          <a:latin typeface="+mn-lt"/>
                        </a:rPr>
                        <a:t> </a:t>
                      </a:r>
                      <a:r>
                        <a:rPr lang="vi-VN" sz="3200" b="0" kern="1200" dirty="0" err="1">
                          <a:solidFill>
                            <a:schemeClr val="tx1"/>
                          </a:solidFill>
                          <a:effectLst/>
                          <a:latin typeface="+mn-lt"/>
                        </a:rPr>
                        <a:t>byte</a:t>
                      </a:r>
                      <a:r>
                        <a:rPr lang="vi-VN" sz="3200" b="0" kern="1200" dirty="0">
                          <a:solidFill>
                            <a:schemeClr val="tx1"/>
                          </a:solidFill>
                          <a:effectLst/>
                          <a:latin typeface="+mn-lt"/>
                        </a:rPr>
                        <a:t> 9</a:t>
                      </a:r>
                    </a:p>
                    <a:p>
                      <a:r>
                        <a:rPr lang="vi-VN" sz="3200" b="0" kern="1200" dirty="0">
                          <a:solidFill>
                            <a:schemeClr val="tx1"/>
                          </a:solidFill>
                          <a:effectLst/>
                          <a:latin typeface="+mn-lt"/>
                        </a:rPr>
                        <a:t>	</a:t>
                      </a:r>
                      <a:r>
                        <a:rPr lang="vi-VN" sz="3200" b="0" kern="1200" dirty="0" err="1">
                          <a:solidFill>
                            <a:schemeClr val="tx1"/>
                          </a:solidFill>
                          <a:effectLst/>
                          <a:latin typeface="+mn-lt"/>
                        </a:rPr>
                        <a:t>pop</a:t>
                      </a:r>
                      <a:r>
                        <a:rPr lang="vi-VN" sz="3200" b="0" kern="1200" dirty="0">
                          <a:solidFill>
                            <a:schemeClr val="tx1"/>
                          </a:solidFill>
                          <a:effectLst/>
                          <a:latin typeface="+mn-lt"/>
                        </a:rPr>
                        <a:t> </a:t>
                      </a:r>
                      <a:r>
                        <a:rPr lang="vi-VN" sz="3200" b="0" kern="1200" dirty="0" err="1">
                          <a:solidFill>
                            <a:schemeClr val="tx1"/>
                          </a:solidFill>
                          <a:effectLst/>
                          <a:latin typeface="+mn-lt"/>
                        </a:rPr>
                        <a:t>ecx</a:t>
                      </a:r>
                      <a:endParaRPr lang="vi-VN" sz="3200" b="0" kern="1200" dirty="0">
                        <a:solidFill>
                          <a:schemeClr val="tx1"/>
                        </a:solidFill>
                        <a:effectLst/>
                        <a:latin typeface="+mn-lt"/>
                      </a:endParaRPr>
                    </a:p>
                    <a:p>
                      <a:r>
                        <a:rPr lang="vi-VN" sz="3200" b="0" kern="1200" dirty="0">
                          <a:solidFill>
                            <a:schemeClr val="tx1"/>
                          </a:solidFill>
                          <a:effectLst/>
                          <a:latin typeface="+mn-lt"/>
                        </a:rPr>
                        <a:t>	</a:t>
                      </a:r>
                      <a:r>
                        <a:rPr lang="vi-VN" sz="3200" b="0" kern="1200" dirty="0" err="1">
                          <a:solidFill>
                            <a:schemeClr val="tx1"/>
                          </a:solidFill>
                          <a:effectLst/>
                          <a:latin typeface="+mn-lt"/>
                        </a:rPr>
                        <a:t>int</a:t>
                      </a:r>
                      <a:r>
                        <a:rPr lang="vi-VN" sz="3200" b="0" kern="1200" dirty="0">
                          <a:solidFill>
                            <a:schemeClr val="tx1"/>
                          </a:solidFill>
                          <a:effectLst/>
                          <a:latin typeface="+mn-lt"/>
                        </a:rPr>
                        <a:t> 0x80</a:t>
                      </a:r>
                      <a:endParaRPr lang="vi-VN" sz="3200" b="0" i="0" kern="1200" dirty="0">
                        <a:solidFill>
                          <a:schemeClr val="tx1"/>
                        </a:solidFill>
                        <a:effectLst/>
                        <a:latin typeface="+mn-lt"/>
                        <a:ea typeface="+mn-ea"/>
                        <a:cs typeface="+mn-cs"/>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Text" lastClr="000000">
                        <a:tint val="20000"/>
                      </a:sysClr>
                    </a:solidFill>
                  </a:tcPr>
                </a:tc>
                <a:extLst>
                  <a:ext uri="{0D108BD9-81ED-4DB2-BD59-A6C34878D82A}">
                    <a16:rowId xmlns:a16="http://schemas.microsoft.com/office/drawing/2014/main" val="2065275665"/>
                  </a:ext>
                </a:extLst>
              </a:tr>
            </a:tbl>
          </a:graphicData>
        </a:graphic>
      </p:graphicFrame>
    </p:spTree>
    <p:extLst>
      <p:ext uri="{BB962C8B-B14F-4D97-AF65-F5344CB8AC3E}">
        <p14:creationId xmlns:p14="http://schemas.microsoft.com/office/powerpoint/2010/main" val="39411321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169FC-8186-30E9-A0C2-ECB9AE0DBC6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495C88B-A464-4CC7-D9F4-DC8088BF9FF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F135C55F-9943-4F56-420E-C75216FB4509}"/>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077B50C9-72C0-8213-CB1E-CADA08C2CD0E}"/>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3997B0BB-AEE2-86BC-4411-09FCFC8E8BE2}"/>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320EF2FB-977A-A797-4C36-27D833A133EA}"/>
              </a:ext>
            </a:extLst>
          </p:cNvPr>
          <p:cNvSpPr txBox="1"/>
          <p:nvPr/>
        </p:nvSpPr>
        <p:spPr>
          <a:xfrm>
            <a:off x="1028700" y="4017569"/>
            <a:ext cx="16230600" cy="5166158"/>
          </a:xfrm>
          <a:prstGeom prst="rect">
            <a:avLst/>
          </a:prstGeom>
        </p:spPr>
        <p:txBody>
          <a:bodyPr wrap="square" lIns="0" tIns="0" rIns="0" bIns="0" rtlCol="0" anchor="t">
            <a:spAutoFit/>
          </a:bodyPr>
          <a:lstStyle/>
          <a:p>
            <a:pPr marL="0" lvl="0" indent="0" algn="l"/>
            <a:r>
              <a:rPr lang="vi-VN" sz="2398" dirty="0">
                <a:solidFill>
                  <a:srgbClr val="FFFFFF"/>
                </a:solidFill>
                <a:latin typeface="Arial" panose="020B0604020202020204" pitchFamily="34" charset="0"/>
                <a:ea typeface="Poppins"/>
                <a:cs typeface="Arial" panose="020B0604020202020204" pitchFamily="34" charset="0"/>
                <a:sym typeface="Poppins"/>
              </a:rPr>
              <a:t>Cơ chế: Biểu diễn mã vỏ bằng các </a:t>
            </a:r>
            <a:r>
              <a:rPr lang="vi-VN" sz="2398" dirty="0" err="1">
                <a:solidFill>
                  <a:srgbClr val="FFFFFF"/>
                </a:solidFill>
                <a:latin typeface="Arial" panose="020B0604020202020204" pitchFamily="34" charset="0"/>
                <a:ea typeface="Poppins"/>
                <a:cs typeface="Arial" panose="020B0604020202020204" pitchFamily="34" charset="0"/>
                <a:sym typeface="Poppins"/>
              </a:rPr>
              <a:t>byte</a:t>
            </a:r>
            <a:r>
              <a:rPr lang="vi-VN" sz="2398" dirty="0">
                <a:solidFill>
                  <a:srgbClr val="FFFFFF"/>
                </a:solidFill>
                <a:latin typeface="Arial" panose="020B0604020202020204" pitchFamily="34" charset="0"/>
                <a:ea typeface="Poppins"/>
                <a:cs typeface="Arial" panose="020B0604020202020204" pitchFamily="34" charset="0"/>
                <a:sym typeface="Poppins"/>
              </a:rPr>
              <a:t> thuộc tập ký tự ASCII được phép hoặc có thể hiển thị, thường kết hợp với cơ chế giải mã khi thực thi.</a:t>
            </a:r>
          </a:p>
          <a:p>
            <a:pPr marL="0" lvl="0" indent="0" algn="l"/>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r>
              <a:rPr lang="vi-VN" sz="2398" dirty="0">
                <a:solidFill>
                  <a:srgbClr val="FFFFFF"/>
                </a:solidFill>
                <a:latin typeface="Arial" panose="020B0604020202020204" pitchFamily="34" charset="0"/>
                <a:ea typeface="Poppins"/>
                <a:cs typeface="Arial" panose="020B0604020202020204" pitchFamily="34" charset="0"/>
                <a:sym typeface="Poppins"/>
              </a:rPr>
              <a:t>Mục đích: Vượt qua các ràng buộc về ký tự trong một số môi trường khai thác và kiểm thử khả năng nhận diện mã vỏ.</a:t>
            </a:r>
          </a:p>
          <a:p>
            <a:pPr marL="0" lvl="0" indent="0" algn="l"/>
            <a:r>
              <a:rPr lang="vi-VN" sz="2398" dirty="0">
                <a:solidFill>
                  <a:srgbClr val="FFFFFF"/>
                </a:solidFill>
                <a:latin typeface="Arial" panose="020B0604020202020204" pitchFamily="34" charset="0"/>
                <a:ea typeface="Poppins"/>
                <a:cs typeface="Arial" panose="020B0604020202020204" pitchFamily="34" charset="0"/>
                <a:sym typeface="Poppins"/>
              </a:rPr>
              <a:t>Ảnh hưởng: Các luật chỉ tìm kiếm chuỗi </a:t>
            </a:r>
            <a:r>
              <a:rPr lang="vi-VN" sz="2398" dirty="0" err="1">
                <a:solidFill>
                  <a:srgbClr val="FFFFFF"/>
                </a:solidFill>
                <a:latin typeface="Arial" panose="020B0604020202020204" pitchFamily="34" charset="0"/>
                <a:ea typeface="Poppins"/>
                <a:cs typeface="Arial" panose="020B0604020202020204" pitchFamily="34" charset="0"/>
                <a:sym typeface="Poppins"/>
              </a:rPr>
              <a:t>byte</a:t>
            </a:r>
            <a:r>
              <a:rPr lang="vi-VN" sz="2398" dirty="0">
                <a:solidFill>
                  <a:srgbClr val="FFFFFF"/>
                </a:solidFill>
                <a:latin typeface="Arial" panose="020B0604020202020204" pitchFamily="34" charset="0"/>
                <a:ea typeface="Poppins"/>
                <a:cs typeface="Arial" panose="020B0604020202020204" pitchFamily="34" charset="0"/>
                <a:sym typeface="Poppins"/>
              </a:rPr>
              <a:t> đặc trưng có thể không nhận diện được mã vỏ đã được biến đổi.</a:t>
            </a:r>
            <a:endParaRPr lang="en-US"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r>
              <a:rPr lang="vi-VN" sz="2398" dirty="0">
                <a:solidFill>
                  <a:srgbClr val="FFFFFF"/>
                </a:solidFill>
                <a:latin typeface="Arial" panose="020B0604020202020204" pitchFamily="34" charset="0"/>
                <a:ea typeface="Poppins"/>
                <a:cs typeface="Arial" panose="020B0604020202020204" pitchFamily="34" charset="0"/>
                <a:sym typeface="Poppins"/>
              </a:rPr>
              <a:t>Ví dụ: </a:t>
            </a:r>
            <a:r>
              <a:rPr lang="vi-VN" sz="2398" dirty="0" err="1">
                <a:solidFill>
                  <a:srgbClr val="FFFFFF"/>
                </a:solidFill>
                <a:latin typeface="Arial" panose="020B0604020202020204" pitchFamily="34" charset="0"/>
                <a:ea typeface="Poppins"/>
                <a:cs typeface="Arial" panose="020B0604020202020204" pitchFamily="34" charset="0"/>
                <a:sym typeface="Poppins"/>
              </a:rPr>
              <a:t>shellcode</a:t>
            </a:r>
            <a:r>
              <a:rPr lang="vi-VN" sz="2398" dirty="0">
                <a:solidFill>
                  <a:srgbClr val="FFFFFF"/>
                </a:solidFill>
                <a:latin typeface="Arial" panose="020B0604020202020204" pitchFamily="34" charset="0"/>
                <a:ea typeface="Poppins"/>
                <a:cs typeface="Arial" panose="020B0604020202020204" pitchFamily="34" charset="0"/>
                <a:sym typeface="Poppins"/>
              </a:rPr>
              <a:t> thực thi /bin/</a:t>
            </a:r>
            <a:r>
              <a:rPr lang="vi-VN" sz="2398" dirty="0" err="1">
                <a:solidFill>
                  <a:srgbClr val="FFFFFF"/>
                </a:solidFill>
                <a:latin typeface="Arial" panose="020B0604020202020204" pitchFamily="34" charset="0"/>
                <a:ea typeface="Poppins"/>
                <a:cs typeface="Arial" panose="020B0604020202020204" pitchFamily="34" charset="0"/>
                <a:sym typeface="Poppins"/>
              </a:rPr>
              <a:t>sh</a:t>
            </a:r>
            <a:r>
              <a:rPr lang="vi-VN" sz="2398" dirty="0">
                <a:solidFill>
                  <a:srgbClr val="FFFFFF"/>
                </a:solidFill>
                <a:latin typeface="Arial" panose="020B0604020202020204" pitchFamily="34" charset="0"/>
                <a:ea typeface="Poppins"/>
                <a:cs typeface="Arial" panose="020B0604020202020204" pitchFamily="34" charset="0"/>
                <a:sym typeface="Poppins"/>
              </a:rPr>
              <a:t> và </a:t>
            </a:r>
            <a:r>
              <a:rPr lang="vi-VN" sz="2398" dirty="0" err="1">
                <a:solidFill>
                  <a:srgbClr val="FFFFFF"/>
                </a:solidFill>
                <a:latin typeface="Arial" panose="020B0604020202020204" pitchFamily="34" charset="0"/>
                <a:ea typeface="Poppins"/>
                <a:cs typeface="Arial" panose="020B0604020202020204" pitchFamily="34" charset="0"/>
                <a:sym typeface="Poppins"/>
              </a:rPr>
              <a:t>setuid</a:t>
            </a:r>
            <a:r>
              <a:rPr lang="vi-VN" sz="2398" dirty="0">
                <a:solidFill>
                  <a:srgbClr val="FFFFFF"/>
                </a:solidFill>
                <a:latin typeface="Arial" panose="020B0604020202020204" pitchFamily="34" charset="0"/>
                <a:ea typeface="Poppins"/>
                <a:cs typeface="Arial" panose="020B0604020202020204" pitchFamily="34" charset="0"/>
                <a:sym typeface="Poppins"/>
              </a:rPr>
              <a:t> về 0 với mục đích tạo </a:t>
            </a:r>
            <a:r>
              <a:rPr lang="vi-VN" sz="2398" dirty="0" err="1">
                <a:solidFill>
                  <a:srgbClr val="FFFFFF"/>
                </a:solidFill>
                <a:latin typeface="Arial" panose="020B0604020202020204" pitchFamily="34" charset="0"/>
                <a:ea typeface="Poppins"/>
                <a:cs typeface="Arial" panose="020B0604020202020204" pitchFamily="34" charset="0"/>
                <a:sym typeface="Poppins"/>
              </a:rPr>
              <a:t>root</a:t>
            </a:r>
            <a:r>
              <a:rPr lang="vi-VN" sz="2398" dirty="0">
                <a:solidFill>
                  <a:srgbClr val="FFFFFF"/>
                </a:solidFill>
                <a:latin typeface="Arial" panose="020B0604020202020204" pitchFamily="34" charset="0"/>
                <a:ea typeface="Poppins"/>
                <a:cs typeface="Arial" panose="020B0604020202020204" pitchFamily="34" charset="0"/>
                <a:sym typeface="Poppins"/>
              </a:rPr>
              <a:t> </a:t>
            </a:r>
            <a:r>
              <a:rPr lang="vi-VN" sz="2398" dirty="0" err="1">
                <a:solidFill>
                  <a:srgbClr val="FFFFFF"/>
                </a:solidFill>
                <a:latin typeface="Arial" panose="020B0604020202020204" pitchFamily="34" charset="0"/>
                <a:ea typeface="Poppins"/>
                <a:cs typeface="Arial" panose="020B0604020202020204" pitchFamily="34" charset="0"/>
                <a:sym typeface="Poppins"/>
              </a:rPr>
              <a:t>shell</a:t>
            </a:r>
            <a:r>
              <a:rPr lang="vi-VN" sz="2398" dirty="0">
                <a:solidFill>
                  <a:srgbClr val="FFFFFF"/>
                </a:solidFill>
                <a:latin typeface="Arial" panose="020B0604020202020204" pitchFamily="34" charset="0"/>
                <a:ea typeface="Poppins"/>
                <a:cs typeface="Arial" panose="020B0604020202020204" pitchFamily="34" charset="0"/>
                <a:sym typeface="Poppins"/>
              </a:rPr>
              <a:t> với dạng </a:t>
            </a:r>
            <a:r>
              <a:rPr lang="vi-VN" sz="2398" dirty="0" err="1">
                <a:solidFill>
                  <a:srgbClr val="FFFFFF"/>
                </a:solidFill>
                <a:latin typeface="Arial" panose="020B0604020202020204" pitchFamily="34" charset="0"/>
                <a:ea typeface="Poppins"/>
                <a:cs typeface="Arial" panose="020B0604020202020204" pitchFamily="34" charset="0"/>
                <a:sym typeface="Poppins"/>
              </a:rPr>
              <a:t>byte</a:t>
            </a:r>
            <a:r>
              <a:rPr lang="vi-VN" sz="2398" dirty="0">
                <a:solidFill>
                  <a:srgbClr val="FFFFFF"/>
                </a:solidFill>
                <a:latin typeface="Arial" panose="020B0604020202020204" pitchFamily="34" charset="0"/>
                <a:ea typeface="Poppins"/>
                <a:cs typeface="Arial" panose="020B0604020202020204" pitchFamily="34" charset="0"/>
                <a:sym typeface="Poppins"/>
              </a:rPr>
              <a:t> </a:t>
            </a:r>
            <a:r>
              <a:rPr lang="vi-VN" sz="2398" dirty="0" err="1">
                <a:solidFill>
                  <a:srgbClr val="FFFFFF"/>
                </a:solidFill>
                <a:latin typeface="Arial" panose="020B0604020202020204" pitchFamily="34" charset="0"/>
                <a:ea typeface="Poppins"/>
                <a:cs typeface="Arial" panose="020B0604020202020204" pitchFamily="34" charset="0"/>
                <a:sym typeface="Poppins"/>
              </a:rPr>
              <a:t>hexadecimal</a:t>
            </a:r>
            <a:r>
              <a:rPr lang="vi-VN" sz="2398" dirty="0">
                <a:solidFill>
                  <a:srgbClr val="FFFFFF"/>
                </a:solidFill>
                <a:latin typeface="Arial" panose="020B0604020202020204" pitchFamily="34" charset="0"/>
                <a:ea typeface="Poppins"/>
                <a:cs typeface="Arial" panose="020B0604020202020204" pitchFamily="34" charset="0"/>
                <a:sym typeface="Poppins"/>
              </a:rPr>
              <a:t>:</a:t>
            </a:r>
          </a:p>
          <a:p>
            <a:pPr marL="0" lvl="0" indent="0" algn="l"/>
            <a:r>
              <a:rPr lang="vi-VN" sz="2398" dirty="0">
                <a:solidFill>
                  <a:srgbClr val="FFFFFF"/>
                </a:solidFill>
                <a:latin typeface="Arial" panose="020B0604020202020204" pitchFamily="34" charset="0"/>
                <a:ea typeface="Poppins"/>
                <a:cs typeface="Arial" panose="020B0604020202020204" pitchFamily="34" charset="0"/>
                <a:sym typeface="Poppins"/>
              </a:rPr>
              <a:t>"\x31\xc0\x31\</a:t>
            </a:r>
            <a:r>
              <a:rPr lang="vi-VN" sz="2398" dirty="0" err="1">
                <a:solidFill>
                  <a:srgbClr val="FFFFFF"/>
                </a:solidFill>
                <a:latin typeface="Arial" panose="020B0604020202020204" pitchFamily="34" charset="0"/>
                <a:ea typeface="Poppins"/>
                <a:cs typeface="Arial" panose="020B0604020202020204" pitchFamily="34" charset="0"/>
                <a:sym typeface="Poppins"/>
              </a:rPr>
              <a:t>xdb</a:t>
            </a:r>
            <a:r>
              <a:rPr lang="vi-VN" sz="2398" dirty="0">
                <a:solidFill>
                  <a:srgbClr val="FFFFFF"/>
                </a:solidFill>
                <a:latin typeface="Arial" panose="020B0604020202020204" pitchFamily="34" charset="0"/>
                <a:ea typeface="Poppins"/>
                <a:cs typeface="Arial" panose="020B0604020202020204" pitchFamily="34" charset="0"/>
                <a:sym typeface="Poppins"/>
              </a:rPr>
              <a:t>\x31\xc9\x31\xd2\xb0\xa4\</a:t>
            </a:r>
            <a:r>
              <a:rPr lang="vi-VN" sz="2398" dirty="0" err="1">
                <a:solidFill>
                  <a:srgbClr val="FFFFFF"/>
                </a:solidFill>
                <a:latin typeface="Arial" panose="020B0604020202020204" pitchFamily="34" charset="0"/>
                <a:ea typeface="Poppins"/>
                <a:cs typeface="Arial" panose="020B0604020202020204" pitchFamily="34" charset="0"/>
                <a:sym typeface="Poppins"/>
              </a:rPr>
              <a:t>xcd</a:t>
            </a:r>
            <a:r>
              <a:rPr lang="vi-VN" sz="2398" dirty="0">
                <a:solidFill>
                  <a:srgbClr val="FFFFFF"/>
                </a:solidFill>
                <a:latin typeface="Arial" panose="020B0604020202020204" pitchFamily="34" charset="0"/>
                <a:ea typeface="Poppins"/>
                <a:cs typeface="Arial" panose="020B0604020202020204" pitchFamily="34" charset="0"/>
                <a:sym typeface="Poppins"/>
              </a:rPr>
              <a:t>\x80\x31\xc0\xb0\x0b\x51\x68\x2f\x2f\x73\x68\x68\x2f\x62\x69\x6e\x89\xe3\x51\x89\xe2\x53\x89\xe1\</a:t>
            </a:r>
            <a:r>
              <a:rPr lang="vi-VN" sz="2398" dirty="0" err="1">
                <a:solidFill>
                  <a:srgbClr val="FFFFFF"/>
                </a:solidFill>
                <a:latin typeface="Arial" panose="020B0604020202020204" pitchFamily="34" charset="0"/>
                <a:ea typeface="Poppins"/>
                <a:cs typeface="Arial" panose="020B0604020202020204" pitchFamily="34" charset="0"/>
                <a:sym typeface="Poppins"/>
              </a:rPr>
              <a:t>xcd</a:t>
            </a:r>
            <a:r>
              <a:rPr lang="vi-VN" sz="2398" dirty="0">
                <a:solidFill>
                  <a:srgbClr val="FFFFFF"/>
                </a:solidFill>
                <a:latin typeface="Arial" panose="020B0604020202020204" pitchFamily="34" charset="0"/>
                <a:ea typeface="Poppins"/>
                <a:cs typeface="Arial" panose="020B0604020202020204" pitchFamily="34" charset="0"/>
                <a:sym typeface="Poppins"/>
              </a:rPr>
              <a:t>\x80“</a:t>
            </a:r>
          </a:p>
          <a:p>
            <a:pPr marL="0" lvl="0" indent="0" algn="l"/>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r>
              <a:rPr lang="vi-VN" sz="2398" dirty="0" err="1">
                <a:solidFill>
                  <a:srgbClr val="FFFFFF"/>
                </a:solidFill>
                <a:latin typeface="Arial" panose="020B0604020202020204" pitchFamily="34" charset="0"/>
                <a:ea typeface="Poppins"/>
                <a:cs typeface="Arial" panose="020B0604020202020204" pitchFamily="34" charset="0"/>
                <a:sym typeface="Poppins"/>
              </a:rPr>
              <a:t>Shellcode</a:t>
            </a:r>
            <a:r>
              <a:rPr lang="vi-VN" sz="2398" dirty="0">
                <a:solidFill>
                  <a:srgbClr val="FFFFFF"/>
                </a:solidFill>
                <a:latin typeface="Arial" panose="020B0604020202020204" pitchFamily="34" charset="0"/>
                <a:ea typeface="Poppins"/>
                <a:cs typeface="Arial" panose="020B0604020202020204" pitchFamily="34" charset="0"/>
                <a:sym typeface="Poppins"/>
              </a:rPr>
              <a:t> đã biến đổi sang dạng ASCII:</a:t>
            </a:r>
          </a:p>
          <a:p>
            <a:pPr marL="0" lvl="0" indent="0" algn="l"/>
            <a:r>
              <a:rPr lang="vi-VN" sz="2398" dirty="0">
                <a:solidFill>
                  <a:srgbClr val="FFFFFF"/>
                </a:solidFill>
                <a:latin typeface="Arial" panose="020B0604020202020204" pitchFamily="34" charset="0"/>
                <a:ea typeface="Poppins"/>
                <a:cs typeface="Arial" panose="020B0604020202020204" pitchFamily="34" charset="0"/>
                <a:sym typeface="Poppins"/>
              </a:rPr>
              <a:t>“TX-KKKK-KKKK-</a:t>
            </a:r>
            <a:r>
              <a:rPr lang="vi-VN" sz="2398" dirty="0" err="1">
                <a:solidFill>
                  <a:srgbClr val="FFFFFF"/>
                </a:solidFill>
                <a:latin typeface="Arial" panose="020B0604020202020204" pitchFamily="34" charset="0"/>
                <a:ea typeface="Poppins"/>
                <a:cs typeface="Arial" panose="020B0604020202020204" pitchFamily="34" charset="0"/>
                <a:sym typeface="Poppins"/>
              </a:rPr>
              <a:t>xjiiP</a:t>
            </a:r>
            <a:r>
              <a:rPr lang="vi-VN" sz="2398" dirty="0">
                <a:solidFill>
                  <a:srgbClr val="FFFFFF"/>
                </a:solidFill>
                <a:latin typeface="Arial" panose="020B0604020202020204" pitchFamily="34" charset="0"/>
                <a:ea typeface="Poppins"/>
                <a:cs typeface="Arial" panose="020B0604020202020204" pitchFamily="34" charset="0"/>
                <a:sym typeface="Poppins"/>
              </a:rPr>
              <a:t>\%0000%AAAA-9%%%-GJJJP-hhNh-th3%-Q6-5P-yyyZ-yZy6-L6---2-8-P-7KKd-%</a:t>
            </a:r>
            <a:r>
              <a:rPr lang="vi-VN" sz="2398" dirty="0" err="1">
                <a:solidFill>
                  <a:srgbClr val="FFFFFF"/>
                </a:solidFill>
                <a:latin typeface="Arial" panose="020B0604020202020204" pitchFamily="34" charset="0"/>
                <a:ea typeface="Poppins"/>
                <a:cs typeface="Arial" panose="020B0604020202020204" pitchFamily="34" charset="0"/>
                <a:sym typeface="Poppins"/>
              </a:rPr>
              <a:t>Kdz</a:t>
            </a:r>
            <a:r>
              <a:rPr lang="vi-VN" sz="2398" dirty="0">
                <a:solidFill>
                  <a:srgbClr val="FFFFFF"/>
                </a:solidFill>
                <a:latin typeface="Arial" panose="020B0604020202020204" pitchFamily="34" charset="0"/>
                <a:ea typeface="Poppins"/>
                <a:cs typeface="Arial" panose="020B0604020202020204" pitchFamily="34" charset="0"/>
                <a:sym typeface="Poppins"/>
              </a:rPr>
              <a:t>-%RkzP-xxxx-GGGx-0AFiP-OOOO-jOwO-iaraP-NN%N-a%%a-q44tP-%SS0-%SL5-7uC%P-FkFF-9pUhP-XXXX-XXXX-PXOFP-AAAj-0w2j-0w-vPPPPPPPPPP”</a:t>
            </a:r>
          </a:p>
        </p:txBody>
      </p:sp>
      <p:sp>
        <p:nvSpPr>
          <p:cNvPr id="11" name="Freeform 11">
            <a:extLst>
              <a:ext uri="{FF2B5EF4-FFF2-40B4-BE49-F238E27FC236}">
                <a16:creationId xmlns:a16="http://schemas.microsoft.com/office/drawing/2014/main" id="{A8903EA7-81CE-635D-07D9-44D785446158}"/>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CF9085C3-135C-EEFA-EB15-4FAC7571C807}"/>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E4C2C97D-5082-20D5-2878-F35A53D6AA00}"/>
              </a:ext>
            </a:extLst>
          </p:cNvPr>
          <p:cNvSpPr txBox="1"/>
          <p:nvPr/>
        </p:nvSpPr>
        <p:spPr>
          <a:xfrm>
            <a:off x="1048753" y="2509045"/>
            <a:ext cx="8572500" cy="1010148"/>
          </a:xfrm>
          <a:prstGeom prst="rect">
            <a:avLst/>
          </a:prstGeom>
        </p:spPr>
        <p:txBody>
          <a:bodyPr wrap="square" lIns="0" tIns="0" rIns="0" bIns="0" rtlCol="0" anchor="t">
            <a:spAutoFit/>
          </a:bodyPr>
          <a:lstStyle/>
          <a:p>
            <a:pPr marL="0" lvl="0" indent="0" algn="l">
              <a:lnSpc>
                <a:spcPts val="8474"/>
              </a:lnSpc>
            </a:pPr>
            <a:r>
              <a:rPr lang="en-US" sz="6600" spc="-345">
                <a:solidFill>
                  <a:srgbClr val="FFFFFF"/>
                </a:solidFill>
                <a:latin typeface="Arial" panose="020B0604020202020204" pitchFamily="34" charset="0"/>
                <a:ea typeface="Times New Roman"/>
                <a:cs typeface="Arial" panose="020B0604020202020204" pitchFamily="34" charset="0"/>
                <a:sym typeface="Times New Roman"/>
              </a:rPr>
              <a:t>ASCII Shellcode</a:t>
            </a:r>
          </a:p>
        </p:txBody>
      </p:sp>
    </p:spTree>
    <p:extLst>
      <p:ext uri="{BB962C8B-B14F-4D97-AF65-F5344CB8AC3E}">
        <p14:creationId xmlns:p14="http://schemas.microsoft.com/office/powerpoint/2010/main" val="1721082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EC615-CBF5-B2E1-2C45-CBC7A081AD6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F419A92-CD6F-8C89-FDA6-DBDA47E484A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85982B2D-F5B9-50CB-739F-F22E88407CB9}"/>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C67BBB32-8922-25C4-AFA3-CA41A62EDBEA}"/>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7586FFA1-2DED-5966-C512-20DECE54846F}"/>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5240B257-92F3-9821-4080-57EE8719FC13}"/>
              </a:ext>
            </a:extLst>
          </p:cNvPr>
          <p:cNvSpPr txBox="1"/>
          <p:nvPr/>
        </p:nvSpPr>
        <p:spPr>
          <a:xfrm>
            <a:off x="1028701" y="4017569"/>
            <a:ext cx="7886700" cy="3695948"/>
          </a:xfrm>
          <a:prstGeom prst="rect">
            <a:avLst/>
          </a:prstGeom>
        </p:spPr>
        <p:txBody>
          <a:bodyPr wrap="square" lIns="0" tIns="0" rIns="0" bIns="0" rtlCol="0" anchor="t">
            <a:spAutoFit/>
          </a:bodyPr>
          <a:lstStyle/>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Cơ chế: Khai thác sự khác biệt trong cách phân tích giao thức ứng dụng như HTTP, DNS hoặc SMB: cách xử lý URL mã hóa, </a:t>
            </a:r>
            <a:r>
              <a:rPr lang="vi-VN" sz="2398" dirty="0" err="1">
                <a:solidFill>
                  <a:srgbClr val="FFFFFF"/>
                </a:solidFill>
                <a:latin typeface="Arial" panose="020B0604020202020204" pitchFamily="34" charset="0"/>
                <a:ea typeface="Poppins"/>
                <a:cs typeface="Arial" panose="020B0604020202020204" pitchFamily="34" charset="0"/>
                <a:sym typeface="Poppins"/>
              </a:rPr>
              <a:t>header</a:t>
            </a:r>
            <a:r>
              <a:rPr lang="vi-VN" sz="2398" dirty="0">
                <a:solidFill>
                  <a:srgbClr val="FFFFFF"/>
                </a:solidFill>
                <a:latin typeface="Arial" panose="020B0604020202020204" pitchFamily="34" charset="0"/>
                <a:ea typeface="Poppins"/>
                <a:cs typeface="Arial" panose="020B0604020202020204" pitchFamily="34" charset="0"/>
                <a:sym typeface="Poppins"/>
              </a:rPr>
              <a:t> trùng lặp hoặc dữ liệu chia đoạn.</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Mục đích: Kiểm thử khả năng phân tích ngữ nghĩa giao thức và chuẩn hóa dữ liệu của IDS/IPS.</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Ảnh hưởng: Nếu IDS diễn giải yêu cầu khác với máy chủ ứng dụng, các hoạt động độc hại có thể bị bỏ sót.</a:t>
            </a:r>
          </a:p>
          <a:p>
            <a:pPr marL="0" lvl="0" indent="0" algn="l">
              <a:lnSpc>
                <a:spcPts val="2901"/>
              </a:lnSpc>
            </a:pPr>
            <a:endParaRPr lang="en-US" sz="2398" dirty="0">
              <a:solidFill>
                <a:srgbClr val="FFFFFF"/>
              </a:solidFill>
              <a:latin typeface="Arial" panose="020B0604020202020204" pitchFamily="34" charset="0"/>
              <a:ea typeface="Poppins"/>
              <a:cs typeface="Arial" panose="020B0604020202020204" pitchFamily="34" charset="0"/>
              <a:sym typeface="Poppins"/>
            </a:endParaRPr>
          </a:p>
        </p:txBody>
      </p:sp>
      <p:sp>
        <p:nvSpPr>
          <p:cNvPr id="11" name="Freeform 11">
            <a:extLst>
              <a:ext uri="{FF2B5EF4-FFF2-40B4-BE49-F238E27FC236}">
                <a16:creationId xmlns:a16="http://schemas.microsoft.com/office/drawing/2014/main" id="{0EEBF845-37A8-53F5-CD3C-8719061515FC}"/>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B45C3907-99A8-437C-2DD2-32AAF459C649}"/>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11B34EA0-2C65-BED7-88B3-09393C70A898}"/>
              </a:ext>
            </a:extLst>
          </p:cNvPr>
          <p:cNvSpPr txBox="1"/>
          <p:nvPr/>
        </p:nvSpPr>
        <p:spPr>
          <a:xfrm>
            <a:off x="1048753" y="2509045"/>
            <a:ext cx="8572500" cy="1010148"/>
          </a:xfrm>
          <a:prstGeom prst="rect">
            <a:avLst/>
          </a:prstGeom>
        </p:spPr>
        <p:txBody>
          <a:bodyPr wrap="square" lIns="0" tIns="0" rIns="0" bIns="0" rtlCol="0" anchor="t">
            <a:spAutoFit/>
          </a:bodyPr>
          <a:lstStyle/>
          <a:p>
            <a:pPr marL="0" lvl="0" indent="0" algn="l">
              <a:lnSpc>
                <a:spcPts val="8474"/>
              </a:lnSpc>
            </a:pP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Tấn</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công</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lớp</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ứng</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dụng</a:t>
            </a:r>
            <a:endParaRPr lang="en-US" sz="6600" spc="-345" dirty="0">
              <a:solidFill>
                <a:srgbClr val="FFFFFF"/>
              </a:solidFill>
              <a:latin typeface="Arial" panose="020B0604020202020204" pitchFamily="34" charset="0"/>
              <a:ea typeface="Times New Roman"/>
              <a:cs typeface="Arial" panose="020B0604020202020204" pitchFamily="34" charset="0"/>
              <a:sym typeface="Times New Roman"/>
            </a:endParaRPr>
          </a:p>
        </p:txBody>
      </p:sp>
      <p:pic>
        <p:nvPicPr>
          <p:cNvPr id="6" name="Hình ảnh 5" descr="Directory Traversal – Burp Suite | Incredigeek">
            <a:extLst>
              <a:ext uri="{FF2B5EF4-FFF2-40B4-BE49-F238E27FC236}">
                <a16:creationId xmlns:a16="http://schemas.microsoft.com/office/drawing/2014/main" id="{64837C03-298F-FA7C-96C2-959647862E11}"/>
              </a:ext>
            </a:extLst>
          </p:cNvPr>
          <p:cNvPicPr>
            <a:picLocks noChangeAspect="1"/>
          </p:cNvPicPr>
          <p:nvPr/>
        </p:nvPicPr>
        <p:blipFill>
          <a:blip r:embed="rId5"/>
          <a:stretch>
            <a:fillRect/>
          </a:stretch>
        </p:blipFill>
        <p:spPr>
          <a:xfrm>
            <a:off x="9372601" y="4001078"/>
            <a:ext cx="7886698" cy="5729040"/>
          </a:xfrm>
          <a:prstGeom prst="rect">
            <a:avLst/>
          </a:prstGeom>
        </p:spPr>
      </p:pic>
    </p:spTree>
    <p:extLst>
      <p:ext uri="{BB962C8B-B14F-4D97-AF65-F5344CB8AC3E}">
        <p14:creationId xmlns:p14="http://schemas.microsoft.com/office/powerpoint/2010/main" val="1703935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1DFBC-EB84-DA6B-2413-BA300DD2651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A11476B-529F-49D3-9F67-A7C1C195E80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83552A1B-33E7-884A-9BE2-FD4EE23BFE9F}"/>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680FF4F8-BE05-074C-59F0-44EC1B98012C}"/>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07C3A8CC-6FA3-F303-B6CA-B85D879A0425}"/>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6D25CDB0-CF56-2449-D411-88F8CE6A5CF1}"/>
              </a:ext>
            </a:extLst>
          </p:cNvPr>
          <p:cNvSpPr txBox="1"/>
          <p:nvPr/>
        </p:nvSpPr>
        <p:spPr>
          <a:xfrm>
            <a:off x="1024151" y="3991516"/>
            <a:ext cx="16210547" cy="5555432"/>
          </a:xfrm>
          <a:prstGeom prst="rect">
            <a:avLst/>
          </a:prstGeom>
        </p:spPr>
        <p:txBody>
          <a:bodyPr wrap="square" lIns="0" tIns="0" rIns="0" bIns="0" rtlCol="0" anchor="t">
            <a:spAutoFit/>
          </a:bodyPr>
          <a:lstStyle/>
          <a:p>
            <a:pPr marL="457200" lvl="0" indent="-457200" algn="l">
              <a:lnSpc>
                <a:spcPts val="2901"/>
              </a:lnSpc>
              <a:buAutoNum type="arabicPeriod"/>
            </a:pPr>
            <a:r>
              <a:rPr lang="vi-VN" sz="2398" dirty="0">
                <a:solidFill>
                  <a:srgbClr val="FFFFFF"/>
                </a:solidFill>
                <a:latin typeface="Arial" panose="020B0604020202020204" pitchFamily="34" charset="0"/>
                <a:ea typeface="Poppins"/>
                <a:cs typeface="Arial" panose="020B0604020202020204" pitchFamily="34" charset="0"/>
                <a:sym typeface="Poppins"/>
              </a:rPr>
              <a:t>SYN trước khi kết nối</a:t>
            </a:r>
          </a:p>
          <a:p>
            <a:pPr marL="457200" lvl="0" indent="-457200" algn="l">
              <a:lnSpc>
                <a:spcPts val="2901"/>
              </a:lnSpc>
              <a:buAutoNum type="arabicPeriod"/>
            </a:pPr>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en-US" sz="2398" dirty="0" err="1">
                <a:solidFill>
                  <a:srgbClr val="FFFFFF"/>
                </a:solidFill>
                <a:latin typeface="Arial" panose="020B0604020202020204" pitchFamily="34" charset="0"/>
                <a:ea typeface="Poppins"/>
                <a:cs typeface="Arial" panose="020B0604020202020204" pitchFamily="34" charset="0"/>
                <a:sym typeface="Poppins"/>
              </a:rPr>
              <a:t>Cơ</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chế</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vi-VN" sz="2398" dirty="0">
                <a:solidFill>
                  <a:srgbClr val="FFFFFF"/>
                </a:solidFill>
                <a:latin typeface="Arial" panose="020B0604020202020204" pitchFamily="34" charset="0"/>
                <a:ea typeface="Poppins"/>
                <a:cs typeface="Arial" panose="020B0604020202020204" pitchFamily="34" charset="0"/>
                <a:sym typeface="Poppins"/>
              </a:rPr>
              <a:t>Kẻ tấn công gửi gói SYN có tổng kiểm tra TCP hoặc số thứ tự không hợp lệ trước khi kết nối được thiết lập.</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en-US" sz="2398" dirty="0" err="1">
                <a:solidFill>
                  <a:srgbClr val="FFFFFF"/>
                </a:solidFill>
                <a:latin typeface="Arial" panose="020B0604020202020204" pitchFamily="34" charset="0"/>
                <a:ea typeface="Poppins"/>
                <a:cs typeface="Arial" panose="020B0604020202020204" pitchFamily="34" charset="0"/>
                <a:sym typeface="Poppins"/>
              </a:rPr>
              <a:t>Mục</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đích</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vi-VN" sz="2398" dirty="0">
                <a:solidFill>
                  <a:srgbClr val="FFFFFF"/>
                </a:solidFill>
                <a:latin typeface="Arial" panose="020B0604020202020204" pitchFamily="34" charset="0"/>
                <a:ea typeface="Poppins"/>
                <a:cs typeface="Arial" panose="020B0604020202020204" pitchFamily="34" charset="0"/>
                <a:sym typeface="Poppins"/>
              </a:rPr>
              <a:t>IDS có thể cập nhật sai số thứ tự, dẫn đến mất đồng bộ với luồng dữ liệu thực tế.</a:t>
            </a:r>
          </a:p>
          <a:p>
            <a:pPr marL="0" lvl="0" indent="0" algn="l">
              <a:lnSpc>
                <a:spcPts val="2901"/>
              </a:lnSpc>
            </a:pPr>
            <a:endParaRPr lang="en-US"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en-US" sz="2398" dirty="0" err="1">
                <a:solidFill>
                  <a:srgbClr val="FFFFFF"/>
                </a:solidFill>
                <a:latin typeface="Arial" panose="020B0604020202020204" pitchFamily="34" charset="0"/>
                <a:ea typeface="Poppins"/>
                <a:cs typeface="Arial" panose="020B0604020202020204" pitchFamily="34" charset="0"/>
                <a:sym typeface="Poppins"/>
              </a:rPr>
              <a:t>Ảnh</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hưởng</a:t>
            </a:r>
            <a:r>
              <a:rPr lang="vi-VN" sz="2398" dirty="0">
                <a:solidFill>
                  <a:srgbClr val="FFFFFF"/>
                </a:solidFill>
                <a:latin typeface="Arial" panose="020B0604020202020204" pitchFamily="34" charset="0"/>
                <a:ea typeface="Poppins"/>
                <a:cs typeface="Arial" panose="020B0604020202020204" pitchFamily="34" charset="0"/>
                <a:sym typeface="Poppins"/>
              </a:rPr>
              <a:t>: IDS có thể bỏ sót lưu lượng hợp lệ hoặc dữ liệu tấn công.</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vi-VN" sz="2398" dirty="0">
                <a:solidFill>
                  <a:srgbClr val="FFFFFF"/>
                </a:solidFill>
                <a:latin typeface="Arial" panose="020B0604020202020204" pitchFamily="34" charset="0"/>
                <a:ea typeface="Poppins"/>
                <a:cs typeface="Arial" panose="020B0604020202020204" pitchFamily="34" charset="0"/>
                <a:sym typeface="Poppins"/>
              </a:rPr>
              <a:t>2. SYN sau khi kết nối</a:t>
            </a:r>
          </a:p>
          <a:p>
            <a:pPr marL="0" lvl="0" indent="0" algn="l">
              <a:lnSpc>
                <a:spcPts val="2901"/>
              </a:lnSpc>
            </a:pPr>
            <a:endParaRPr lang="en-US"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en-US" sz="2398" dirty="0" err="1">
                <a:solidFill>
                  <a:srgbClr val="FFFFFF"/>
                </a:solidFill>
                <a:latin typeface="Arial" panose="020B0604020202020204" pitchFamily="34" charset="0"/>
                <a:ea typeface="Poppins"/>
                <a:cs typeface="Arial" panose="020B0604020202020204" pitchFamily="34" charset="0"/>
                <a:sym typeface="Poppins"/>
              </a:rPr>
              <a:t>Cơ</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chế</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vi-VN" sz="2398" dirty="0">
                <a:solidFill>
                  <a:srgbClr val="FFFFFF"/>
                </a:solidFill>
                <a:latin typeface="Arial" panose="020B0604020202020204" pitchFamily="34" charset="0"/>
                <a:ea typeface="Poppins"/>
                <a:cs typeface="Arial" panose="020B0604020202020204" pitchFamily="34" charset="0"/>
                <a:sym typeface="Poppins"/>
              </a:rPr>
              <a:t>Kẻ tấn công gửi gói SYN giả với một kết nối TCP đã thiết lập, sai số thứ tự khiến IDS hiểu sai trạng thái kết nối.</a:t>
            </a:r>
          </a:p>
          <a:p>
            <a:pPr marL="0" lvl="0" indent="0" algn="l">
              <a:lnSpc>
                <a:spcPts val="2901"/>
              </a:lnSpc>
            </a:pPr>
            <a:endParaRPr lang="en-US"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en-US" sz="2398" dirty="0" err="1">
                <a:solidFill>
                  <a:srgbClr val="FFFFFF"/>
                </a:solidFill>
                <a:latin typeface="Arial" panose="020B0604020202020204" pitchFamily="34" charset="0"/>
                <a:ea typeface="Poppins"/>
                <a:cs typeface="Arial" panose="020B0604020202020204" pitchFamily="34" charset="0"/>
                <a:sym typeface="Poppins"/>
              </a:rPr>
              <a:t>Mục</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đích</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vi-VN" sz="2398" dirty="0">
                <a:solidFill>
                  <a:srgbClr val="FFFFFF"/>
                </a:solidFill>
                <a:latin typeface="Arial" panose="020B0604020202020204" pitchFamily="34" charset="0"/>
                <a:ea typeface="Poppins"/>
                <a:cs typeface="Arial" panose="020B0604020202020204" pitchFamily="34" charset="0"/>
                <a:sym typeface="Poppins"/>
              </a:rPr>
              <a:t>Máy chủ bỏ qua gói SYN, nhưng IDS có thể đồng bộ lại theo số thứ tự giả.</a:t>
            </a:r>
          </a:p>
          <a:p>
            <a:pPr marL="0" lvl="0" indent="0" algn="l">
              <a:lnSpc>
                <a:spcPts val="2901"/>
              </a:lnSpc>
            </a:pPr>
            <a:endParaRPr lang="en-US"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lnSpc>
                <a:spcPts val="2901"/>
              </a:lnSpc>
            </a:pPr>
            <a:r>
              <a:rPr lang="en-US" sz="2398" dirty="0" err="1">
                <a:solidFill>
                  <a:srgbClr val="FFFFFF"/>
                </a:solidFill>
                <a:latin typeface="Arial" panose="020B0604020202020204" pitchFamily="34" charset="0"/>
                <a:ea typeface="Poppins"/>
                <a:cs typeface="Arial" panose="020B0604020202020204" pitchFamily="34" charset="0"/>
                <a:sym typeface="Poppins"/>
              </a:rPr>
              <a:t>Ảnh</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hưởng</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vi-VN" sz="2398" dirty="0">
                <a:solidFill>
                  <a:srgbClr val="FFFFFF"/>
                </a:solidFill>
                <a:latin typeface="Arial" panose="020B0604020202020204" pitchFamily="34" charset="0"/>
                <a:ea typeface="Poppins"/>
                <a:cs typeface="Arial" panose="020B0604020202020204" pitchFamily="34" charset="0"/>
                <a:sym typeface="Poppins"/>
              </a:rPr>
              <a:t>Kẻ tấn công có thể gửi gói RST để khiến IDS kết thúc trạng thái kết nối của nó.</a:t>
            </a:r>
          </a:p>
        </p:txBody>
      </p:sp>
      <p:sp>
        <p:nvSpPr>
          <p:cNvPr id="11" name="Freeform 11">
            <a:extLst>
              <a:ext uri="{FF2B5EF4-FFF2-40B4-BE49-F238E27FC236}">
                <a16:creationId xmlns:a16="http://schemas.microsoft.com/office/drawing/2014/main" id="{ACD0284C-3EAF-CFB5-D48C-4D61DEED1DD3}"/>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DA00C093-2B39-C5E5-5218-64A98D0A4704}"/>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D7B866CE-0251-2794-44A5-7404C9C3F265}"/>
              </a:ext>
            </a:extLst>
          </p:cNvPr>
          <p:cNvSpPr txBox="1"/>
          <p:nvPr/>
        </p:nvSpPr>
        <p:spPr>
          <a:xfrm>
            <a:off x="1048752" y="2509045"/>
            <a:ext cx="16210547" cy="1010148"/>
          </a:xfrm>
          <a:prstGeom prst="rect">
            <a:avLst/>
          </a:prstGeom>
        </p:spPr>
        <p:txBody>
          <a:bodyPr wrap="square" lIns="0" tIns="0" rIns="0" bIns="0" rtlCol="0" anchor="t">
            <a:spAutoFit/>
          </a:bodyPr>
          <a:lstStyle/>
          <a:p>
            <a:pPr marL="0" lvl="0" indent="0" algn="l">
              <a:lnSpc>
                <a:spcPts val="8474"/>
              </a:lnSpc>
            </a:pP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Huỷ</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đồng</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bộ</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(Desynchronization)</a:t>
            </a:r>
          </a:p>
        </p:txBody>
      </p:sp>
    </p:spTree>
    <p:extLst>
      <p:ext uri="{BB962C8B-B14F-4D97-AF65-F5344CB8AC3E}">
        <p14:creationId xmlns:p14="http://schemas.microsoft.com/office/powerpoint/2010/main" val="20325018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FB109-7A24-F634-E704-797895F31A3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88C142D-9947-89BA-4CDE-1D7927E3ED3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3BD3ED6E-CB24-89B4-1594-9A6C538BCC30}"/>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9B799E87-8F95-B232-180B-288BD9CDF7DE}"/>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543E30C6-AB4C-5891-92A9-135D14C814B8}"/>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698E7C7F-6450-EEC2-7C4A-ABE73692448C}"/>
              </a:ext>
            </a:extLst>
          </p:cNvPr>
          <p:cNvSpPr txBox="1"/>
          <p:nvPr/>
        </p:nvSpPr>
        <p:spPr>
          <a:xfrm>
            <a:off x="1028700" y="4256951"/>
            <a:ext cx="6819900" cy="2580258"/>
          </a:xfrm>
          <a:prstGeom prst="rect">
            <a:avLst/>
          </a:prstGeom>
        </p:spPr>
        <p:txBody>
          <a:bodyPr wrap="square" lIns="0" tIns="0" rIns="0" bIns="0" rtlCol="0" anchor="t">
            <a:spAutoFit/>
          </a:bodyPr>
          <a:lstStyle/>
          <a:p>
            <a:pPr marL="0" lvl="0" indent="0" algn="l"/>
            <a:r>
              <a:rPr lang="en-US" sz="2398" dirty="0" err="1">
                <a:solidFill>
                  <a:srgbClr val="FFFFFF"/>
                </a:solidFill>
                <a:latin typeface="Arial" panose="020B0604020202020204" pitchFamily="34" charset="0"/>
                <a:ea typeface="Poppins"/>
                <a:cs typeface="Arial" panose="020B0604020202020204" pitchFamily="34" charset="0"/>
                <a:sym typeface="Poppins"/>
              </a:rPr>
              <a:t>Mã</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hoá</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sử</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dụng</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DoH</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Dns</a:t>
            </a:r>
            <a:r>
              <a:rPr lang="en-US" sz="2398" dirty="0">
                <a:solidFill>
                  <a:srgbClr val="FFFFFF"/>
                </a:solidFill>
                <a:latin typeface="Arial" panose="020B0604020202020204" pitchFamily="34" charset="0"/>
                <a:ea typeface="Poppins"/>
                <a:cs typeface="Arial" panose="020B0604020202020204" pitchFamily="34" charset="0"/>
                <a:sym typeface="Poppins"/>
              </a:rPr>
              <a:t> Over HTTPS), TLS </a:t>
            </a:r>
            <a:r>
              <a:rPr lang="en-US" sz="2398" dirty="0" err="1">
                <a:solidFill>
                  <a:srgbClr val="FFFFFF"/>
                </a:solidFill>
                <a:latin typeface="Arial" panose="020B0604020202020204" pitchFamily="34" charset="0"/>
                <a:ea typeface="Poppins"/>
                <a:cs typeface="Arial" panose="020B0604020202020204" pitchFamily="34" charset="0"/>
                <a:sym typeface="Poppins"/>
              </a:rPr>
              <a:t>hoặc</a:t>
            </a:r>
            <a:r>
              <a:rPr lang="en-US" sz="2398" dirty="0">
                <a:solidFill>
                  <a:srgbClr val="FFFFFF"/>
                </a:solidFill>
                <a:latin typeface="Arial" panose="020B0604020202020204" pitchFamily="34" charset="0"/>
                <a:ea typeface="Poppins"/>
                <a:cs typeface="Arial" panose="020B0604020202020204" pitchFamily="34" charset="0"/>
                <a:sym typeface="Poppins"/>
              </a:rPr>
              <a:t> VPN </a:t>
            </a:r>
            <a:r>
              <a:rPr lang="vi-VN" sz="2398" dirty="0">
                <a:solidFill>
                  <a:srgbClr val="FFFFFF"/>
                </a:solidFill>
                <a:latin typeface="Arial" panose="020B0604020202020204" pitchFamily="34" charset="0"/>
                <a:ea typeface="Poppins"/>
                <a:cs typeface="Arial" panose="020B0604020202020204" pitchFamily="34" charset="0"/>
                <a:sym typeface="Poppins"/>
              </a:rPr>
              <a:t>để</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mã</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hoá</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lưu</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lượng</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độc</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hại</a:t>
            </a:r>
            <a:r>
              <a:rPr lang="en-US" sz="2398" dirty="0">
                <a:solidFill>
                  <a:srgbClr val="FFFFFF"/>
                </a:solidFill>
                <a:latin typeface="Arial" panose="020B0604020202020204" pitchFamily="34" charset="0"/>
                <a:ea typeface="Poppins"/>
                <a:cs typeface="Arial" panose="020B0604020202020204" pitchFamily="34" charset="0"/>
                <a:sym typeface="Poppins"/>
              </a:rPr>
              <a:t>. IDS </a:t>
            </a:r>
            <a:r>
              <a:rPr lang="en-US" sz="2398" dirty="0" err="1">
                <a:solidFill>
                  <a:srgbClr val="FFFFFF"/>
                </a:solidFill>
                <a:latin typeface="Arial" panose="020B0604020202020204" pitchFamily="34" charset="0"/>
                <a:ea typeface="Poppins"/>
                <a:cs typeface="Arial" panose="020B0604020202020204" pitchFamily="34" charset="0"/>
                <a:sym typeface="Poppins"/>
              </a:rPr>
              <a:t>không</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thể</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phân</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tích</a:t>
            </a:r>
            <a:r>
              <a:rPr lang="en-US" sz="2398" dirty="0">
                <a:solidFill>
                  <a:srgbClr val="FFFFFF"/>
                </a:solidFill>
                <a:latin typeface="Arial" panose="020B0604020202020204" pitchFamily="34" charset="0"/>
                <a:ea typeface="Poppins"/>
                <a:cs typeface="Arial" panose="020B0604020202020204" pitchFamily="34" charset="0"/>
                <a:sym typeface="Poppins"/>
              </a:rPr>
              <a:t> -&gt; </a:t>
            </a:r>
            <a:r>
              <a:rPr lang="en-US" sz="2398" dirty="0" err="1">
                <a:solidFill>
                  <a:srgbClr val="FFFFFF"/>
                </a:solidFill>
                <a:latin typeface="Arial" panose="020B0604020202020204" pitchFamily="34" charset="0"/>
                <a:ea typeface="Poppins"/>
                <a:cs typeface="Arial" panose="020B0604020202020204" pitchFamily="34" charset="0"/>
                <a:sym typeface="Poppins"/>
              </a:rPr>
              <a:t>bỏ</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sót</a:t>
            </a:r>
            <a:endParaRPr lang="en-US"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endParaRPr lang="en-US" sz="2398" dirty="0">
              <a:solidFill>
                <a:srgbClr val="FFFFFF"/>
              </a:solidFill>
              <a:latin typeface="Arial" panose="020B0604020202020204" pitchFamily="34" charset="0"/>
              <a:ea typeface="Poppins"/>
              <a:cs typeface="Arial" panose="020B0604020202020204" pitchFamily="34" charset="0"/>
              <a:sym typeface="Poppins"/>
            </a:endParaRPr>
          </a:p>
          <a:p>
            <a:pPr marL="0" lvl="0" indent="0" algn="l"/>
            <a:r>
              <a:rPr lang="vi-VN" sz="2398" dirty="0">
                <a:solidFill>
                  <a:srgbClr val="FFFFFF"/>
                </a:solidFill>
                <a:latin typeface="Arial" panose="020B0604020202020204" pitchFamily="34" charset="0"/>
                <a:ea typeface="Poppins"/>
                <a:cs typeface="Arial" panose="020B0604020202020204" pitchFamily="34" charset="0"/>
                <a:sym typeface="Poppins"/>
              </a:rPr>
              <a:t>Tràn ngập</a:t>
            </a:r>
            <a:r>
              <a:rPr lang="en-US" sz="2398" dirty="0">
                <a:solidFill>
                  <a:srgbClr val="FFFFFF"/>
                </a:solidFill>
                <a:latin typeface="Arial" panose="020B0604020202020204" pitchFamily="34" charset="0"/>
                <a:ea typeface="Poppins"/>
                <a:cs typeface="Arial" panose="020B0604020202020204" pitchFamily="34" charset="0"/>
                <a:sym typeface="Poppins"/>
              </a:rPr>
              <a:t> (Flooding): </a:t>
            </a:r>
            <a:r>
              <a:rPr lang="en-US" sz="2398" dirty="0" err="1">
                <a:solidFill>
                  <a:srgbClr val="FFFFFF"/>
                </a:solidFill>
                <a:latin typeface="Arial" panose="020B0604020202020204" pitchFamily="34" charset="0"/>
                <a:ea typeface="Poppins"/>
                <a:cs typeface="Arial" panose="020B0604020202020204" pitchFamily="34" charset="0"/>
                <a:sym typeface="Poppins"/>
              </a:rPr>
              <a:t>tạo</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lưu</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lượng</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giả</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làm</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cạn</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kiệt</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tài</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nguyên</a:t>
            </a:r>
            <a:r>
              <a:rPr lang="en-US" sz="2398" dirty="0">
                <a:solidFill>
                  <a:srgbClr val="FFFFFF"/>
                </a:solidFill>
                <a:latin typeface="Arial" panose="020B0604020202020204" pitchFamily="34" charset="0"/>
                <a:ea typeface="Poppins"/>
                <a:cs typeface="Arial" panose="020B0604020202020204" pitchFamily="34" charset="0"/>
                <a:sym typeface="Poppins"/>
              </a:rPr>
              <a:t> IDS -&gt; </a:t>
            </a:r>
            <a:r>
              <a:rPr lang="en-US" sz="2398" dirty="0" err="1">
                <a:solidFill>
                  <a:srgbClr val="FFFFFF"/>
                </a:solidFill>
                <a:latin typeface="Arial" panose="020B0604020202020204" pitchFamily="34" charset="0"/>
                <a:ea typeface="Poppins"/>
                <a:cs typeface="Arial" panose="020B0604020202020204" pitchFamily="34" charset="0"/>
                <a:sym typeface="Poppins"/>
              </a:rPr>
              <a:t>bỏ</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sót</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lưu</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lượng</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tấn</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công</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thực</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sự</a:t>
            </a:r>
            <a:endParaRPr lang="vi-VN" sz="2398" dirty="0">
              <a:solidFill>
                <a:srgbClr val="FFFFFF"/>
              </a:solidFill>
              <a:latin typeface="Arial" panose="020B0604020202020204" pitchFamily="34" charset="0"/>
              <a:ea typeface="Poppins"/>
              <a:cs typeface="Arial" panose="020B0604020202020204" pitchFamily="34" charset="0"/>
              <a:sym typeface="Poppins"/>
            </a:endParaRPr>
          </a:p>
        </p:txBody>
      </p:sp>
      <p:sp>
        <p:nvSpPr>
          <p:cNvPr id="11" name="Freeform 11">
            <a:extLst>
              <a:ext uri="{FF2B5EF4-FFF2-40B4-BE49-F238E27FC236}">
                <a16:creationId xmlns:a16="http://schemas.microsoft.com/office/drawing/2014/main" id="{7A08E47E-F53D-C711-488F-11DE0C1E0E80}"/>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8FF3985D-8E5D-3458-2D04-BEE043B85E24}"/>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D1DAB5D6-B80C-5697-3341-8B0BB79A3918}"/>
              </a:ext>
            </a:extLst>
          </p:cNvPr>
          <p:cNvSpPr txBox="1"/>
          <p:nvPr/>
        </p:nvSpPr>
        <p:spPr>
          <a:xfrm>
            <a:off x="1028700" y="2427514"/>
            <a:ext cx="9410700" cy="1010148"/>
          </a:xfrm>
          <a:prstGeom prst="rect">
            <a:avLst/>
          </a:prstGeom>
        </p:spPr>
        <p:txBody>
          <a:bodyPr wrap="square" lIns="0" tIns="0" rIns="0" bIns="0" rtlCol="0" anchor="t">
            <a:spAutoFit/>
          </a:bodyPr>
          <a:lstStyle/>
          <a:p>
            <a:pPr marL="0" lvl="0" indent="0" algn="l">
              <a:lnSpc>
                <a:spcPts val="8474"/>
              </a:lnSpc>
            </a:pP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Các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kỹ</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thuật</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né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tránh</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khác</a:t>
            </a:r>
            <a:endParaRPr lang="en-US" sz="6600" spc="-345" dirty="0">
              <a:solidFill>
                <a:srgbClr val="FFFFFF"/>
              </a:solidFill>
              <a:latin typeface="Arial" panose="020B0604020202020204" pitchFamily="34" charset="0"/>
              <a:ea typeface="Times New Roman"/>
              <a:cs typeface="Arial" panose="020B0604020202020204" pitchFamily="34" charset="0"/>
              <a:sym typeface="Times New Roman"/>
            </a:endParaRPr>
          </a:p>
        </p:txBody>
      </p:sp>
      <p:pic>
        <p:nvPicPr>
          <p:cNvPr id="6" name="Hình ảnh 5" descr="Wireshark&#10;screenshot showing DNS over TLS">
            <a:extLst>
              <a:ext uri="{FF2B5EF4-FFF2-40B4-BE49-F238E27FC236}">
                <a16:creationId xmlns:a16="http://schemas.microsoft.com/office/drawing/2014/main" id="{06450D58-F52B-BB85-10C7-4A3D30B03282}"/>
              </a:ext>
            </a:extLst>
          </p:cNvPr>
          <p:cNvPicPr>
            <a:picLocks noChangeAspect="1"/>
          </p:cNvPicPr>
          <p:nvPr/>
        </p:nvPicPr>
        <p:blipFill>
          <a:blip r:embed="rId5"/>
          <a:stretch>
            <a:fillRect/>
          </a:stretch>
        </p:blipFill>
        <p:spPr>
          <a:xfrm>
            <a:off x="8991600" y="3541224"/>
            <a:ext cx="8610600" cy="5564671"/>
          </a:xfrm>
          <a:prstGeom prst="rect">
            <a:avLst/>
          </a:prstGeom>
        </p:spPr>
      </p:pic>
    </p:spTree>
    <p:extLst>
      <p:ext uri="{BB962C8B-B14F-4D97-AF65-F5344CB8AC3E}">
        <p14:creationId xmlns:p14="http://schemas.microsoft.com/office/powerpoint/2010/main" val="29614901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64A6B-BB08-5180-2376-05167DBC81C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59591F5-2AFA-D86D-86DA-B9154D54136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TextBox 3">
            <a:extLst>
              <a:ext uri="{FF2B5EF4-FFF2-40B4-BE49-F238E27FC236}">
                <a16:creationId xmlns:a16="http://schemas.microsoft.com/office/drawing/2014/main" id="{81B4CB37-41A0-76E1-05E3-D7337BB1F69D}"/>
              </a:ext>
            </a:extLst>
          </p:cNvPr>
          <p:cNvSpPr txBox="1"/>
          <p:nvPr/>
        </p:nvSpPr>
        <p:spPr>
          <a:xfrm>
            <a:off x="1028700" y="2366924"/>
            <a:ext cx="16230600" cy="1102866"/>
          </a:xfrm>
          <a:prstGeom prst="rect">
            <a:avLst/>
          </a:prstGeom>
        </p:spPr>
        <p:txBody>
          <a:bodyPr wrap="square" lIns="0" tIns="0" rIns="0" bIns="0" rtlCol="0" anchor="t">
            <a:spAutoFit/>
          </a:bodyPr>
          <a:lstStyle/>
          <a:p>
            <a:pPr marL="0" lvl="0" indent="0">
              <a:lnSpc>
                <a:spcPts val="8568"/>
              </a:lnSpc>
            </a:pPr>
            <a:r>
              <a:rPr lang="en-US" sz="7200" spc="-359" dirty="0">
                <a:solidFill>
                  <a:srgbClr val="FFFFFF"/>
                </a:solidFill>
                <a:latin typeface="Arial" panose="020B0604020202020204" pitchFamily="34" charset="0"/>
                <a:ea typeface="Times New Roman"/>
                <a:cs typeface="Arial" panose="020B0604020202020204" pitchFamily="34" charset="0"/>
                <a:sym typeface="Times New Roman"/>
              </a:rPr>
              <a:t>CÁC KỸ THUẬT BYPASS TƯỜNG LỬA</a:t>
            </a:r>
          </a:p>
        </p:txBody>
      </p:sp>
      <p:sp>
        <p:nvSpPr>
          <p:cNvPr id="4" name="TextBox 4">
            <a:extLst>
              <a:ext uri="{FF2B5EF4-FFF2-40B4-BE49-F238E27FC236}">
                <a16:creationId xmlns:a16="http://schemas.microsoft.com/office/drawing/2014/main" id="{57062F04-4910-6F37-E5D4-0E38A84BEBA0}"/>
              </a:ext>
            </a:extLst>
          </p:cNvPr>
          <p:cNvSpPr txBox="1"/>
          <p:nvPr/>
        </p:nvSpPr>
        <p:spPr>
          <a:xfrm>
            <a:off x="1232526" y="4550290"/>
            <a:ext cx="14236074" cy="1723549"/>
          </a:xfrm>
          <a:prstGeom prst="rect">
            <a:avLst/>
          </a:prstGeom>
        </p:spPr>
        <p:txBody>
          <a:bodyPr wrap="square" lIns="0" tIns="0" rIns="0" bIns="0" rtlCol="0" anchor="t">
            <a:spAutoFit/>
          </a:bodyPr>
          <a:lstStyle/>
          <a:p>
            <a:pPr marL="0" lvl="0" indent="0"/>
            <a:r>
              <a:rPr lang="en-US" sz="2800" dirty="0" err="1">
                <a:solidFill>
                  <a:srgbClr val="FFFFFF"/>
                </a:solidFill>
                <a:latin typeface="Arial" panose="020B0604020202020204" pitchFamily="34" charset="0"/>
                <a:ea typeface="Poppins"/>
                <a:cs typeface="Arial" panose="020B0604020202020204" pitchFamily="34" charset="0"/>
                <a:sym typeface="Poppins"/>
              </a:rPr>
              <a:t>Tường</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lửa</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hoạt</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động</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theo</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một</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bộ</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quy</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tắc</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được</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xác</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định</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từ</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trước</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Kẻ</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tấn</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công</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có</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thể</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bỏ</a:t>
            </a:r>
            <a:r>
              <a:rPr lang="en-US" sz="2800" dirty="0">
                <a:solidFill>
                  <a:srgbClr val="FFFFFF"/>
                </a:solidFill>
                <a:latin typeface="Arial" panose="020B0604020202020204" pitchFamily="34" charset="0"/>
                <a:ea typeface="Poppins"/>
                <a:cs typeface="Arial" panose="020B0604020202020204" pitchFamily="34" charset="0"/>
                <a:sym typeface="Poppins"/>
              </a:rPr>
              <a:t> qua </a:t>
            </a:r>
            <a:r>
              <a:rPr lang="en-US" sz="2800" dirty="0" err="1">
                <a:solidFill>
                  <a:srgbClr val="FFFFFF"/>
                </a:solidFill>
                <a:latin typeface="Arial" panose="020B0604020202020204" pitchFamily="34" charset="0"/>
                <a:ea typeface="Poppins"/>
                <a:cs typeface="Arial" panose="020B0604020202020204" pitchFamily="34" charset="0"/>
                <a:sym typeface="Poppins"/>
              </a:rPr>
              <a:t>tường</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lửa</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bằng</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cách</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sử</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dụng</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nhiều</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ký</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thuật</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bỏ</a:t>
            </a:r>
            <a:r>
              <a:rPr lang="en-US" sz="2800" dirty="0">
                <a:solidFill>
                  <a:srgbClr val="FFFFFF"/>
                </a:solidFill>
                <a:latin typeface="Arial" panose="020B0604020202020204" pitchFamily="34" charset="0"/>
                <a:ea typeface="Poppins"/>
                <a:cs typeface="Arial" panose="020B0604020202020204" pitchFamily="34" charset="0"/>
                <a:sym typeface="Poppins"/>
              </a:rPr>
              <a:t> qua </a:t>
            </a:r>
            <a:r>
              <a:rPr lang="en-US" sz="2800" dirty="0" err="1">
                <a:solidFill>
                  <a:srgbClr val="FFFFFF"/>
                </a:solidFill>
                <a:latin typeface="Arial" panose="020B0604020202020204" pitchFamily="34" charset="0"/>
                <a:ea typeface="Poppins"/>
                <a:cs typeface="Arial" panose="020B0604020202020204" pitchFamily="34" charset="0"/>
                <a:sym typeface="Poppins"/>
              </a:rPr>
              <a:t>tường</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lửa</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khác</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nhau</a:t>
            </a:r>
            <a:r>
              <a:rPr lang="en-US" sz="2800" dirty="0">
                <a:solidFill>
                  <a:srgbClr val="FFFFFF"/>
                </a:solidFill>
                <a:latin typeface="Arial" panose="020B0604020202020204" pitchFamily="34" charset="0"/>
                <a:ea typeface="Poppins"/>
                <a:cs typeface="Arial" panose="020B0604020202020204" pitchFamily="34" charset="0"/>
                <a:sym typeface="Poppins"/>
              </a:rPr>
              <a:t>.</a:t>
            </a:r>
          </a:p>
          <a:p>
            <a:pPr marL="0" lvl="0" indent="0"/>
            <a:endParaRPr lang="en-US" sz="2800" dirty="0">
              <a:solidFill>
                <a:srgbClr val="FFFFFF"/>
              </a:solidFill>
              <a:latin typeface="Arial" panose="020B0604020202020204" pitchFamily="34" charset="0"/>
              <a:ea typeface="Poppins"/>
              <a:cs typeface="Arial" panose="020B0604020202020204" pitchFamily="34" charset="0"/>
              <a:sym typeface="Poppins"/>
            </a:endParaRPr>
          </a:p>
          <a:p>
            <a:pPr marL="0" lvl="0" indent="0"/>
            <a:r>
              <a:rPr lang="en-US" sz="2800" dirty="0" err="1">
                <a:solidFill>
                  <a:srgbClr val="FFFFFF"/>
                </a:solidFill>
                <a:latin typeface="Arial" panose="020B0604020202020204" pitchFamily="34" charset="0"/>
                <a:ea typeface="Poppins"/>
                <a:cs typeface="Arial" panose="020B0604020202020204" pitchFamily="34" charset="0"/>
                <a:sym typeface="Poppins"/>
              </a:rPr>
              <a:t>Mục</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tiêu</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đánh</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lừa</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tường</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lửa</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không</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lọc</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lưu</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lượng</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truy</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cập</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độc</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hại</a:t>
            </a:r>
            <a:r>
              <a:rPr lang="en-US" sz="2800" dirty="0">
                <a:solidFill>
                  <a:srgbClr val="FFFFFF"/>
                </a:solidFill>
                <a:latin typeface="Arial" panose="020B0604020202020204" pitchFamily="34" charset="0"/>
                <a:ea typeface="Poppins"/>
                <a:cs typeface="Arial" panose="020B0604020202020204" pitchFamily="34" charset="0"/>
                <a:sym typeface="Poppins"/>
              </a:rPr>
              <a:t> do </a:t>
            </a:r>
            <a:r>
              <a:rPr lang="en-US" sz="2800" dirty="0" err="1">
                <a:solidFill>
                  <a:srgbClr val="FFFFFF"/>
                </a:solidFill>
                <a:latin typeface="Arial" panose="020B0604020202020204" pitchFamily="34" charset="0"/>
                <a:ea typeface="Poppins"/>
                <a:cs typeface="Arial" panose="020B0604020202020204" pitchFamily="34" charset="0"/>
                <a:sym typeface="Poppins"/>
              </a:rPr>
              <a:t>kẻ</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tấn</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công</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tạo</a:t>
            </a:r>
            <a:r>
              <a:rPr lang="en-US" sz="2800" dirty="0">
                <a:solidFill>
                  <a:srgbClr val="FFFFFF"/>
                </a:solidFill>
                <a:latin typeface="Arial" panose="020B0604020202020204" pitchFamily="34" charset="0"/>
                <a:ea typeface="Poppins"/>
                <a:cs typeface="Arial" panose="020B0604020202020204" pitchFamily="34" charset="0"/>
                <a:sym typeface="Poppins"/>
              </a:rPr>
              <a:t> </a:t>
            </a:r>
            <a:r>
              <a:rPr lang="en-US" sz="2800" dirty="0" err="1">
                <a:solidFill>
                  <a:srgbClr val="FFFFFF"/>
                </a:solidFill>
                <a:latin typeface="Arial" panose="020B0604020202020204" pitchFamily="34" charset="0"/>
                <a:ea typeface="Poppins"/>
                <a:cs typeface="Arial" panose="020B0604020202020204" pitchFamily="34" charset="0"/>
                <a:sym typeface="Poppins"/>
              </a:rPr>
              <a:t>ra</a:t>
            </a:r>
            <a:endParaRPr lang="en-US" sz="2800" dirty="0">
              <a:solidFill>
                <a:srgbClr val="FFFFFF"/>
              </a:solidFill>
              <a:latin typeface="Arial" panose="020B0604020202020204" pitchFamily="34" charset="0"/>
              <a:ea typeface="Poppins"/>
              <a:cs typeface="Arial" panose="020B0604020202020204" pitchFamily="34" charset="0"/>
              <a:sym typeface="Poppins"/>
            </a:endParaRPr>
          </a:p>
        </p:txBody>
      </p:sp>
      <p:sp>
        <p:nvSpPr>
          <p:cNvPr id="5" name="Freeform 5">
            <a:extLst>
              <a:ext uri="{FF2B5EF4-FFF2-40B4-BE49-F238E27FC236}">
                <a16:creationId xmlns:a16="http://schemas.microsoft.com/office/drawing/2014/main" id="{E4924573-C4F7-DF30-6107-ED155C3CA9D4}"/>
              </a:ext>
            </a:extLst>
          </p:cNvPr>
          <p:cNvSpPr/>
          <p:nvPr/>
        </p:nvSpPr>
        <p:spPr>
          <a:xfrm>
            <a:off x="-1340885" y="5505450"/>
            <a:ext cx="5838682" cy="5855316"/>
          </a:xfrm>
          <a:custGeom>
            <a:avLst/>
            <a:gdLst/>
            <a:ahLst/>
            <a:cxnLst/>
            <a:rect l="l" t="t" r="r" b="b"/>
            <a:pathLst>
              <a:path w="5838682" h="5855316">
                <a:moveTo>
                  <a:pt x="0" y="0"/>
                </a:moveTo>
                <a:lnTo>
                  <a:pt x="5838681" y="0"/>
                </a:lnTo>
                <a:lnTo>
                  <a:pt x="5838681" y="5855316"/>
                </a:lnTo>
                <a:lnTo>
                  <a:pt x="0" y="5855316"/>
                </a:lnTo>
                <a:lnTo>
                  <a:pt x="0"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085C58AD-CE85-B22B-6812-142B510582CF}"/>
              </a:ext>
            </a:extLst>
          </p:cNvPr>
          <p:cNvSpPr/>
          <p:nvPr/>
        </p:nvSpPr>
        <p:spPr>
          <a:xfrm flipH="1">
            <a:off x="13558746" y="5505450"/>
            <a:ext cx="5838682" cy="5855316"/>
          </a:xfrm>
          <a:custGeom>
            <a:avLst/>
            <a:gdLst/>
            <a:ahLst/>
            <a:cxnLst/>
            <a:rect l="l" t="t" r="r" b="b"/>
            <a:pathLst>
              <a:path w="5838682" h="5855316">
                <a:moveTo>
                  <a:pt x="5838681" y="0"/>
                </a:moveTo>
                <a:lnTo>
                  <a:pt x="0" y="0"/>
                </a:lnTo>
                <a:lnTo>
                  <a:pt x="0" y="5855316"/>
                </a:lnTo>
                <a:lnTo>
                  <a:pt x="5838681" y="5855316"/>
                </a:lnTo>
                <a:lnTo>
                  <a:pt x="5838681"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7" name="AutoShape 7">
            <a:extLst>
              <a:ext uri="{FF2B5EF4-FFF2-40B4-BE49-F238E27FC236}">
                <a16:creationId xmlns:a16="http://schemas.microsoft.com/office/drawing/2014/main" id="{24B0E11D-DA64-4CB5-2E84-6EBD42F98B58}"/>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8" name="Freeform 8">
            <a:extLst>
              <a:ext uri="{FF2B5EF4-FFF2-40B4-BE49-F238E27FC236}">
                <a16:creationId xmlns:a16="http://schemas.microsoft.com/office/drawing/2014/main" id="{1A523FF4-E532-7EB9-7C7C-438B9F29EBD9}"/>
              </a:ext>
            </a:extLst>
          </p:cNvPr>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8D708E96-ABCF-8AAA-E3BF-1CB2099B5B1E}"/>
              </a:ext>
            </a:extLst>
          </p:cNvPr>
          <p:cNvSpPr txBox="1"/>
          <p:nvPr/>
        </p:nvSpPr>
        <p:spPr>
          <a:xfrm>
            <a:off x="1574843" y="1023452"/>
            <a:ext cx="2922953" cy="327654"/>
          </a:xfrm>
          <a:prstGeom prst="rect">
            <a:avLst/>
          </a:prstGeom>
        </p:spPr>
        <p:txBody>
          <a:bodyPr lIns="0" tIns="0" rIns="0" bIns="0" rtlCol="0" anchor="t">
            <a:spAutoFit/>
          </a:bodyPr>
          <a:lstStyle/>
          <a:p>
            <a:pPr marL="0" lvl="0" indent="0" algn="l">
              <a:lnSpc>
                <a:spcPts val="2798"/>
              </a:lnSpc>
            </a:pPr>
            <a:r>
              <a:rPr lang="en-US" sz="1998" err="1">
                <a:solidFill>
                  <a:srgbClr val="FFFFFF"/>
                </a:solidFill>
                <a:latin typeface="Arial" panose="020B0604020202020204" pitchFamily="34" charset="0"/>
                <a:ea typeface="Poppins"/>
                <a:cs typeface="Arial" panose="020B0604020202020204" pitchFamily="34" charset="0"/>
                <a:sym typeface="Poppins"/>
              </a:rPr>
              <a:t>Nhóm</a:t>
            </a:r>
            <a:r>
              <a:rPr lang="en-US" sz="1998">
                <a:solidFill>
                  <a:srgbClr val="FFFFFF"/>
                </a:solidFill>
                <a:latin typeface="Arial" panose="020B0604020202020204" pitchFamily="34" charset="0"/>
                <a:ea typeface="Poppins"/>
                <a:cs typeface="Arial" panose="020B0604020202020204" pitchFamily="34" charset="0"/>
                <a:sym typeface="Poppins"/>
              </a:rPr>
              <a:t> 9 - ATTT K22A</a:t>
            </a:r>
          </a:p>
        </p:txBody>
      </p:sp>
    </p:spTree>
    <p:extLst>
      <p:ext uri="{BB962C8B-B14F-4D97-AF65-F5344CB8AC3E}">
        <p14:creationId xmlns:p14="http://schemas.microsoft.com/office/powerpoint/2010/main" val="736228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9E5AB-E29E-0D32-8E20-6B1DE373FA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750CF8A-C8BE-1CCD-706F-B184F118C33C}"/>
              </a:ext>
            </a:extLst>
          </p:cNvPr>
          <p:cNvSpPr/>
          <p:nvPr/>
        </p:nvSpPr>
        <p:spPr>
          <a:xfrm>
            <a:off x="1706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E60409B7-774A-BBBA-AD65-A0B9790319BD}"/>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1CD46372-BB62-AEDD-EFCE-76D574291464}"/>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BB47D109-451A-E28F-22BA-850ED674BC0F}"/>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D40B4D6A-1F07-8015-454F-83D0CEA81625}"/>
              </a:ext>
            </a:extLst>
          </p:cNvPr>
          <p:cNvSpPr txBox="1"/>
          <p:nvPr/>
        </p:nvSpPr>
        <p:spPr>
          <a:xfrm>
            <a:off x="1063336" y="4157298"/>
            <a:ext cx="13871864" cy="3672865"/>
          </a:xfrm>
          <a:prstGeom prst="rect">
            <a:avLst/>
          </a:prstGeom>
        </p:spPr>
        <p:txBody>
          <a:bodyPr wrap="square" lIns="0" tIns="0" rIns="0" bIns="0" rtlCol="0" anchor="t">
            <a:spAutoFit/>
          </a:bodyPr>
          <a:lstStyle/>
          <a:p>
            <a:pPr lvl="0"/>
            <a:r>
              <a:rPr lang="en-US" sz="2400" dirty="0" err="1">
                <a:solidFill>
                  <a:schemeClr val="bg1"/>
                </a:solidFill>
                <a:latin typeface="Arial" panose="020B0604020202020204" pitchFamily="34" charset="0"/>
                <a:cs typeface="Arial" panose="020B0604020202020204" pitchFamily="34" charset="0"/>
              </a:rPr>
              <a:t>Cơ</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chế</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Kiểm</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tra</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các</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cổng</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mạng</a:t>
            </a:r>
            <a:r>
              <a:rPr lang="en-US" sz="2400" dirty="0">
                <a:solidFill>
                  <a:schemeClr val="bg1"/>
                </a:solidFill>
                <a:latin typeface="Arial" panose="020B0604020202020204" pitchFamily="34" charset="0"/>
                <a:cs typeface="Arial" panose="020B0604020202020204" pitchFamily="34" charset="0"/>
              </a:rPr>
              <a:t> hay </a:t>
            </a:r>
            <a:r>
              <a:rPr lang="vi-VN" sz="2400" dirty="0">
                <a:solidFill>
                  <a:schemeClr val="bg1"/>
                </a:solidFill>
                <a:latin typeface="Arial" panose="020B0604020202020204" pitchFamily="34" charset="0"/>
                <a:cs typeface="Arial" panose="020B0604020202020204" pitchFamily="34" charset="0"/>
              </a:rPr>
              <a:t>bỏ quên</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để</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xác</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định</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cổng</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mở</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và</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dịch</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vụ</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đang</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hoạt</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động</a:t>
            </a:r>
            <a:r>
              <a:rPr lang="en-US" sz="2400" dirty="0">
                <a:solidFill>
                  <a:schemeClr val="bg1"/>
                </a:solidFill>
                <a:latin typeface="Arial" panose="020B0604020202020204" pitchFamily="34" charset="0"/>
                <a:cs typeface="Arial" panose="020B0604020202020204" pitchFamily="34" charset="0"/>
              </a:rPr>
              <a:t>.</a:t>
            </a:r>
          </a:p>
          <a:p>
            <a:pPr lvl="0"/>
            <a:endParaRPr lang="en-US" sz="2400" dirty="0">
              <a:solidFill>
                <a:schemeClr val="bg1"/>
              </a:solidFill>
              <a:latin typeface="Arial" panose="020B0604020202020204" pitchFamily="34" charset="0"/>
              <a:cs typeface="Arial" panose="020B0604020202020204" pitchFamily="34" charset="0"/>
            </a:endParaRPr>
          </a:p>
          <a:p>
            <a:pPr lvl="0"/>
            <a:r>
              <a:rPr lang="en-US" sz="2400" dirty="0" err="1">
                <a:solidFill>
                  <a:schemeClr val="bg1"/>
                </a:solidFill>
                <a:latin typeface="Arial" panose="020B0604020202020204" pitchFamily="34" charset="0"/>
                <a:cs typeface="Arial" panose="020B0604020202020204" pitchFamily="34" charset="0"/>
              </a:rPr>
              <a:t>Mục</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đích</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Tìm</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dịch</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vụ</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có</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thể</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khai</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thác</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và</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đánh</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giá</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quy</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tắc</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lọc</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của</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tường</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lửa</a:t>
            </a:r>
            <a:r>
              <a:rPr lang="en-US" sz="2400" dirty="0">
                <a:solidFill>
                  <a:schemeClr val="bg1"/>
                </a:solidFill>
                <a:latin typeface="Arial" panose="020B0604020202020204" pitchFamily="34" charset="0"/>
                <a:cs typeface="Arial" panose="020B0604020202020204" pitchFamily="34" charset="0"/>
              </a:rPr>
              <a:t>.</a:t>
            </a:r>
          </a:p>
          <a:p>
            <a:pPr lvl="0"/>
            <a:endParaRPr lang="en-US" sz="2400" dirty="0">
              <a:solidFill>
                <a:schemeClr val="bg1"/>
              </a:solidFill>
              <a:latin typeface="Arial" panose="020B0604020202020204" pitchFamily="34" charset="0"/>
              <a:cs typeface="Arial" panose="020B0604020202020204" pitchFamily="34" charset="0"/>
            </a:endParaRPr>
          </a:p>
          <a:p>
            <a:pPr lvl="0"/>
            <a:r>
              <a:rPr lang="en-US" sz="2400" dirty="0" err="1">
                <a:solidFill>
                  <a:schemeClr val="bg1"/>
                </a:solidFill>
                <a:latin typeface="Arial" panose="020B0604020202020204" pitchFamily="34" charset="0"/>
                <a:cs typeface="Arial" panose="020B0604020202020204" pitchFamily="34" charset="0"/>
              </a:rPr>
              <a:t>Ảnh</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hưởng</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Làm</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lộ</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các</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dịch</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vụ</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có</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nguy</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cơ</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bị</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tấn</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công</a:t>
            </a:r>
            <a:r>
              <a:rPr lang="en-US" sz="2400" dirty="0">
                <a:solidFill>
                  <a:schemeClr val="bg1"/>
                </a:solidFill>
                <a:latin typeface="Arial" panose="020B0604020202020204" pitchFamily="34" charset="0"/>
                <a:cs typeface="Arial" panose="020B0604020202020204" pitchFamily="34" charset="0"/>
              </a:rPr>
              <a:t>.</a:t>
            </a:r>
          </a:p>
          <a:p>
            <a:pPr lvl="0"/>
            <a:endParaRPr lang="en-US" sz="2400" dirty="0">
              <a:solidFill>
                <a:schemeClr val="bg1"/>
              </a:solidFill>
              <a:latin typeface="Arial" panose="020B0604020202020204" pitchFamily="34" charset="0"/>
              <a:cs typeface="Arial" panose="020B0604020202020204" pitchFamily="34" charset="0"/>
            </a:endParaRPr>
          </a:p>
          <a:p>
            <a:pPr lvl="0"/>
            <a:r>
              <a:rPr lang="en-US" sz="2400" dirty="0" err="1">
                <a:solidFill>
                  <a:schemeClr val="bg1"/>
                </a:solidFill>
                <a:latin typeface="Arial" panose="020B0604020202020204" pitchFamily="34" charset="0"/>
                <a:cs typeface="Arial" panose="020B0604020202020204" pitchFamily="34" charset="0"/>
              </a:rPr>
              <a:t>Ví</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dụ</a:t>
            </a:r>
            <a:r>
              <a:rPr lang="en-US" sz="2400" dirty="0">
                <a:solidFill>
                  <a:schemeClr val="bg1"/>
                </a:solidFill>
                <a:latin typeface="Arial" panose="020B0604020202020204" pitchFamily="34" charset="0"/>
                <a:cs typeface="Arial" panose="020B0604020202020204" pitchFamily="34" charset="0"/>
              </a:rPr>
              <a:t>:</a:t>
            </a:r>
            <a:br>
              <a:rPr lang="en-US" sz="2400" dirty="0">
                <a:solidFill>
                  <a:schemeClr val="bg1"/>
                </a:solidFill>
                <a:latin typeface="Arial" panose="020B0604020202020204" pitchFamily="34" charset="0"/>
                <a:cs typeface="Arial" panose="020B0604020202020204" pitchFamily="34" charset="0"/>
              </a:rPr>
            </a:br>
            <a:r>
              <a:rPr lang="en-US" sz="2400" dirty="0">
                <a:solidFill>
                  <a:schemeClr val="bg1"/>
                </a:solidFill>
                <a:latin typeface="Arial" panose="020B0604020202020204" pitchFamily="34" charset="0"/>
                <a:cs typeface="Arial" panose="020B0604020202020204" pitchFamily="34" charset="0"/>
              </a:rPr>
              <a:t>FireWall-1 </a:t>
            </a:r>
            <a:r>
              <a:rPr lang="en-US" sz="2400" dirty="0" err="1">
                <a:solidFill>
                  <a:schemeClr val="bg1"/>
                </a:solidFill>
                <a:latin typeface="Arial" panose="020B0604020202020204" pitchFamily="34" charset="0"/>
                <a:cs typeface="Arial" panose="020B0604020202020204" pitchFamily="34" charset="0"/>
              </a:rPr>
              <a:t>của</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CheckPoint</a:t>
            </a:r>
            <a:r>
              <a:rPr lang="en-US" sz="2400" dirty="0">
                <a:solidFill>
                  <a:schemeClr val="bg1"/>
                </a:solidFill>
                <a:latin typeface="Arial" panose="020B0604020202020204" pitchFamily="34" charset="0"/>
                <a:cs typeface="Arial" panose="020B0604020202020204" pitchFamily="34" charset="0"/>
              </a:rPr>
              <a:t>: TCP 256-259</a:t>
            </a:r>
          </a:p>
          <a:p>
            <a:pPr lvl="0"/>
            <a:r>
              <a:rPr lang="en-US" sz="2400" dirty="0">
                <a:solidFill>
                  <a:schemeClr val="bg1"/>
                </a:solidFill>
                <a:latin typeface="Arial" panose="020B0604020202020204" pitchFamily="34" charset="0"/>
                <a:cs typeface="Arial" panose="020B0604020202020204" pitchFamily="34" charset="0"/>
              </a:rPr>
              <a:t>Proxy Server </a:t>
            </a:r>
            <a:r>
              <a:rPr lang="en-US" sz="2400" dirty="0" err="1">
                <a:solidFill>
                  <a:schemeClr val="bg1"/>
                </a:solidFill>
                <a:latin typeface="Arial" panose="020B0604020202020204" pitchFamily="34" charset="0"/>
                <a:cs typeface="Arial" panose="020B0604020202020204" pitchFamily="34" charset="0"/>
              </a:rPr>
              <a:t>của</a:t>
            </a:r>
            <a:r>
              <a:rPr lang="en-US" sz="2400" dirty="0">
                <a:solidFill>
                  <a:schemeClr val="bg1"/>
                </a:solidFill>
                <a:latin typeface="Arial" panose="020B0604020202020204" pitchFamily="34" charset="0"/>
                <a:cs typeface="Arial" panose="020B0604020202020204" pitchFamily="34" charset="0"/>
              </a:rPr>
              <a:t> Microsoft: TCP 1080, 1745</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p:txBody>
      </p:sp>
      <p:sp>
        <p:nvSpPr>
          <p:cNvPr id="11" name="Freeform 11">
            <a:extLst>
              <a:ext uri="{FF2B5EF4-FFF2-40B4-BE49-F238E27FC236}">
                <a16:creationId xmlns:a16="http://schemas.microsoft.com/office/drawing/2014/main" id="{5419D753-CB1B-8638-191A-BFC99CB7B39A}"/>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B03CE757-DBC3-36F1-7DC4-A62D5542BDD9}"/>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464C4231-3A22-8F3C-E9A9-55C4E695EA89}"/>
              </a:ext>
            </a:extLst>
          </p:cNvPr>
          <p:cNvSpPr txBox="1"/>
          <p:nvPr/>
        </p:nvSpPr>
        <p:spPr>
          <a:xfrm>
            <a:off x="1028700" y="2427514"/>
            <a:ext cx="14135100" cy="1010148"/>
          </a:xfrm>
          <a:prstGeom prst="rect">
            <a:avLst/>
          </a:prstGeom>
        </p:spPr>
        <p:txBody>
          <a:bodyPr wrap="square" lIns="0" tIns="0" rIns="0" bIns="0" rtlCol="0" anchor="t">
            <a:spAutoFit/>
          </a:bodyPr>
          <a:lstStyle/>
          <a:p>
            <a:pPr marL="0" lvl="0" indent="0" algn="l">
              <a:lnSpc>
                <a:spcPts val="8474"/>
              </a:lnSpc>
            </a:pP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Quét</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cổng</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vi-VN" sz="6600" spc="-345" dirty="0">
                <a:solidFill>
                  <a:srgbClr val="FFFFFF"/>
                </a:solidFill>
                <a:latin typeface="Arial" panose="020B0604020202020204" pitchFamily="34" charset="0"/>
                <a:ea typeface="Times New Roman"/>
                <a:cs typeface="Arial" panose="020B0604020202020204" pitchFamily="34" charset="0"/>
                <a:sym typeface="Times New Roman"/>
              </a:rPr>
              <a:t>dễ bỏ quên </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(Port Scanning)</a:t>
            </a:r>
          </a:p>
        </p:txBody>
      </p:sp>
    </p:spTree>
    <p:extLst>
      <p:ext uri="{BB962C8B-B14F-4D97-AF65-F5344CB8AC3E}">
        <p14:creationId xmlns:p14="http://schemas.microsoft.com/office/powerpoint/2010/main" val="3508634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96DFC-F355-B225-0D2B-CCAF065985C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9A495CB-48F2-E30A-8229-6152EEF61C34}"/>
              </a:ext>
            </a:extLst>
          </p:cNvPr>
          <p:cNvSpPr/>
          <p:nvPr/>
        </p:nvSpPr>
        <p:spPr>
          <a:xfrm>
            <a:off x="4549"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E0573CB4-6895-B5B7-A82B-6A1379F3001C}"/>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086BFEA9-2613-EAB9-7DA2-5F21EA9C0169}"/>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B6077EA0-A64A-C973-9882-1DD38DCF20CC}"/>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A1F20A95-1595-E2D0-E50E-AEF35363F444}"/>
              </a:ext>
            </a:extLst>
          </p:cNvPr>
          <p:cNvSpPr txBox="1"/>
          <p:nvPr/>
        </p:nvSpPr>
        <p:spPr>
          <a:xfrm>
            <a:off x="1053721" y="3834813"/>
            <a:ext cx="14135100" cy="2934201"/>
          </a:xfrm>
          <a:prstGeom prst="rect">
            <a:avLst/>
          </a:prstGeom>
        </p:spPr>
        <p:txBody>
          <a:bodyPr wrap="square" lIns="0" tIns="0" rIns="0" bIns="0" rtlCol="0" anchor="t">
            <a:spAutoFit/>
          </a:bodyPr>
          <a:lstStyle/>
          <a:p>
            <a:pPr lvl="0"/>
            <a:r>
              <a:rPr lang="vi-VN" sz="2400" dirty="0">
                <a:solidFill>
                  <a:schemeClr val="bg1"/>
                </a:solidFill>
                <a:latin typeface="Arial" panose="020B0604020202020204" pitchFamily="34" charset="0"/>
                <a:cs typeface="Arial" panose="020B0604020202020204" pitchFamily="34" charset="0"/>
              </a:rPr>
              <a:t>Cơ chế: Sử dụng giá trị TTL của gói tin và phân tích phản hồi IP để xác định các quy tắc ACL, cổng được phép đi qua tường lửa.</a:t>
            </a:r>
          </a:p>
          <a:p>
            <a:pPr lvl="0"/>
            <a:endParaRPr lang="vi-VN" sz="2400" dirty="0">
              <a:solidFill>
                <a:schemeClr val="bg1"/>
              </a:solidFill>
              <a:latin typeface="Arial" panose="020B0604020202020204" pitchFamily="34" charset="0"/>
              <a:cs typeface="Arial" panose="020B0604020202020204" pitchFamily="34" charset="0"/>
            </a:endParaRPr>
          </a:p>
          <a:p>
            <a:pPr lvl="0"/>
            <a:r>
              <a:rPr lang="vi-VN" sz="2400" dirty="0">
                <a:solidFill>
                  <a:schemeClr val="bg1"/>
                </a:solidFill>
                <a:latin typeface="Arial" panose="020B0604020202020204" pitchFamily="34" charset="0"/>
                <a:cs typeface="Arial" panose="020B0604020202020204" pitchFamily="34" charset="0"/>
              </a:rPr>
              <a:t>Mục đích: Thu thập thông tin về mạng phía sau tường lửa và xác định các dịch vụ có thể truy cập.</a:t>
            </a:r>
          </a:p>
          <a:p>
            <a:pPr lvl="0"/>
            <a:endParaRPr lang="vi-VN" sz="2400" dirty="0">
              <a:solidFill>
                <a:schemeClr val="bg1"/>
              </a:solidFill>
              <a:latin typeface="Arial" panose="020B0604020202020204" pitchFamily="34" charset="0"/>
              <a:cs typeface="Arial" panose="020B0604020202020204" pitchFamily="34" charset="0"/>
            </a:endParaRPr>
          </a:p>
          <a:p>
            <a:pPr lvl="0"/>
            <a:r>
              <a:rPr lang="vi-VN" sz="2400" dirty="0">
                <a:solidFill>
                  <a:schemeClr val="bg1"/>
                </a:solidFill>
                <a:latin typeface="Arial" panose="020B0604020202020204" pitchFamily="34" charset="0"/>
                <a:cs typeface="Arial" panose="020B0604020202020204" pitchFamily="34" charset="0"/>
              </a:rPr>
              <a:t>Ảnh hưởng: Làm lộ thông tin về cấu trúc mạng và các quy tắc lọc, hỗ trợ kẻ tấn công tìm đường tiếp cận hệ thống.</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p:txBody>
      </p:sp>
      <p:sp>
        <p:nvSpPr>
          <p:cNvPr id="11" name="Freeform 11">
            <a:extLst>
              <a:ext uri="{FF2B5EF4-FFF2-40B4-BE49-F238E27FC236}">
                <a16:creationId xmlns:a16="http://schemas.microsoft.com/office/drawing/2014/main" id="{65C02887-366F-0F4F-B29D-A523B1FAC96E}"/>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35925BB0-97DF-18DF-AC51-6851CB0F48F4}"/>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3BDCC585-CF4E-C92D-9A68-4D8F553606F2}"/>
              </a:ext>
            </a:extLst>
          </p:cNvPr>
          <p:cNvSpPr txBox="1"/>
          <p:nvPr/>
        </p:nvSpPr>
        <p:spPr>
          <a:xfrm>
            <a:off x="1028700" y="2427514"/>
            <a:ext cx="6863443" cy="1010148"/>
          </a:xfrm>
          <a:prstGeom prst="rect">
            <a:avLst/>
          </a:prstGeom>
        </p:spPr>
        <p:txBody>
          <a:bodyPr lIns="0" tIns="0" rIns="0" bIns="0" rtlCol="0" anchor="t">
            <a:spAutoFit/>
          </a:bodyPr>
          <a:lstStyle/>
          <a:p>
            <a:pPr marL="0" lvl="0" indent="0" algn="l">
              <a:lnSpc>
                <a:spcPts val="8474"/>
              </a:lnSpc>
            </a:pPr>
            <a:r>
              <a:rPr lang="en-US" sz="6600" spc="-345">
                <a:solidFill>
                  <a:srgbClr val="FFFFFF"/>
                </a:solidFill>
                <a:latin typeface="Arial" panose="020B0604020202020204" pitchFamily="34" charset="0"/>
                <a:ea typeface="Times New Roman"/>
                <a:cs typeface="Arial" panose="020B0604020202020204" pitchFamily="34" charset="0"/>
                <a:sym typeface="Times New Roman"/>
              </a:rPr>
              <a:t>Firewalking</a:t>
            </a:r>
          </a:p>
        </p:txBody>
      </p:sp>
    </p:spTree>
    <p:extLst>
      <p:ext uri="{BB962C8B-B14F-4D97-AF65-F5344CB8AC3E}">
        <p14:creationId xmlns:p14="http://schemas.microsoft.com/office/powerpoint/2010/main" val="16378337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F2301-572A-C122-A433-C0D078B72A3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FC83B63-15B3-B9A9-1999-F4A17494CBD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1A24E960-6D53-928B-8496-B34B14A25CD4}"/>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DEA3565C-8000-E78F-B554-0757B31DAF7C}"/>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7E2C9B44-B3BE-1265-ACF6-F200BCDDA8AA}"/>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F2FCE4B7-30E3-ADC0-F79B-A6A4670F5144}"/>
              </a:ext>
            </a:extLst>
          </p:cNvPr>
          <p:cNvSpPr txBox="1"/>
          <p:nvPr/>
        </p:nvSpPr>
        <p:spPr>
          <a:xfrm>
            <a:off x="1028700" y="4505108"/>
            <a:ext cx="7358743" cy="2585323"/>
          </a:xfrm>
          <a:prstGeom prst="rect">
            <a:avLst/>
          </a:prstGeom>
        </p:spPr>
        <p:txBody>
          <a:bodyPr lIns="0" tIns="0" rIns="0" bIns="0" rtlCol="0" anchor="t">
            <a:spAutoFit/>
          </a:bodyPr>
          <a:lstStyle/>
          <a:p>
            <a:pPr lvl="0"/>
            <a:r>
              <a:rPr lang="vi-VN" sz="2400" dirty="0">
                <a:solidFill>
                  <a:schemeClr val="bg1"/>
                </a:solidFill>
                <a:latin typeface="Arial (Thân)"/>
                <a:cs typeface="Arial" panose="020B0604020202020204" pitchFamily="34" charset="0"/>
              </a:rPr>
              <a:t>Cơ chế: Thu thập thông tin phiên bản và nhà cung cấp dịch vụ từ phản hồi của máy chủ.</a:t>
            </a:r>
          </a:p>
          <a:p>
            <a:pPr lvl="0"/>
            <a:endParaRPr lang="vi-VN" sz="2400" dirty="0">
              <a:solidFill>
                <a:schemeClr val="bg1"/>
              </a:solidFill>
              <a:latin typeface="Arial (Thân)"/>
              <a:cs typeface="Arial" panose="020B0604020202020204" pitchFamily="34" charset="0"/>
            </a:endParaRPr>
          </a:p>
          <a:p>
            <a:pPr lvl="0"/>
            <a:r>
              <a:rPr lang="vi-VN" sz="2400" dirty="0">
                <a:solidFill>
                  <a:schemeClr val="bg1"/>
                </a:solidFill>
                <a:latin typeface="Arial (Thân)"/>
                <a:cs typeface="Arial" panose="020B0604020202020204" pitchFamily="34" charset="0"/>
              </a:rPr>
              <a:t>Mục đích: Xác định hệ điều hành, phần mềm và phiên bản dịch vụ.</a:t>
            </a:r>
          </a:p>
          <a:p>
            <a:pPr lvl="0"/>
            <a:endParaRPr lang="vi-VN" sz="2400" dirty="0">
              <a:solidFill>
                <a:schemeClr val="bg1"/>
              </a:solidFill>
              <a:latin typeface="Arial (Thân)"/>
              <a:cs typeface="Arial" panose="020B0604020202020204" pitchFamily="34" charset="0"/>
            </a:endParaRPr>
          </a:p>
          <a:p>
            <a:pPr lvl="0"/>
            <a:r>
              <a:rPr lang="vi-VN" sz="2400" dirty="0">
                <a:solidFill>
                  <a:schemeClr val="bg1"/>
                </a:solidFill>
                <a:latin typeface="Arial (Thân)"/>
                <a:cs typeface="Arial" panose="020B0604020202020204" pitchFamily="34" charset="0"/>
              </a:rPr>
              <a:t>Ảnh hưởng: Hỗ trợ kẻ tấn công tìm lỗ hổng phù hợp.</a:t>
            </a:r>
            <a:endParaRPr lang="en-US" sz="2400" dirty="0">
              <a:solidFill>
                <a:schemeClr val="bg1"/>
              </a:solidFill>
              <a:latin typeface="Arial (Thân)"/>
              <a:cs typeface="Arial" panose="020B0604020202020204" pitchFamily="34" charset="0"/>
            </a:endParaRPr>
          </a:p>
        </p:txBody>
      </p:sp>
      <p:sp>
        <p:nvSpPr>
          <p:cNvPr id="11" name="Freeform 11">
            <a:extLst>
              <a:ext uri="{FF2B5EF4-FFF2-40B4-BE49-F238E27FC236}">
                <a16:creationId xmlns:a16="http://schemas.microsoft.com/office/drawing/2014/main" id="{E2B085A0-DD30-3CD0-5A37-47DEFFEC9B9E}"/>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0C4C646A-E3E9-AE81-EF52-4A21A0AFD718}"/>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309DF172-FC1D-FBF6-91F3-5154973F20B0}"/>
              </a:ext>
            </a:extLst>
          </p:cNvPr>
          <p:cNvSpPr txBox="1"/>
          <p:nvPr/>
        </p:nvSpPr>
        <p:spPr>
          <a:xfrm>
            <a:off x="1028700" y="2427514"/>
            <a:ext cx="6863443" cy="1010148"/>
          </a:xfrm>
          <a:prstGeom prst="rect">
            <a:avLst/>
          </a:prstGeom>
        </p:spPr>
        <p:txBody>
          <a:bodyPr lIns="0" tIns="0" rIns="0" bIns="0" rtlCol="0" anchor="t">
            <a:spAutoFit/>
          </a:bodyPr>
          <a:lstStyle/>
          <a:p>
            <a:pPr marL="0" lvl="0" indent="0" algn="l">
              <a:lnSpc>
                <a:spcPts val="8474"/>
              </a:lnSpc>
            </a:pPr>
            <a:r>
              <a:rPr lang="en-US" sz="6600" spc="-345">
                <a:solidFill>
                  <a:srgbClr val="FFFFFF"/>
                </a:solidFill>
                <a:latin typeface="Arial" panose="020B0604020202020204" pitchFamily="34" charset="0"/>
                <a:ea typeface="Times New Roman"/>
                <a:cs typeface="Arial" panose="020B0604020202020204" pitchFamily="34" charset="0"/>
                <a:sym typeface="Times New Roman"/>
              </a:rPr>
              <a:t>Banner Grabbing</a:t>
            </a:r>
          </a:p>
        </p:txBody>
      </p:sp>
      <p:pic>
        <p:nvPicPr>
          <p:cNvPr id="7" name="Hình ảnh 6">
            <a:extLst>
              <a:ext uri="{FF2B5EF4-FFF2-40B4-BE49-F238E27FC236}">
                <a16:creationId xmlns:a16="http://schemas.microsoft.com/office/drawing/2014/main" id="{EBFE69D0-F112-6565-71D8-1A50FE09BEA5}"/>
              </a:ext>
            </a:extLst>
          </p:cNvPr>
          <p:cNvPicPr>
            <a:picLocks noChangeAspect="1"/>
          </p:cNvPicPr>
          <p:nvPr/>
        </p:nvPicPr>
        <p:blipFill>
          <a:blip r:embed="rId5"/>
          <a:stretch>
            <a:fillRect/>
          </a:stretch>
        </p:blipFill>
        <p:spPr>
          <a:xfrm>
            <a:off x="8632590" y="4533900"/>
            <a:ext cx="9248775" cy="3343275"/>
          </a:xfrm>
          <a:prstGeom prst="rect">
            <a:avLst/>
          </a:prstGeom>
        </p:spPr>
      </p:pic>
    </p:spTree>
    <p:extLst>
      <p:ext uri="{BB962C8B-B14F-4D97-AF65-F5344CB8AC3E}">
        <p14:creationId xmlns:p14="http://schemas.microsoft.com/office/powerpoint/2010/main" val="40613168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6CCC9-6FA4-FF2D-C4EE-441A8B5741C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E6E182F-D073-BC5D-D0A2-4DE67691C03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4D834889-FCDC-230C-1BF9-2D6FD32CC674}"/>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C72C32ED-E4EC-3FE9-F277-5A4E57520AA4}"/>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71C566D3-C995-08A0-7F90-65E129253E68}"/>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46105F9E-CF23-CC71-3EBE-6F9791C17163}"/>
              </a:ext>
            </a:extLst>
          </p:cNvPr>
          <p:cNvSpPr txBox="1"/>
          <p:nvPr/>
        </p:nvSpPr>
        <p:spPr>
          <a:xfrm>
            <a:off x="1028700" y="4188264"/>
            <a:ext cx="7358743" cy="3303533"/>
          </a:xfrm>
          <a:prstGeom prst="rect">
            <a:avLst/>
          </a:prstGeom>
        </p:spPr>
        <p:txBody>
          <a:bodyPr lIns="0" tIns="0" rIns="0" bIns="0" rtlCol="0" anchor="t">
            <a:spAutoFit/>
          </a:bodyPr>
          <a:lstStyle/>
          <a:p>
            <a:pPr lvl="0"/>
            <a:r>
              <a:rPr lang="vi-VN" sz="2400" dirty="0">
                <a:solidFill>
                  <a:schemeClr val="bg1"/>
                </a:solidFill>
                <a:latin typeface="Arial" panose="020B0604020202020204" pitchFamily="34" charset="0"/>
                <a:cs typeface="Arial" panose="020B0604020202020204" pitchFamily="34" charset="0"/>
              </a:rPr>
              <a:t>Cơ chế: Thay đổi địa chỉ IP nguồn trong gói tin thành địa chỉ giả.</a:t>
            </a:r>
          </a:p>
          <a:p>
            <a:pPr lvl="0"/>
            <a:endParaRPr lang="vi-VN" sz="2400" dirty="0">
              <a:solidFill>
                <a:schemeClr val="bg1"/>
              </a:solidFill>
              <a:latin typeface="Arial" panose="020B0604020202020204" pitchFamily="34" charset="0"/>
              <a:cs typeface="Arial" panose="020B0604020202020204" pitchFamily="34" charset="0"/>
            </a:endParaRPr>
          </a:p>
          <a:p>
            <a:pPr lvl="0"/>
            <a:r>
              <a:rPr lang="vi-VN" sz="2400" dirty="0">
                <a:solidFill>
                  <a:schemeClr val="bg1"/>
                </a:solidFill>
                <a:latin typeface="Arial" panose="020B0604020202020204" pitchFamily="34" charset="0"/>
                <a:cs typeface="Arial" panose="020B0604020202020204" pitchFamily="34" charset="0"/>
              </a:rPr>
              <a:t>Mục đích: Che giấu nguồn gửi hoặc giả danh một máy đáng tin cậy.</a:t>
            </a:r>
          </a:p>
          <a:p>
            <a:pPr lvl="0"/>
            <a:endParaRPr lang="vi-VN" sz="2400" dirty="0">
              <a:solidFill>
                <a:schemeClr val="bg1"/>
              </a:solidFill>
              <a:latin typeface="Arial" panose="020B0604020202020204" pitchFamily="34" charset="0"/>
              <a:cs typeface="Arial" panose="020B0604020202020204" pitchFamily="34" charset="0"/>
            </a:endParaRPr>
          </a:p>
          <a:p>
            <a:pPr lvl="0"/>
            <a:r>
              <a:rPr lang="vi-VN" sz="2400" dirty="0">
                <a:solidFill>
                  <a:schemeClr val="bg1"/>
                </a:solidFill>
                <a:latin typeface="Arial" panose="020B0604020202020204" pitchFamily="34" charset="0"/>
                <a:cs typeface="Arial" panose="020B0604020202020204" pitchFamily="34" charset="0"/>
              </a:rPr>
              <a:t>Ảnh hưởng: Có thể vượt qua quy tắc lọc dựa trên IP nếu cấu hình không an toàn.</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p:txBody>
      </p:sp>
      <p:sp>
        <p:nvSpPr>
          <p:cNvPr id="11" name="Freeform 11">
            <a:extLst>
              <a:ext uri="{FF2B5EF4-FFF2-40B4-BE49-F238E27FC236}">
                <a16:creationId xmlns:a16="http://schemas.microsoft.com/office/drawing/2014/main" id="{22379C07-B99B-6096-974A-489130152690}"/>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038D87AA-4F03-2311-6582-B6B0444133D5}"/>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DBB5139F-2603-0305-CBCB-251DE0D01135}"/>
              </a:ext>
            </a:extLst>
          </p:cNvPr>
          <p:cNvSpPr txBox="1"/>
          <p:nvPr/>
        </p:nvSpPr>
        <p:spPr>
          <a:xfrm>
            <a:off x="1028700" y="2427514"/>
            <a:ext cx="8343900" cy="1010148"/>
          </a:xfrm>
          <a:prstGeom prst="rect">
            <a:avLst/>
          </a:prstGeom>
        </p:spPr>
        <p:txBody>
          <a:bodyPr wrap="square" lIns="0" tIns="0" rIns="0" bIns="0" rtlCol="0" anchor="t">
            <a:spAutoFit/>
          </a:bodyPr>
          <a:lstStyle/>
          <a:p>
            <a:pPr marL="0" lvl="0" indent="0" algn="l">
              <a:lnSpc>
                <a:spcPts val="8474"/>
              </a:lnSpc>
            </a:pPr>
            <a:r>
              <a:rPr lang="en-US" sz="6600" spc="-345">
                <a:solidFill>
                  <a:srgbClr val="FFFFFF"/>
                </a:solidFill>
                <a:latin typeface="Arial" panose="020B0604020202020204" pitchFamily="34" charset="0"/>
                <a:ea typeface="Times New Roman"/>
                <a:cs typeface="Arial" panose="020B0604020202020204" pitchFamily="34" charset="0"/>
                <a:sym typeface="Times New Roman"/>
              </a:rPr>
              <a:t>Giả mạo IP (IP Spoofing)</a:t>
            </a:r>
          </a:p>
        </p:txBody>
      </p:sp>
      <p:pic>
        <p:nvPicPr>
          <p:cNvPr id="6" name="Hình ảnh 5" descr="Screenshot3 Wireshark Capture on Attacker PC, ARP Packets">
            <a:extLst>
              <a:ext uri="{FF2B5EF4-FFF2-40B4-BE49-F238E27FC236}">
                <a16:creationId xmlns:a16="http://schemas.microsoft.com/office/drawing/2014/main" id="{005BD690-314C-E629-B9BE-14E8BF758E44}"/>
              </a:ext>
            </a:extLst>
          </p:cNvPr>
          <p:cNvPicPr>
            <a:picLocks noChangeAspect="1"/>
          </p:cNvPicPr>
          <p:nvPr/>
        </p:nvPicPr>
        <p:blipFill>
          <a:blip r:embed="rId5"/>
          <a:stretch>
            <a:fillRect/>
          </a:stretch>
        </p:blipFill>
        <p:spPr>
          <a:xfrm>
            <a:off x="9096090" y="4305300"/>
            <a:ext cx="8163210" cy="3723705"/>
          </a:xfrm>
          <a:prstGeom prst="rect">
            <a:avLst/>
          </a:prstGeom>
        </p:spPr>
      </p:pic>
    </p:spTree>
    <p:extLst>
      <p:ext uri="{BB962C8B-B14F-4D97-AF65-F5344CB8AC3E}">
        <p14:creationId xmlns:p14="http://schemas.microsoft.com/office/powerpoint/2010/main" val="40833318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5007B-E623-D852-6C9B-4353D5707F1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5C4D4EB-ED4B-12E4-9C91-41C0DEC24142}"/>
              </a:ext>
            </a:extLst>
          </p:cNvPr>
          <p:cNvSpPr/>
          <p:nvPr/>
        </p:nvSpPr>
        <p:spPr>
          <a:xfrm>
            <a:off x="-20782" y="-2424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0201EBAB-11B2-D6B2-13A1-22D023ECDF25}"/>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F7F6C572-0A44-D94D-FD77-56E6F4209626}"/>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D298F1A5-0E19-98AE-66B1-E9619D23F029}"/>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509C770F-E30A-653F-96A3-8FB485A667E3}"/>
              </a:ext>
            </a:extLst>
          </p:cNvPr>
          <p:cNvSpPr txBox="1"/>
          <p:nvPr/>
        </p:nvSpPr>
        <p:spPr>
          <a:xfrm>
            <a:off x="1122442" y="4408182"/>
            <a:ext cx="7358743" cy="2954655"/>
          </a:xfrm>
          <a:prstGeom prst="rect">
            <a:avLst/>
          </a:prstGeom>
        </p:spPr>
        <p:txBody>
          <a:bodyPr lIns="0" tIns="0" rIns="0" bIns="0" rtlCol="0" anchor="t">
            <a:spAutoFit/>
          </a:bodyPr>
          <a:lstStyle/>
          <a:p>
            <a:pPr lvl="0"/>
            <a:r>
              <a:rPr lang="vi-VN" sz="2400" dirty="0">
                <a:solidFill>
                  <a:schemeClr val="bg1"/>
                </a:solidFill>
                <a:latin typeface="Arial" panose="020B0604020202020204" pitchFamily="34" charset="0"/>
                <a:cs typeface="Arial" panose="020B0604020202020204" pitchFamily="34" charset="0"/>
              </a:rPr>
              <a:t>Cơ chế: Chỉ định đường đi của gói tin qua các nút mạng.</a:t>
            </a:r>
          </a:p>
          <a:p>
            <a:pPr lvl="0"/>
            <a:endParaRPr lang="vi-VN" sz="2400" dirty="0">
              <a:solidFill>
                <a:schemeClr val="bg1"/>
              </a:solidFill>
              <a:latin typeface="Arial" panose="020B0604020202020204" pitchFamily="34" charset="0"/>
              <a:cs typeface="Arial" panose="020B0604020202020204" pitchFamily="34" charset="0"/>
            </a:endParaRPr>
          </a:p>
          <a:p>
            <a:pPr lvl="0"/>
            <a:r>
              <a:rPr lang="vi-VN" sz="2400" dirty="0">
                <a:solidFill>
                  <a:schemeClr val="bg1"/>
                </a:solidFill>
                <a:latin typeface="Arial" panose="020B0604020202020204" pitchFamily="34" charset="0"/>
                <a:cs typeface="Arial" panose="020B0604020202020204" pitchFamily="34" charset="0"/>
              </a:rPr>
              <a:t>Mục đích: Thử lợi dụng cách tường lửa xử lý đường đi của gói tin.</a:t>
            </a:r>
          </a:p>
          <a:p>
            <a:pPr lvl="0"/>
            <a:endParaRPr lang="vi-VN" sz="2400" dirty="0">
              <a:solidFill>
                <a:schemeClr val="bg1"/>
              </a:solidFill>
              <a:latin typeface="Arial" panose="020B0604020202020204" pitchFamily="34" charset="0"/>
              <a:cs typeface="Arial" panose="020B0604020202020204" pitchFamily="34" charset="0"/>
            </a:endParaRPr>
          </a:p>
          <a:p>
            <a:pPr lvl="0"/>
            <a:r>
              <a:rPr lang="vi-VN" sz="2400" dirty="0">
                <a:solidFill>
                  <a:schemeClr val="bg1"/>
                </a:solidFill>
                <a:latin typeface="Arial" panose="020B0604020202020204" pitchFamily="34" charset="0"/>
                <a:cs typeface="Arial" panose="020B0604020202020204" pitchFamily="34" charset="0"/>
              </a:rPr>
              <a:t>Ảnh hưởng: Có thể làm suy yếu chính sách lọc nếu thiết bị cho phép định tuyến nguồn không an toàn.</a:t>
            </a:r>
          </a:p>
        </p:txBody>
      </p:sp>
      <p:sp>
        <p:nvSpPr>
          <p:cNvPr id="11" name="Freeform 11">
            <a:extLst>
              <a:ext uri="{FF2B5EF4-FFF2-40B4-BE49-F238E27FC236}">
                <a16:creationId xmlns:a16="http://schemas.microsoft.com/office/drawing/2014/main" id="{6C883C68-2E7D-9B2F-E6E9-D560318F9D47}"/>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477CE442-E6B5-C65A-5731-985213BDD440}"/>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BA541EAB-3031-03C6-E618-26A71F0617F8}"/>
              </a:ext>
            </a:extLst>
          </p:cNvPr>
          <p:cNvSpPr txBox="1"/>
          <p:nvPr/>
        </p:nvSpPr>
        <p:spPr>
          <a:xfrm>
            <a:off x="1028700" y="2427514"/>
            <a:ext cx="13449300" cy="1010148"/>
          </a:xfrm>
          <a:prstGeom prst="rect">
            <a:avLst/>
          </a:prstGeom>
        </p:spPr>
        <p:txBody>
          <a:bodyPr wrap="square" lIns="0" tIns="0" rIns="0" bIns="0" rtlCol="0" anchor="t">
            <a:spAutoFit/>
          </a:bodyPr>
          <a:lstStyle/>
          <a:p>
            <a:pPr marL="0" lvl="0" indent="0" algn="l">
              <a:lnSpc>
                <a:spcPts val="8474"/>
              </a:lnSpc>
            </a:pP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Định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tuyến</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nguồn</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(Source Routing)</a:t>
            </a:r>
          </a:p>
        </p:txBody>
      </p:sp>
      <p:pic>
        <p:nvPicPr>
          <p:cNvPr id="7" name="Picture 6">
            <a:extLst>
              <a:ext uri="{FF2B5EF4-FFF2-40B4-BE49-F238E27FC236}">
                <a16:creationId xmlns:a16="http://schemas.microsoft.com/office/drawing/2014/main" id="{E4B41106-49F0-79B6-B7F0-565954C5F206}"/>
              </a:ext>
            </a:extLst>
          </p:cNvPr>
          <p:cNvPicPr>
            <a:picLocks noChangeAspect="1"/>
          </p:cNvPicPr>
          <p:nvPr/>
        </p:nvPicPr>
        <p:blipFill>
          <a:blip r:embed="rId5"/>
          <a:stretch>
            <a:fillRect/>
          </a:stretch>
        </p:blipFill>
        <p:spPr>
          <a:xfrm>
            <a:off x="9982200" y="4408182"/>
            <a:ext cx="7033074" cy="4104777"/>
          </a:xfrm>
          <a:prstGeom prst="rect">
            <a:avLst/>
          </a:prstGeom>
        </p:spPr>
      </p:pic>
    </p:spTree>
    <p:extLst>
      <p:ext uri="{BB962C8B-B14F-4D97-AF65-F5344CB8AC3E}">
        <p14:creationId xmlns:p14="http://schemas.microsoft.com/office/powerpoint/2010/main" val="17324611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8CCA7-2D0B-A02C-C602-C7D0F553149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0A87630-9C4A-36AC-A84D-274996DB61A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44A837EC-E080-0EA9-F50B-ABEEBE0D1F8D}"/>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41B8E574-AA1C-4C57-94BF-00DD30935085}"/>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EDA2FB28-0EA1-F24B-78F9-4798ED366397}"/>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B6963BE3-54DA-2D02-0688-B983BDB47D87}"/>
              </a:ext>
            </a:extLst>
          </p:cNvPr>
          <p:cNvSpPr txBox="1"/>
          <p:nvPr/>
        </p:nvSpPr>
        <p:spPr>
          <a:xfrm>
            <a:off x="1044058" y="4381500"/>
            <a:ext cx="5372100" cy="3693319"/>
          </a:xfrm>
          <a:prstGeom prst="rect">
            <a:avLst/>
          </a:prstGeom>
        </p:spPr>
        <p:txBody>
          <a:bodyPr wrap="square" lIns="0" tIns="0" rIns="0" bIns="0" rtlCol="0" anchor="t">
            <a:spAutoFit/>
          </a:bodyPr>
          <a:lstStyle/>
          <a:p>
            <a:pPr lvl="0"/>
            <a:r>
              <a:rPr lang="vi-VN" sz="2400" dirty="0">
                <a:solidFill>
                  <a:schemeClr val="bg1"/>
                </a:solidFill>
                <a:latin typeface="Arial" panose="020B0604020202020204" pitchFamily="34" charset="0"/>
                <a:cs typeface="Arial" panose="020B0604020202020204" pitchFamily="34" charset="0"/>
              </a:rPr>
              <a:t>Cơ chế: Chia gói IP thành các phân mảnh nhỏ khiến thông tin cần kiểm tra bị tách rời.</a:t>
            </a:r>
          </a:p>
          <a:p>
            <a:pPr lvl="0"/>
            <a:endParaRPr lang="vi-VN" sz="2400" dirty="0">
              <a:solidFill>
                <a:schemeClr val="bg1"/>
              </a:solidFill>
              <a:latin typeface="Arial" panose="020B0604020202020204" pitchFamily="34" charset="0"/>
              <a:cs typeface="Arial" panose="020B0604020202020204" pitchFamily="34" charset="0"/>
            </a:endParaRPr>
          </a:p>
          <a:p>
            <a:pPr lvl="0"/>
            <a:r>
              <a:rPr lang="vi-VN" sz="2400" dirty="0">
                <a:solidFill>
                  <a:schemeClr val="bg1"/>
                </a:solidFill>
                <a:latin typeface="Arial" panose="020B0604020202020204" pitchFamily="34" charset="0"/>
                <a:cs typeface="Arial" panose="020B0604020202020204" pitchFamily="34" charset="0"/>
              </a:rPr>
              <a:t>Mục đích: Lợi dụng khả năng kiểm tra phân mảnh hạn chế của tường lửa.</a:t>
            </a:r>
          </a:p>
          <a:p>
            <a:pPr lvl="0"/>
            <a:endParaRPr lang="vi-VN" sz="2400" dirty="0">
              <a:solidFill>
                <a:schemeClr val="bg1"/>
              </a:solidFill>
              <a:latin typeface="Arial" panose="020B0604020202020204" pitchFamily="34" charset="0"/>
              <a:cs typeface="Arial" panose="020B0604020202020204" pitchFamily="34" charset="0"/>
            </a:endParaRPr>
          </a:p>
          <a:p>
            <a:pPr lvl="0"/>
            <a:r>
              <a:rPr lang="vi-VN" sz="2400" dirty="0">
                <a:solidFill>
                  <a:schemeClr val="bg1"/>
                </a:solidFill>
                <a:latin typeface="Arial" panose="020B0604020202020204" pitchFamily="34" charset="0"/>
                <a:cs typeface="Arial" panose="020B0604020202020204" pitchFamily="34" charset="0"/>
              </a:rPr>
              <a:t>Ảnh hưởng: Một số lưu lượng độc hại có thể không bị phát hiện nếu thiết bị xử lý phân mảnh không nhất quán.</a:t>
            </a:r>
          </a:p>
        </p:txBody>
      </p:sp>
      <p:sp>
        <p:nvSpPr>
          <p:cNvPr id="11" name="Freeform 11">
            <a:extLst>
              <a:ext uri="{FF2B5EF4-FFF2-40B4-BE49-F238E27FC236}">
                <a16:creationId xmlns:a16="http://schemas.microsoft.com/office/drawing/2014/main" id="{FA0BA91B-BA97-DC61-FED4-DCAA5286D381}"/>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59F149D1-C699-5D64-6A77-A1E75A33EE10}"/>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997787D1-4DFD-7C1B-2F98-CD6B37F49827}"/>
              </a:ext>
            </a:extLst>
          </p:cNvPr>
          <p:cNvSpPr txBox="1"/>
          <p:nvPr/>
        </p:nvSpPr>
        <p:spPr>
          <a:xfrm>
            <a:off x="1028700" y="2427514"/>
            <a:ext cx="12306300" cy="1010148"/>
          </a:xfrm>
          <a:prstGeom prst="rect">
            <a:avLst/>
          </a:prstGeom>
        </p:spPr>
        <p:txBody>
          <a:bodyPr wrap="square" lIns="0" tIns="0" rIns="0" bIns="0" rtlCol="0" anchor="t">
            <a:spAutoFit/>
          </a:bodyPr>
          <a:lstStyle/>
          <a:p>
            <a:pPr marL="0" lvl="0" indent="0" algn="l">
              <a:lnSpc>
                <a:spcPts val="8474"/>
              </a:lnSpc>
            </a:pP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Phân</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mảnh</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nhỏ</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(Tiny Fragments)</a:t>
            </a:r>
          </a:p>
        </p:txBody>
      </p:sp>
      <p:pic>
        <p:nvPicPr>
          <p:cNvPr id="9" name="Hình ảnh 8">
            <a:extLst>
              <a:ext uri="{FF2B5EF4-FFF2-40B4-BE49-F238E27FC236}">
                <a16:creationId xmlns:a16="http://schemas.microsoft.com/office/drawing/2014/main" id="{DE9134C5-E12C-E09F-8959-C5A56D52C29E}"/>
              </a:ext>
            </a:extLst>
          </p:cNvPr>
          <p:cNvPicPr>
            <a:picLocks noChangeAspect="1"/>
          </p:cNvPicPr>
          <p:nvPr/>
        </p:nvPicPr>
        <p:blipFill>
          <a:blip r:embed="rId5"/>
          <a:stretch>
            <a:fillRect/>
          </a:stretch>
        </p:blipFill>
        <p:spPr>
          <a:xfrm>
            <a:off x="7181850" y="4354773"/>
            <a:ext cx="10416192" cy="4220713"/>
          </a:xfrm>
          <a:prstGeom prst="rect">
            <a:avLst/>
          </a:prstGeom>
        </p:spPr>
      </p:pic>
    </p:spTree>
    <p:extLst>
      <p:ext uri="{BB962C8B-B14F-4D97-AF65-F5344CB8AC3E}">
        <p14:creationId xmlns:p14="http://schemas.microsoft.com/office/powerpoint/2010/main" val="35962902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34262-8EB5-9B01-7884-E60D16A599C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D168D2C-3FC8-7150-D53D-60DF503D485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8C28D230-5123-151E-B512-D079E3217492}"/>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267687B4-7438-1EF0-7BB2-93683E8FFAFA}"/>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2E4DC219-9867-AF99-BC43-4686247E16EF}"/>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37D5EAB9-D5AE-A62E-38FC-C55F021A7B9D}"/>
              </a:ext>
            </a:extLst>
          </p:cNvPr>
          <p:cNvSpPr txBox="1"/>
          <p:nvPr/>
        </p:nvSpPr>
        <p:spPr>
          <a:xfrm>
            <a:off x="1028700" y="4384037"/>
            <a:ext cx="11163300" cy="2585323"/>
          </a:xfrm>
          <a:prstGeom prst="rect">
            <a:avLst/>
          </a:prstGeom>
        </p:spPr>
        <p:txBody>
          <a:bodyPr wrap="square" lIns="0" tIns="0" rIns="0" bIns="0" rtlCol="0" anchor="t">
            <a:spAutoFit/>
          </a:bodyPr>
          <a:lstStyle/>
          <a:p>
            <a:pPr lvl="0"/>
            <a:r>
              <a:rPr lang="vi-VN" sz="2400" dirty="0">
                <a:solidFill>
                  <a:schemeClr val="bg1"/>
                </a:solidFill>
                <a:latin typeface="Arial" panose="020B0604020202020204" pitchFamily="34" charset="0"/>
                <a:cs typeface="Arial" panose="020B0604020202020204" pitchFamily="34" charset="0"/>
              </a:rPr>
              <a:t>Cơ chế: Truy cập máy chủ bằng địa chỉ IP trực tiếp thay vì tên miền.</a:t>
            </a:r>
          </a:p>
          <a:p>
            <a:pPr lvl="0"/>
            <a:endParaRPr lang="vi-VN" sz="2400" dirty="0">
              <a:solidFill>
                <a:schemeClr val="bg1"/>
              </a:solidFill>
              <a:latin typeface="Arial" panose="020B0604020202020204" pitchFamily="34" charset="0"/>
              <a:cs typeface="Arial" panose="020B0604020202020204" pitchFamily="34" charset="0"/>
            </a:endParaRPr>
          </a:p>
          <a:p>
            <a:pPr lvl="0"/>
            <a:r>
              <a:rPr lang="vi-VN" sz="2400" dirty="0">
                <a:solidFill>
                  <a:schemeClr val="bg1"/>
                </a:solidFill>
                <a:latin typeface="Arial" panose="020B0604020202020204" pitchFamily="34" charset="0"/>
                <a:cs typeface="Arial" panose="020B0604020202020204" pitchFamily="34" charset="0"/>
              </a:rPr>
              <a:t>Mục đích: Thử vượt qua các bộ lọc chỉ dựa trên tên miền hoặc URL.</a:t>
            </a:r>
          </a:p>
          <a:p>
            <a:pPr lvl="0"/>
            <a:endParaRPr lang="vi-VN" sz="2400" dirty="0">
              <a:solidFill>
                <a:schemeClr val="bg1"/>
              </a:solidFill>
              <a:latin typeface="Arial" panose="020B0604020202020204" pitchFamily="34" charset="0"/>
              <a:cs typeface="Arial" panose="020B0604020202020204" pitchFamily="34" charset="0"/>
            </a:endParaRPr>
          </a:p>
          <a:p>
            <a:pPr lvl="0"/>
            <a:r>
              <a:rPr lang="vi-VN" sz="2400" dirty="0">
                <a:solidFill>
                  <a:schemeClr val="bg1"/>
                </a:solidFill>
                <a:latin typeface="Arial" panose="020B0604020202020204" pitchFamily="34" charset="0"/>
                <a:cs typeface="Arial" panose="020B0604020202020204" pitchFamily="34" charset="0"/>
              </a:rPr>
              <a:t>Ảnh hưởng: Chính sách lọc theo tên miền có thể không áp dụng như dự kiến.</a:t>
            </a:r>
          </a:p>
          <a:p>
            <a:pPr lvl="0"/>
            <a:endParaRPr lang="en-US" sz="2400" dirty="0">
              <a:solidFill>
                <a:schemeClr val="bg1"/>
              </a:solidFill>
              <a:latin typeface="Arial" panose="020B0604020202020204" pitchFamily="34" charset="0"/>
              <a:cs typeface="Arial" panose="020B0604020202020204" pitchFamily="34" charset="0"/>
            </a:endParaRPr>
          </a:p>
          <a:p>
            <a:pPr lvl="0"/>
            <a:r>
              <a:rPr lang="en-US" sz="2400" dirty="0" err="1">
                <a:solidFill>
                  <a:schemeClr val="bg1"/>
                </a:solidFill>
                <a:latin typeface="Arial" panose="020B0604020202020204" pitchFamily="34" charset="0"/>
                <a:cs typeface="Arial" panose="020B0604020202020204" pitchFamily="34" charset="0"/>
              </a:rPr>
              <a:t>Ví</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dụ</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thay</a:t>
            </a:r>
            <a:r>
              <a:rPr lang="en-US" sz="2400" dirty="0">
                <a:solidFill>
                  <a:schemeClr val="bg1"/>
                </a:solidFill>
                <a:latin typeface="Arial" panose="020B0604020202020204" pitchFamily="34" charset="0"/>
                <a:cs typeface="Arial" panose="020B0604020202020204" pitchFamily="34" charset="0"/>
              </a:rPr>
              <a:t> </a:t>
            </a:r>
            <a:r>
              <a:rPr lang="vi-VN" sz="2400" dirty="0">
                <a:solidFill>
                  <a:schemeClr val="bg1"/>
                </a:solidFill>
                <a:latin typeface="Arial" panose="020B0604020202020204" pitchFamily="34" charset="0"/>
                <a:cs typeface="Arial" panose="020B0604020202020204" pitchFamily="34" charset="0"/>
              </a:rPr>
              <a:t>vì </a:t>
            </a:r>
            <a:r>
              <a:rPr lang="en-US" sz="2400" dirty="0">
                <a:solidFill>
                  <a:schemeClr val="bg1"/>
                </a:solidFill>
                <a:latin typeface="Arial" panose="020B0604020202020204" pitchFamily="34" charset="0"/>
                <a:cs typeface="Arial" panose="020B0604020202020204" pitchFamily="34" charset="0"/>
              </a:rPr>
              <a:t>google.com =&gt; 142.250.197.46</a:t>
            </a:r>
            <a:endParaRPr lang="vi-VN" sz="2400" dirty="0">
              <a:solidFill>
                <a:schemeClr val="bg1"/>
              </a:solidFill>
              <a:latin typeface="Arial" panose="020B0604020202020204" pitchFamily="34" charset="0"/>
              <a:cs typeface="Arial" panose="020B0604020202020204" pitchFamily="34" charset="0"/>
            </a:endParaRPr>
          </a:p>
        </p:txBody>
      </p:sp>
      <p:sp>
        <p:nvSpPr>
          <p:cNvPr id="11" name="Freeform 11">
            <a:extLst>
              <a:ext uri="{FF2B5EF4-FFF2-40B4-BE49-F238E27FC236}">
                <a16:creationId xmlns:a16="http://schemas.microsoft.com/office/drawing/2014/main" id="{A92ABD0E-F95D-E7A0-C201-AABB20416DBE}"/>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814DBEC0-0278-B50C-3FE3-F519E18A301E}"/>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0116DC30-3FEB-4262-0E2F-31C08325E8FF}"/>
              </a:ext>
            </a:extLst>
          </p:cNvPr>
          <p:cNvSpPr txBox="1"/>
          <p:nvPr/>
        </p:nvSpPr>
        <p:spPr>
          <a:xfrm>
            <a:off x="1028700" y="2427514"/>
            <a:ext cx="12915900" cy="1010148"/>
          </a:xfrm>
          <a:prstGeom prst="rect">
            <a:avLst/>
          </a:prstGeom>
        </p:spPr>
        <p:txBody>
          <a:bodyPr wrap="square" lIns="0" tIns="0" rIns="0" bIns="0" rtlCol="0" anchor="t">
            <a:spAutoFit/>
          </a:bodyPr>
          <a:lstStyle/>
          <a:p>
            <a:pPr marL="0" lvl="0" indent="0" algn="l">
              <a:lnSpc>
                <a:spcPts val="8474"/>
              </a:lnSpc>
            </a:pP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Sử</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dụng</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địa</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chỉ</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IP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thay</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cho</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URL</a:t>
            </a:r>
          </a:p>
        </p:txBody>
      </p:sp>
    </p:spTree>
    <p:extLst>
      <p:ext uri="{BB962C8B-B14F-4D97-AF65-F5344CB8AC3E}">
        <p14:creationId xmlns:p14="http://schemas.microsoft.com/office/powerpoint/2010/main" val="2202154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56597-D191-7D96-9BF8-0F4D0FE0337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53F08E6-DCC7-D2A4-C24F-700BEA7FE2B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6E45CC17-C9D8-CD43-24D0-1B137E951E70}"/>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BFC0A87A-F6F6-1B1B-318E-235176397ACE}"/>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A0030A9E-6AD4-C4C8-6F7F-3935115DDBF2}"/>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AB72BCD6-A2C2-49DC-696A-E8C330245ACA}"/>
              </a:ext>
            </a:extLst>
          </p:cNvPr>
          <p:cNvSpPr txBox="1"/>
          <p:nvPr/>
        </p:nvSpPr>
        <p:spPr>
          <a:xfrm>
            <a:off x="892629" y="6004680"/>
            <a:ext cx="7358743" cy="3303533"/>
          </a:xfrm>
          <a:prstGeom prst="rect">
            <a:avLst/>
          </a:prstGeom>
        </p:spPr>
        <p:txBody>
          <a:bodyPr lIns="0" tIns="0" rIns="0" bIns="0" rtlCol="0" anchor="t">
            <a:spAutoFit/>
          </a:bodyPr>
          <a:lstStyle/>
          <a:p>
            <a:pPr lvl="0"/>
            <a:r>
              <a:rPr lang="vi-VN" sz="2400" dirty="0">
                <a:solidFill>
                  <a:schemeClr val="bg1"/>
                </a:solidFill>
                <a:latin typeface="Arial" panose="020B0604020202020204" pitchFamily="34" charset="0"/>
                <a:cs typeface="Arial" panose="020B0604020202020204" pitchFamily="34" charset="0"/>
              </a:rPr>
              <a:t>Cơ chế: Chuyển tiếp yêu cầu truy cập thông qua máy chủ trung gian.</a:t>
            </a:r>
          </a:p>
          <a:p>
            <a:pPr lvl="0"/>
            <a:endParaRPr lang="vi-VN" sz="2400" dirty="0">
              <a:solidFill>
                <a:schemeClr val="bg1"/>
              </a:solidFill>
              <a:latin typeface="Arial" panose="020B0604020202020204" pitchFamily="34" charset="0"/>
              <a:cs typeface="Arial" panose="020B0604020202020204" pitchFamily="34" charset="0"/>
            </a:endParaRPr>
          </a:p>
          <a:p>
            <a:pPr lvl="0"/>
            <a:r>
              <a:rPr lang="vi-VN" sz="2400" dirty="0">
                <a:solidFill>
                  <a:schemeClr val="bg1"/>
                </a:solidFill>
                <a:latin typeface="Arial" panose="020B0604020202020204" pitchFamily="34" charset="0"/>
                <a:cs typeface="Arial" panose="020B0604020202020204" pitchFamily="34" charset="0"/>
              </a:rPr>
              <a:t>Mục đích: Che giấu địa chỉ đích hoặc nguồn truy cập trực tiếp.</a:t>
            </a:r>
          </a:p>
          <a:p>
            <a:pPr lvl="0"/>
            <a:endParaRPr lang="vi-VN" sz="2400" dirty="0">
              <a:solidFill>
                <a:schemeClr val="bg1"/>
              </a:solidFill>
              <a:latin typeface="Arial" panose="020B0604020202020204" pitchFamily="34" charset="0"/>
              <a:cs typeface="Arial" panose="020B0604020202020204" pitchFamily="34" charset="0"/>
            </a:endParaRPr>
          </a:p>
          <a:p>
            <a:pPr lvl="0"/>
            <a:r>
              <a:rPr lang="vi-VN" sz="2400" dirty="0">
                <a:solidFill>
                  <a:schemeClr val="bg1"/>
                </a:solidFill>
                <a:latin typeface="Arial" panose="020B0604020202020204" pitchFamily="34" charset="0"/>
                <a:cs typeface="Arial" panose="020B0604020202020204" pitchFamily="34" charset="0"/>
              </a:rPr>
              <a:t>Ảnh hưởng: Gây khó khăn cho việc kiểm soát và ghi nhận lưu lượng nếu </a:t>
            </a:r>
            <a:r>
              <a:rPr lang="vi-VN" sz="2400" dirty="0" err="1">
                <a:solidFill>
                  <a:schemeClr val="bg1"/>
                </a:solidFill>
                <a:latin typeface="Arial" panose="020B0604020202020204" pitchFamily="34" charset="0"/>
                <a:cs typeface="Arial" panose="020B0604020202020204" pitchFamily="34" charset="0"/>
              </a:rPr>
              <a:t>proxy</a:t>
            </a:r>
            <a:r>
              <a:rPr lang="vi-VN" sz="2400" dirty="0">
                <a:solidFill>
                  <a:schemeClr val="bg1"/>
                </a:solidFill>
                <a:latin typeface="Arial" panose="020B0604020202020204" pitchFamily="34" charset="0"/>
                <a:cs typeface="Arial" panose="020B0604020202020204" pitchFamily="34" charset="0"/>
              </a:rPr>
              <a:t> không được quản lý.</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p:txBody>
      </p:sp>
      <p:sp>
        <p:nvSpPr>
          <p:cNvPr id="11" name="Freeform 11">
            <a:extLst>
              <a:ext uri="{FF2B5EF4-FFF2-40B4-BE49-F238E27FC236}">
                <a16:creationId xmlns:a16="http://schemas.microsoft.com/office/drawing/2014/main" id="{C687CFB2-D045-A173-FEFE-332F76EDD64E}"/>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BF3FC124-1DA4-8EB4-7303-ED5A4290C536}"/>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9B408DD8-C0D9-99B9-7458-11EB48D28EA8}"/>
              </a:ext>
            </a:extLst>
          </p:cNvPr>
          <p:cNvSpPr txBox="1"/>
          <p:nvPr/>
        </p:nvSpPr>
        <p:spPr>
          <a:xfrm>
            <a:off x="1028700" y="2427514"/>
            <a:ext cx="13068300" cy="1010148"/>
          </a:xfrm>
          <a:prstGeom prst="rect">
            <a:avLst/>
          </a:prstGeom>
        </p:spPr>
        <p:txBody>
          <a:bodyPr wrap="square" lIns="0" tIns="0" rIns="0" bIns="0" rtlCol="0" anchor="t">
            <a:spAutoFit/>
          </a:bodyPr>
          <a:lstStyle/>
          <a:p>
            <a:pPr marL="0" lvl="0" indent="0" algn="l">
              <a:lnSpc>
                <a:spcPts val="8474"/>
              </a:lnSpc>
            </a:pPr>
            <a:r>
              <a:rPr lang="en-US" sz="6600" spc="-345">
                <a:solidFill>
                  <a:srgbClr val="FFFFFF"/>
                </a:solidFill>
                <a:latin typeface="Arial" panose="020B0604020202020204" pitchFamily="34" charset="0"/>
                <a:ea typeface="Times New Roman"/>
                <a:cs typeface="Arial" panose="020B0604020202020204" pitchFamily="34" charset="0"/>
                <a:sym typeface="Times New Roman"/>
              </a:rPr>
              <a:t>Máy chủ Proxy và trang Web ẩn danh</a:t>
            </a:r>
          </a:p>
        </p:txBody>
      </p:sp>
      <p:sp>
        <p:nvSpPr>
          <p:cNvPr id="7" name="TextBox 10">
            <a:extLst>
              <a:ext uri="{FF2B5EF4-FFF2-40B4-BE49-F238E27FC236}">
                <a16:creationId xmlns:a16="http://schemas.microsoft.com/office/drawing/2014/main" id="{3F3FED77-74DD-8425-FD2F-60663A6BE03B}"/>
              </a:ext>
            </a:extLst>
          </p:cNvPr>
          <p:cNvSpPr txBox="1"/>
          <p:nvPr/>
        </p:nvSpPr>
        <p:spPr>
          <a:xfrm>
            <a:off x="9115926" y="6021671"/>
            <a:ext cx="7358743" cy="3303533"/>
          </a:xfrm>
          <a:prstGeom prst="rect">
            <a:avLst/>
          </a:prstGeom>
        </p:spPr>
        <p:txBody>
          <a:bodyPr lIns="0" tIns="0" rIns="0" bIns="0" rtlCol="0" anchor="t">
            <a:spAutoFit/>
          </a:bodyPr>
          <a:lstStyle/>
          <a:p>
            <a:pPr lvl="0"/>
            <a:r>
              <a:rPr lang="vi-VN" sz="2400" dirty="0">
                <a:solidFill>
                  <a:schemeClr val="bg1"/>
                </a:solidFill>
                <a:latin typeface="Arial" panose="020B0604020202020204" pitchFamily="34" charset="0"/>
                <a:cs typeface="Arial" panose="020B0604020202020204" pitchFamily="34" charset="0"/>
              </a:rPr>
              <a:t>Cơ chế: Truy cập trang </a:t>
            </a:r>
            <a:r>
              <a:rPr lang="vi-VN" sz="2400" dirty="0" err="1">
                <a:solidFill>
                  <a:schemeClr val="bg1"/>
                </a:solidFill>
                <a:latin typeface="Arial" panose="020B0604020202020204" pitchFamily="34" charset="0"/>
                <a:cs typeface="Arial" panose="020B0604020202020204" pitchFamily="34" charset="0"/>
              </a:rPr>
              <a:t>web</a:t>
            </a:r>
            <a:r>
              <a:rPr lang="vi-VN" sz="2400" dirty="0">
                <a:solidFill>
                  <a:schemeClr val="bg1"/>
                </a:solidFill>
                <a:latin typeface="Arial" panose="020B0604020202020204" pitchFamily="34" charset="0"/>
                <a:cs typeface="Arial" panose="020B0604020202020204" pitchFamily="34" charset="0"/>
              </a:rPr>
              <a:t> thông qua một dịch vụ trung gian trên </a:t>
            </a:r>
            <a:r>
              <a:rPr lang="vi-VN" sz="2400" dirty="0" err="1">
                <a:solidFill>
                  <a:schemeClr val="bg1"/>
                </a:solidFill>
                <a:latin typeface="Arial" panose="020B0604020202020204" pitchFamily="34" charset="0"/>
                <a:cs typeface="Arial" panose="020B0604020202020204" pitchFamily="34" charset="0"/>
              </a:rPr>
              <a:t>Internet</a:t>
            </a:r>
            <a:r>
              <a:rPr lang="vi-VN" sz="2400" dirty="0">
                <a:solidFill>
                  <a:schemeClr val="bg1"/>
                </a:solidFill>
                <a:latin typeface="Arial" panose="020B0604020202020204" pitchFamily="34" charset="0"/>
                <a:cs typeface="Arial" panose="020B0604020202020204" pitchFamily="34" charset="0"/>
              </a:rPr>
              <a:t>.</a:t>
            </a:r>
          </a:p>
          <a:p>
            <a:pPr lvl="0"/>
            <a:endParaRPr lang="vi-VN" sz="2400" dirty="0">
              <a:solidFill>
                <a:schemeClr val="bg1"/>
              </a:solidFill>
              <a:latin typeface="Arial" panose="020B0604020202020204" pitchFamily="34" charset="0"/>
              <a:cs typeface="Arial" panose="020B0604020202020204" pitchFamily="34" charset="0"/>
            </a:endParaRPr>
          </a:p>
          <a:p>
            <a:pPr lvl="0"/>
            <a:r>
              <a:rPr lang="vi-VN" sz="2400" dirty="0">
                <a:solidFill>
                  <a:schemeClr val="bg1"/>
                </a:solidFill>
                <a:latin typeface="Arial" panose="020B0604020202020204" pitchFamily="34" charset="0"/>
                <a:cs typeface="Arial" panose="020B0604020202020204" pitchFamily="34" charset="0"/>
              </a:rPr>
              <a:t>Mục đích: Truy cập nội dung bị hạn chế bởi chính sách lọc trực tiếp.</a:t>
            </a:r>
          </a:p>
          <a:p>
            <a:pPr lvl="0"/>
            <a:endParaRPr lang="vi-VN" sz="2400" dirty="0">
              <a:solidFill>
                <a:schemeClr val="bg1"/>
              </a:solidFill>
              <a:latin typeface="Arial" panose="020B0604020202020204" pitchFamily="34" charset="0"/>
              <a:cs typeface="Arial" panose="020B0604020202020204" pitchFamily="34" charset="0"/>
            </a:endParaRPr>
          </a:p>
          <a:p>
            <a:pPr lvl="0"/>
            <a:r>
              <a:rPr lang="vi-VN" sz="2400" dirty="0">
                <a:solidFill>
                  <a:schemeClr val="bg1"/>
                </a:solidFill>
                <a:latin typeface="Arial" panose="020B0604020202020204" pitchFamily="34" charset="0"/>
                <a:cs typeface="Arial" panose="020B0604020202020204" pitchFamily="34" charset="0"/>
              </a:rPr>
              <a:t>Ảnh hưởng: Có thể làm giảm hiệu quả của bộ lọc URL nếu dịch vụ trung gian chưa bị kiểm soát.</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p:txBody>
      </p:sp>
      <p:sp>
        <p:nvSpPr>
          <p:cNvPr id="9" name="TextBox 13">
            <a:extLst>
              <a:ext uri="{FF2B5EF4-FFF2-40B4-BE49-F238E27FC236}">
                <a16:creationId xmlns:a16="http://schemas.microsoft.com/office/drawing/2014/main" id="{FBD5A1A5-C273-F78B-E7D7-722B9EE0B045}"/>
              </a:ext>
            </a:extLst>
          </p:cNvPr>
          <p:cNvSpPr txBox="1"/>
          <p:nvPr/>
        </p:nvSpPr>
        <p:spPr>
          <a:xfrm>
            <a:off x="9005350" y="4420850"/>
            <a:ext cx="8343900" cy="934295"/>
          </a:xfrm>
          <a:prstGeom prst="rect">
            <a:avLst/>
          </a:prstGeom>
        </p:spPr>
        <p:txBody>
          <a:bodyPr wrap="square" lIns="0" tIns="0" rIns="0" bIns="0" rtlCol="0" anchor="t">
            <a:spAutoFit/>
          </a:bodyPr>
          <a:lstStyle/>
          <a:p>
            <a:pPr marL="0" lvl="0" indent="0" algn="l">
              <a:lnSpc>
                <a:spcPts val="8474"/>
              </a:lnSpc>
            </a:pPr>
            <a:r>
              <a:rPr lang="en-US" sz="4000" spc="-345">
                <a:solidFill>
                  <a:srgbClr val="FFFFFF"/>
                </a:solidFill>
                <a:latin typeface="Arial" panose="020B0604020202020204" pitchFamily="34" charset="0"/>
                <a:ea typeface="Times New Roman"/>
                <a:cs typeface="Arial" panose="020B0604020202020204" pitchFamily="34" charset="0"/>
                <a:sym typeface="Times New Roman"/>
              </a:rPr>
              <a:t>Trang Web ẩn danh</a:t>
            </a:r>
          </a:p>
        </p:txBody>
      </p:sp>
      <p:sp>
        <p:nvSpPr>
          <p:cNvPr id="15" name="TextBox 13">
            <a:extLst>
              <a:ext uri="{FF2B5EF4-FFF2-40B4-BE49-F238E27FC236}">
                <a16:creationId xmlns:a16="http://schemas.microsoft.com/office/drawing/2014/main" id="{5EBF2AB5-E0A9-D400-1C07-5556935B46FE}"/>
              </a:ext>
            </a:extLst>
          </p:cNvPr>
          <p:cNvSpPr txBox="1"/>
          <p:nvPr/>
        </p:nvSpPr>
        <p:spPr>
          <a:xfrm>
            <a:off x="892629" y="4391056"/>
            <a:ext cx="8343900" cy="934295"/>
          </a:xfrm>
          <a:prstGeom prst="rect">
            <a:avLst/>
          </a:prstGeom>
        </p:spPr>
        <p:txBody>
          <a:bodyPr wrap="square" lIns="0" tIns="0" rIns="0" bIns="0" rtlCol="0" anchor="t">
            <a:spAutoFit/>
          </a:bodyPr>
          <a:lstStyle/>
          <a:p>
            <a:pPr marL="0" lvl="0" indent="0" algn="l">
              <a:lnSpc>
                <a:spcPts val="8474"/>
              </a:lnSpc>
            </a:pPr>
            <a:r>
              <a:rPr lang="en-US" sz="4000" spc="-345">
                <a:solidFill>
                  <a:srgbClr val="FFFFFF"/>
                </a:solidFill>
                <a:latin typeface="Arial" panose="020B0604020202020204" pitchFamily="34" charset="0"/>
                <a:ea typeface="Times New Roman"/>
                <a:cs typeface="Arial" panose="020B0604020202020204" pitchFamily="34" charset="0"/>
                <a:sym typeface="Times New Roman"/>
              </a:rPr>
              <a:t>Máy chủ Proxy</a:t>
            </a:r>
          </a:p>
        </p:txBody>
      </p:sp>
    </p:spTree>
    <p:extLst>
      <p:ext uri="{BB962C8B-B14F-4D97-AF65-F5344CB8AC3E}">
        <p14:creationId xmlns:p14="http://schemas.microsoft.com/office/powerpoint/2010/main" val="13178572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04189-B752-9B24-EE91-7C7A9FD3BE8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3AE6E46-C74B-E1D7-4444-0CD565A43AD4}"/>
              </a:ext>
            </a:extLst>
          </p:cNvPr>
          <p:cNvSpPr/>
          <p:nvPr/>
        </p:nvSpPr>
        <p:spPr>
          <a:xfrm>
            <a:off x="0" y="-5118"/>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04ED9964-3680-0A1A-C9C1-BE2F931F42BE}"/>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57926AB6-7CD8-E592-FA89-C91C65619ED0}"/>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69A31E45-4B9C-A77F-89B2-90902F9A8240}"/>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2BA4479E-5DDA-A304-6CC1-BC925E1A9D1C}"/>
              </a:ext>
            </a:extLst>
          </p:cNvPr>
          <p:cNvSpPr txBox="1"/>
          <p:nvPr/>
        </p:nvSpPr>
        <p:spPr>
          <a:xfrm>
            <a:off x="1018464" y="3847537"/>
            <a:ext cx="7358743" cy="4801314"/>
          </a:xfrm>
          <a:prstGeom prst="rect">
            <a:avLst/>
          </a:prstGeom>
        </p:spPr>
        <p:txBody>
          <a:bodyPr lIns="0" tIns="0" rIns="0" bIns="0" rtlCol="0" anchor="t">
            <a:spAutoFit/>
          </a:bodyPr>
          <a:lstStyle/>
          <a:p>
            <a:pPr lvl="0"/>
            <a:r>
              <a:rPr lang="vi-VN" sz="2400" dirty="0">
                <a:solidFill>
                  <a:schemeClr val="bg1"/>
                </a:solidFill>
                <a:latin typeface="Arial" panose="020B0604020202020204" pitchFamily="34" charset="0"/>
                <a:cs typeface="Arial" panose="020B0604020202020204" pitchFamily="34" charset="0"/>
              </a:rPr>
              <a:t>Đường hầm: Hiểu như là 1 dạng đóng gói giao thức chính bằng giao thức khác, nói cách khác là VPN</a:t>
            </a:r>
          </a:p>
          <a:p>
            <a:pPr lvl="0"/>
            <a:endParaRPr lang="vi-VN" sz="2400" dirty="0">
              <a:solidFill>
                <a:schemeClr val="bg1"/>
              </a:solidFill>
              <a:latin typeface="Arial" panose="020B0604020202020204" pitchFamily="34" charset="0"/>
              <a:cs typeface="Arial" panose="020B0604020202020204" pitchFamily="34" charset="0"/>
            </a:endParaRPr>
          </a:p>
          <a:p>
            <a:pPr lvl="0"/>
            <a:r>
              <a:rPr lang="vi-VN" sz="2400" dirty="0">
                <a:solidFill>
                  <a:schemeClr val="bg1"/>
                </a:solidFill>
                <a:latin typeface="Arial" panose="020B0604020202020204" pitchFamily="34" charset="0"/>
                <a:cs typeface="Arial" panose="020B0604020202020204" pitchFamily="34" charset="0"/>
              </a:rPr>
              <a:t>Cơ chế: Truyền dữ liệu thông qua các giao thức như ICMP, TCP ACK, HTTP/HTTPS, SSH và DNS để tạo kênh truyền ẩn.</a:t>
            </a:r>
          </a:p>
          <a:p>
            <a:pPr lvl="0"/>
            <a:endParaRPr lang="en-US" sz="2400" dirty="0">
              <a:solidFill>
                <a:schemeClr val="bg1"/>
              </a:solidFill>
              <a:latin typeface="Arial" panose="020B0604020202020204" pitchFamily="34" charset="0"/>
              <a:cs typeface="Arial" panose="020B0604020202020204" pitchFamily="34" charset="0"/>
            </a:endParaRPr>
          </a:p>
          <a:p>
            <a:pPr lvl="0"/>
            <a:r>
              <a:rPr lang="vi-VN" sz="2400" dirty="0">
                <a:solidFill>
                  <a:schemeClr val="bg1"/>
                </a:solidFill>
                <a:latin typeface="Arial" panose="020B0604020202020204" pitchFamily="34" charset="0"/>
                <a:cs typeface="Arial" panose="020B0604020202020204" pitchFamily="34" charset="0"/>
              </a:rPr>
              <a:t>Mục đích: Vượt qua quy tắc lọc của </a:t>
            </a:r>
            <a:r>
              <a:rPr lang="vi-VN" sz="2400" dirty="0" err="1">
                <a:solidFill>
                  <a:schemeClr val="bg1"/>
                </a:solidFill>
                <a:latin typeface="Arial" panose="020B0604020202020204" pitchFamily="34" charset="0"/>
                <a:cs typeface="Arial" panose="020B0604020202020204" pitchFamily="34" charset="0"/>
              </a:rPr>
              <a:t>Firewall</a:t>
            </a:r>
            <a:r>
              <a:rPr lang="vi-VN" sz="2400" dirty="0">
                <a:solidFill>
                  <a:schemeClr val="bg1"/>
                </a:solidFill>
                <a:latin typeface="Arial" panose="020B0604020202020204" pitchFamily="34" charset="0"/>
                <a:cs typeface="Arial" panose="020B0604020202020204" pitchFamily="34" charset="0"/>
              </a:rPr>
              <a:t>, thiết lập kênh trao đổi dữ liệu bí mật.</a:t>
            </a:r>
            <a:endParaRPr lang="en-US" sz="2400" dirty="0">
              <a:solidFill>
                <a:schemeClr val="bg1"/>
              </a:solidFill>
              <a:latin typeface="Arial" panose="020B0604020202020204" pitchFamily="34" charset="0"/>
              <a:cs typeface="Arial" panose="020B0604020202020204" pitchFamily="34" charset="0"/>
            </a:endParaRPr>
          </a:p>
          <a:p>
            <a:pPr lvl="0"/>
            <a:endParaRPr lang="vi-VN" sz="2400" dirty="0">
              <a:solidFill>
                <a:schemeClr val="bg1"/>
              </a:solidFill>
              <a:latin typeface="Arial" panose="020B0604020202020204" pitchFamily="34" charset="0"/>
              <a:cs typeface="Arial" panose="020B0604020202020204" pitchFamily="34" charset="0"/>
            </a:endParaRPr>
          </a:p>
          <a:p>
            <a:pPr lvl="0"/>
            <a:r>
              <a:rPr lang="vi-VN" sz="2400" dirty="0">
                <a:solidFill>
                  <a:schemeClr val="bg1"/>
                </a:solidFill>
                <a:latin typeface="Arial" panose="020B0604020202020204" pitchFamily="34" charset="0"/>
                <a:cs typeface="Arial" panose="020B0604020202020204" pitchFamily="34" charset="0"/>
              </a:rPr>
              <a:t>Ảnh hưởng: Có thể gây rò rỉ dữ liệu, truyền dữ liệu trái phép và gây khó khăn cho việc phát hiện của </a:t>
            </a:r>
            <a:r>
              <a:rPr lang="vi-VN" sz="2400" dirty="0" err="1">
                <a:solidFill>
                  <a:schemeClr val="bg1"/>
                </a:solidFill>
                <a:latin typeface="Arial" panose="020B0604020202020204" pitchFamily="34" charset="0"/>
                <a:cs typeface="Arial" panose="020B0604020202020204" pitchFamily="34" charset="0"/>
              </a:rPr>
              <a:t>Firewall</a:t>
            </a:r>
            <a:r>
              <a:rPr lang="vi-VN" sz="2400" dirty="0">
                <a:solidFill>
                  <a:schemeClr val="bg1"/>
                </a:solidFill>
                <a:latin typeface="Arial" panose="020B0604020202020204" pitchFamily="34" charset="0"/>
                <a:cs typeface="Arial" panose="020B0604020202020204" pitchFamily="34" charset="0"/>
              </a:rPr>
              <a:t> nếu không có DPI</a:t>
            </a:r>
            <a:endParaRPr lang="vi-VN" sz="2398" dirty="0">
              <a:solidFill>
                <a:srgbClr val="FFFFFF"/>
              </a:solidFill>
              <a:latin typeface="Arial" panose="020B0604020202020204" pitchFamily="34" charset="0"/>
              <a:ea typeface="Poppins"/>
              <a:cs typeface="Arial" panose="020B0604020202020204" pitchFamily="34" charset="0"/>
              <a:sym typeface="Poppins"/>
            </a:endParaRPr>
          </a:p>
        </p:txBody>
      </p:sp>
      <p:sp>
        <p:nvSpPr>
          <p:cNvPr id="11" name="Freeform 11">
            <a:extLst>
              <a:ext uri="{FF2B5EF4-FFF2-40B4-BE49-F238E27FC236}">
                <a16:creationId xmlns:a16="http://schemas.microsoft.com/office/drawing/2014/main" id="{789C94B1-8A33-D969-2790-ABEC1AE58ED8}"/>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55DE8C03-EBBC-A461-2183-B1CF696E75DA}"/>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ECC8B002-16F3-DADF-0174-25908086C76F}"/>
              </a:ext>
            </a:extLst>
          </p:cNvPr>
          <p:cNvSpPr txBox="1"/>
          <p:nvPr/>
        </p:nvSpPr>
        <p:spPr>
          <a:xfrm>
            <a:off x="1028700" y="2427514"/>
            <a:ext cx="8343900" cy="1010148"/>
          </a:xfrm>
          <a:prstGeom prst="rect">
            <a:avLst/>
          </a:prstGeom>
        </p:spPr>
        <p:txBody>
          <a:bodyPr wrap="square" lIns="0" tIns="0" rIns="0" bIns="0" rtlCol="0" anchor="t">
            <a:spAutoFit/>
          </a:bodyPr>
          <a:lstStyle/>
          <a:p>
            <a:pPr marL="0" lvl="0" indent="0" algn="l">
              <a:lnSpc>
                <a:spcPts val="8474"/>
              </a:lnSpc>
            </a:pP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Đường</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hầm</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(Tunneling) </a:t>
            </a:r>
          </a:p>
        </p:txBody>
      </p:sp>
      <p:pic>
        <p:nvPicPr>
          <p:cNvPr id="6" name="Hình ảnh 5" descr="What Is VPN Obfuscation &amp; Why Do You Need It?">
            <a:extLst>
              <a:ext uri="{FF2B5EF4-FFF2-40B4-BE49-F238E27FC236}">
                <a16:creationId xmlns:a16="http://schemas.microsoft.com/office/drawing/2014/main" id="{E645AEC4-F5AA-6DD1-035A-74108BCD4AB4}"/>
              </a:ext>
            </a:extLst>
          </p:cNvPr>
          <p:cNvPicPr>
            <a:picLocks noChangeAspect="1"/>
          </p:cNvPicPr>
          <p:nvPr/>
        </p:nvPicPr>
        <p:blipFill>
          <a:blip r:embed="rId5"/>
          <a:stretch>
            <a:fillRect/>
          </a:stretch>
        </p:blipFill>
        <p:spPr>
          <a:xfrm>
            <a:off x="8915400" y="3849808"/>
            <a:ext cx="8343900" cy="4738438"/>
          </a:xfrm>
          <a:prstGeom prst="rect">
            <a:avLst/>
          </a:prstGeom>
        </p:spPr>
      </p:pic>
    </p:spTree>
    <p:extLst>
      <p:ext uri="{BB962C8B-B14F-4D97-AF65-F5344CB8AC3E}">
        <p14:creationId xmlns:p14="http://schemas.microsoft.com/office/powerpoint/2010/main" val="15521176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6B5CF-D27F-86A1-1BFE-40167654A44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D5EFD55-4DC9-5002-E15D-80104AC4A59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B14ACC81-18C3-3E01-9FDB-8DE7CEA1A104}"/>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2F52797B-1284-0995-1B5D-6F694459F2EA}"/>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F71CB031-A150-FEC0-29BE-3720B166E747}"/>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9F4F6044-9C19-17AD-8E83-E1ACD14B5FD0}"/>
              </a:ext>
            </a:extLst>
          </p:cNvPr>
          <p:cNvSpPr txBox="1"/>
          <p:nvPr/>
        </p:nvSpPr>
        <p:spPr>
          <a:xfrm>
            <a:off x="1050309" y="3961899"/>
            <a:ext cx="14820900" cy="1107676"/>
          </a:xfrm>
          <a:prstGeom prst="rect">
            <a:avLst/>
          </a:prstGeom>
        </p:spPr>
        <p:txBody>
          <a:bodyPr wrap="square" lIns="0" tIns="0" rIns="0" bIns="0" rtlCol="0" anchor="t">
            <a:spAutoFit/>
          </a:bodyPr>
          <a:lstStyle/>
          <a:p>
            <a:pPr marL="342900" lvl="0" indent="-342900">
              <a:buFont typeface="Arial" panose="020B0604020202020204" pitchFamily="34" charset="0"/>
              <a:buChar char="•"/>
            </a:pPr>
            <a:r>
              <a:rPr lang="en-US" sz="2400" dirty="0" err="1">
                <a:solidFill>
                  <a:schemeClr val="bg1"/>
                </a:solidFill>
                <a:latin typeface="Arial" panose="020B0604020202020204" pitchFamily="34" charset="0"/>
                <a:ea typeface="Poppins"/>
                <a:cs typeface="Arial" panose="020B0604020202020204" pitchFamily="34" charset="0"/>
                <a:sym typeface="Poppins"/>
              </a:rPr>
              <a:t>Sử</a:t>
            </a:r>
            <a:r>
              <a:rPr lang="en-US" sz="2400" dirty="0">
                <a:solidFill>
                  <a:schemeClr val="bg1"/>
                </a:solidFill>
                <a:latin typeface="Arial" panose="020B0604020202020204" pitchFamily="34" charset="0"/>
                <a:ea typeface="Poppins"/>
                <a:cs typeface="Arial" panose="020B0604020202020204" pitchFamily="34" charset="0"/>
                <a:sym typeface="Poppins"/>
              </a:rPr>
              <a:t> </a:t>
            </a:r>
            <a:r>
              <a:rPr lang="en-US" sz="2400" dirty="0" err="1">
                <a:solidFill>
                  <a:schemeClr val="bg1"/>
                </a:solidFill>
                <a:latin typeface="Arial" panose="020B0604020202020204" pitchFamily="34" charset="0"/>
                <a:ea typeface="Poppins"/>
                <a:cs typeface="Arial" panose="020B0604020202020204" pitchFamily="34" charset="0"/>
                <a:sym typeface="Poppins"/>
              </a:rPr>
              <a:t>dụng</a:t>
            </a:r>
            <a:r>
              <a:rPr lang="en-US" sz="2400" dirty="0">
                <a:solidFill>
                  <a:schemeClr val="bg1"/>
                </a:solidFill>
                <a:latin typeface="Arial" panose="020B0604020202020204" pitchFamily="34" charset="0"/>
                <a:ea typeface="Poppins"/>
                <a:cs typeface="Arial" panose="020B0604020202020204" pitchFamily="34" charset="0"/>
                <a:sym typeface="Poppins"/>
              </a:rPr>
              <a:t> </a:t>
            </a:r>
            <a:r>
              <a:rPr lang="en-US" sz="2400" dirty="0" err="1">
                <a:solidFill>
                  <a:schemeClr val="bg1"/>
                </a:solidFill>
                <a:latin typeface="Arial" panose="020B0604020202020204" pitchFamily="34" charset="0"/>
                <a:ea typeface="Poppins"/>
                <a:cs typeface="Arial" panose="020B0604020202020204" pitchFamily="34" charset="0"/>
                <a:sym typeface="Poppins"/>
              </a:rPr>
              <a:t>hệ</a:t>
            </a:r>
            <a:r>
              <a:rPr lang="en-US" sz="2400" dirty="0">
                <a:solidFill>
                  <a:schemeClr val="bg1"/>
                </a:solidFill>
                <a:latin typeface="Arial" panose="020B0604020202020204" pitchFamily="34" charset="0"/>
                <a:ea typeface="Poppins"/>
                <a:cs typeface="Arial" panose="020B0604020202020204" pitchFamily="34" charset="0"/>
                <a:sym typeface="Poppins"/>
              </a:rPr>
              <a:t> </a:t>
            </a:r>
            <a:r>
              <a:rPr lang="en-US" sz="2400" dirty="0" err="1">
                <a:solidFill>
                  <a:schemeClr val="bg1"/>
                </a:solidFill>
                <a:latin typeface="Arial" panose="020B0604020202020204" pitchFamily="34" charset="0"/>
                <a:ea typeface="Poppins"/>
                <a:cs typeface="Arial" panose="020B0604020202020204" pitchFamily="34" charset="0"/>
                <a:sym typeface="Poppins"/>
              </a:rPr>
              <a:t>thống</a:t>
            </a:r>
            <a:r>
              <a:rPr lang="en-US" sz="2400" dirty="0">
                <a:solidFill>
                  <a:schemeClr val="bg1"/>
                </a:solidFill>
                <a:latin typeface="Arial" panose="020B0604020202020204" pitchFamily="34" charset="0"/>
                <a:ea typeface="Poppins"/>
                <a:cs typeface="Arial" panose="020B0604020202020204" pitchFamily="34" charset="0"/>
                <a:sym typeface="Poppins"/>
              </a:rPr>
              <a:t> </a:t>
            </a:r>
            <a:r>
              <a:rPr lang="en-US" sz="2400" dirty="0" err="1">
                <a:solidFill>
                  <a:schemeClr val="bg1"/>
                </a:solidFill>
                <a:latin typeface="Arial" panose="020B0604020202020204" pitchFamily="34" charset="0"/>
                <a:ea typeface="Poppins"/>
                <a:cs typeface="Arial" panose="020B0604020202020204" pitchFamily="34" charset="0"/>
                <a:sym typeface="Poppins"/>
              </a:rPr>
              <a:t>bên</a:t>
            </a:r>
            <a:r>
              <a:rPr lang="en-US" sz="2400" dirty="0">
                <a:solidFill>
                  <a:schemeClr val="bg1"/>
                </a:solidFill>
                <a:latin typeface="Arial" panose="020B0604020202020204" pitchFamily="34" charset="0"/>
                <a:ea typeface="Poppins"/>
                <a:cs typeface="Arial" panose="020B0604020202020204" pitchFamily="34" charset="0"/>
                <a:sym typeface="Poppins"/>
              </a:rPr>
              <a:t> </a:t>
            </a:r>
            <a:r>
              <a:rPr lang="en-US" sz="2400" dirty="0" err="1">
                <a:solidFill>
                  <a:schemeClr val="bg1"/>
                </a:solidFill>
                <a:latin typeface="Arial" panose="020B0604020202020204" pitchFamily="34" charset="0"/>
                <a:ea typeface="Poppins"/>
                <a:cs typeface="Arial" panose="020B0604020202020204" pitchFamily="34" charset="0"/>
                <a:sym typeface="Poppins"/>
              </a:rPr>
              <a:t>ngoài</a:t>
            </a:r>
            <a:r>
              <a:rPr lang="en-US" sz="2400" dirty="0">
                <a:solidFill>
                  <a:schemeClr val="bg1"/>
                </a:solidFill>
                <a:latin typeface="Arial" panose="020B0604020202020204" pitchFamily="34" charset="0"/>
                <a:ea typeface="Poppins"/>
                <a:cs typeface="Arial" panose="020B0604020202020204" pitchFamily="34" charset="0"/>
                <a:sym typeface="Poppins"/>
              </a:rPr>
              <a:t>: </a:t>
            </a:r>
            <a:r>
              <a:rPr lang="en-US" sz="2400" dirty="0" err="1">
                <a:solidFill>
                  <a:schemeClr val="bg1"/>
                </a:solidFill>
                <a:latin typeface="Arial" panose="020B0604020202020204" pitchFamily="34" charset="0"/>
                <a:ea typeface="Poppins"/>
                <a:cs typeface="Arial" panose="020B0604020202020204" pitchFamily="34" charset="0"/>
                <a:sym typeface="Poppins"/>
              </a:rPr>
              <a:t>tạo</a:t>
            </a:r>
            <a:r>
              <a:rPr lang="en-US" sz="2400" dirty="0">
                <a:solidFill>
                  <a:schemeClr val="bg1"/>
                </a:solidFill>
                <a:latin typeface="Arial" panose="020B0604020202020204" pitchFamily="34" charset="0"/>
                <a:ea typeface="Poppins"/>
                <a:cs typeface="Arial" panose="020B0604020202020204" pitchFamily="34" charset="0"/>
                <a:sym typeface="Poppins"/>
              </a:rPr>
              <a:t> </a:t>
            </a:r>
            <a:r>
              <a:rPr lang="en-US" sz="2400" dirty="0" err="1">
                <a:solidFill>
                  <a:schemeClr val="bg1"/>
                </a:solidFill>
                <a:latin typeface="Arial" panose="020B0604020202020204" pitchFamily="34" charset="0"/>
                <a:ea typeface="Poppins"/>
                <a:cs typeface="Arial" panose="020B0604020202020204" pitchFamily="34" charset="0"/>
                <a:sym typeface="Poppins"/>
              </a:rPr>
              <a:t>đường</a:t>
            </a:r>
            <a:r>
              <a:rPr lang="en-US" sz="2400" dirty="0">
                <a:solidFill>
                  <a:schemeClr val="bg1"/>
                </a:solidFill>
                <a:latin typeface="Arial" panose="020B0604020202020204" pitchFamily="34" charset="0"/>
                <a:ea typeface="Poppins"/>
                <a:cs typeface="Arial" panose="020B0604020202020204" pitchFamily="34" charset="0"/>
                <a:sym typeface="Poppins"/>
              </a:rPr>
              <a:t> </a:t>
            </a:r>
            <a:r>
              <a:rPr lang="en-US" sz="2400" dirty="0" err="1">
                <a:solidFill>
                  <a:schemeClr val="bg1"/>
                </a:solidFill>
                <a:latin typeface="Arial" panose="020B0604020202020204" pitchFamily="34" charset="0"/>
                <a:ea typeface="Poppins"/>
                <a:cs typeface="Arial" panose="020B0604020202020204" pitchFamily="34" charset="0"/>
                <a:sym typeface="Poppins"/>
              </a:rPr>
              <a:t>giao</a:t>
            </a:r>
            <a:r>
              <a:rPr lang="en-US" sz="2400" dirty="0">
                <a:solidFill>
                  <a:schemeClr val="bg1"/>
                </a:solidFill>
                <a:latin typeface="Arial" panose="020B0604020202020204" pitchFamily="34" charset="0"/>
                <a:ea typeface="Poppins"/>
                <a:cs typeface="Arial" panose="020B0604020202020204" pitchFamily="34" charset="0"/>
                <a:sym typeface="Poppins"/>
              </a:rPr>
              <a:t> </a:t>
            </a:r>
            <a:r>
              <a:rPr lang="en-US" sz="2400" dirty="0" err="1">
                <a:solidFill>
                  <a:schemeClr val="bg1"/>
                </a:solidFill>
                <a:latin typeface="Arial" panose="020B0604020202020204" pitchFamily="34" charset="0"/>
                <a:ea typeface="Poppins"/>
                <a:cs typeface="Arial" panose="020B0604020202020204" pitchFamily="34" charset="0"/>
                <a:sym typeface="Poppins"/>
              </a:rPr>
              <a:t>tiếp</a:t>
            </a:r>
            <a:r>
              <a:rPr lang="en-US" sz="2400" dirty="0">
                <a:solidFill>
                  <a:schemeClr val="bg1"/>
                </a:solidFill>
                <a:latin typeface="Arial" panose="020B0604020202020204" pitchFamily="34" charset="0"/>
                <a:ea typeface="Poppins"/>
                <a:cs typeface="Arial" panose="020B0604020202020204" pitchFamily="34" charset="0"/>
                <a:sym typeface="Poppins"/>
              </a:rPr>
              <a:t> </a:t>
            </a:r>
            <a:r>
              <a:rPr lang="en-US" sz="2400" dirty="0" err="1">
                <a:solidFill>
                  <a:schemeClr val="bg1"/>
                </a:solidFill>
                <a:latin typeface="Arial" panose="020B0604020202020204" pitchFamily="34" charset="0"/>
                <a:ea typeface="Poppins"/>
                <a:cs typeface="Arial" panose="020B0604020202020204" pitchFamily="34" charset="0"/>
                <a:sym typeface="Poppins"/>
              </a:rPr>
              <a:t>ngoài</a:t>
            </a:r>
            <a:r>
              <a:rPr lang="en-US" sz="2400" dirty="0">
                <a:solidFill>
                  <a:schemeClr val="bg1"/>
                </a:solidFill>
                <a:latin typeface="Arial" panose="020B0604020202020204" pitchFamily="34" charset="0"/>
                <a:ea typeface="Poppins"/>
                <a:cs typeface="Arial" panose="020B0604020202020204" pitchFamily="34" charset="0"/>
                <a:sym typeface="Poppins"/>
              </a:rPr>
              <a:t> </a:t>
            </a:r>
            <a:r>
              <a:rPr lang="en-US" sz="2400" dirty="0" err="1">
                <a:solidFill>
                  <a:schemeClr val="bg1"/>
                </a:solidFill>
                <a:latin typeface="Arial" panose="020B0604020202020204" pitchFamily="34" charset="0"/>
                <a:ea typeface="Poppins"/>
                <a:cs typeface="Arial" panose="020B0604020202020204" pitchFamily="34" charset="0"/>
                <a:sym typeface="Poppins"/>
              </a:rPr>
              <a:t>dự</a:t>
            </a:r>
            <a:r>
              <a:rPr lang="en-US" sz="2400" dirty="0">
                <a:solidFill>
                  <a:schemeClr val="bg1"/>
                </a:solidFill>
                <a:latin typeface="Arial" panose="020B0604020202020204" pitchFamily="34" charset="0"/>
                <a:ea typeface="Poppins"/>
                <a:cs typeface="Arial" panose="020B0604020202020204" pitchFamily="34" charset="0"/>
                <a:sym typeface="Poppins"/>
              </a:rPr>
              <a:t> </a:t>
            </a:r>
            <a:r>
              <a:rPr lang="en-US" sz="2400" dirty="0" err="1">
                <a:solidFill>
                  <a:schemeClr val="bg1"/>
                </a:solidFill>
                <a:latin typeface="Arial" panose="020B0604020202020204" pitchFamily="34" charset="0"/>
                <a:ea typeface="Poppins"/>
                <a:cs typeface="Arial" panose="020B0604020202020204" pitchFamily="34" charset="0"/>
                <a:sym typeface="Poppins"/>
              </a:rPr>
              <a:t>kiến</a:t>
            </a:r>
            <a:r>
              <a:rPr lang="en-US" sz="2400" dirty="0">
                <a:solidFill>
                  <a:schemeClr val="bg1"/>
                </a:solidFill>
                <a:latin typeface="Arial" panose="020B0604020202020204" pitchFamily="34" charset="0"/>
                <a:ea typeface="Poppins"/>
                <a:cs typeface="Arial" panose="020B0604020202020204" pitchFamily="34" charset="0"/>
                <a:sym typeface="Poppins"/>
              </a:rPr>
              <a:t>, </a:t>
            </a:r>
            <a:r>
              <a:rPr lang="en-US" sz="2400" dirty="0" err="1">
                <a:solidFill>
                  <a:schemeClr val="bg1"/>
                </a:solidFill>
                <a:latin typeface="Arial" panose="020B0604020202020204" pitchFamily="34" charset="0"/>
                <a:ea typeface="Poppins"/>
                <a:cs typeface="Arial" panose="020B0604020202020204" pitchFamily="34" charset="0"/>
                <a:sym typeface="Poppins"/>
              </a:rPr>
              <a:t>vượt</a:t>
            </a:r>
            <a:r>
              <a:rPr lang="en-US" sz="2400" dirty="0">
                <a:solidFill>
                  <a:schemeClr val="bg1"/>
                </a:solidFill>
                <a:latin typeface="Arial" panose="020B0604020202020204" pitchFamily="34" charset="0"/>
                <a:ea typeface="Poppins"/>
                <a:cs typeface="Arial" panose="020B0604020202020204" pitchFamily="34" charset="0"/>
                <a:sym typeface="Poppins"/>
              </a:rPr>
              <a:t> qua </a:t>
            </a:r>
            <a:r>
              <a:rPr lang="en-US" sz="2400" dirty="0" err="1">
                <a:solidFill>
                  <a:schemeClr val="bg1"/>
                </a:solidFill>
                <a:latin typeface="Arial" panose="020B0604020202020204" pitchFamily="34" charset="0"/>
                <a:ea typeface="Poppins"/>
                <a:cs typeface="Arial" panose="020B0604020202020204" pitchFamily="34" charset="0"/>
                <a:sym typeface="Poppins"/>
              </a:rPr>
              <a:t>các</a:t>
            </a:r>
            <a:r>
              <a:rPr lang="en-US" sz="2400" dirty="0">
                <a:solidFill>
                  <a:schemeClr val="bg1"/>
                </a:solidFill>
                <a:latin typeface="Arial" panose="020B0604020202020204" pitchFamily="34" charset="0"/>
                <a:ea typeface="Poppins"/>
                <a:cs typeface="Arial" panose="020B0604020202020204" pitchFamily="34" charset="0"/>
                <a:sym typeface="Poppins"/>
              </a:rPr>
              <a:t> </a:t>
            </a:r>
            <a:r>
              <a:rPr lang="en-US" sz="2400" dirty="0" err="1">
                <a:solidFill>
                  <a:schemeClr val="bg1"/>
                </a:solidFill>
                <a:latin typeface="Arial" panose="020B0604020202020204" pitchFamily="34" charset="0"/>
                <a:ea typeface="Poppins"/>
                <a:cs typeface="Arial" panose="020B0604020202020204" pitchFamily="34" charset="0"/>
                <a:sym typeface="Poppins"/>
              </a:rPr>
              <a:t>cơ</a:t>
            </a:r>
            <a:r>
              <a:rPr lang="en-US" sz="2400" dirty="0">
                <a:solidFill>
                  <a:schemeClr val="bg1"/>
                </a:solidFill>
                <a:latin typeface="Arial" panose="020B0604020202020204" pitchFamily="34" charset="0"/>
                <a:ea typeface="Poppins"/>
                <a:cs typeface="Arial" panose="020B0604020202020204" pitchFamily="34" charset="0"/>
                <a:sym typeface="Poppins"/>
              </a:rPr>
              <a:t> </a:t>
            </a:r>
            <a:r>
              <a:rPr lang="en-US" sz="2400" dirty="0" err="1">
                <a:solidFill>
                  <a:schemeClr val="bg1"/>
                </a:solidFill>
                <a:latin typeface="Arial" panose="020B0604020202020204" pitchFamily="34" charset="0"/>
                <a:ea typeface="Poppins"/>
                <a:cs typeface="Arial" panose="020B0604020202020204" pitchFamily="34" charset="0"/>
                <a:sym typeface="Poppins"/>
              </a:rPr>
              <a:t>chế</a:t>
            </a:r>
            <a:r>
              <a:rPr lang="en-US" sz="2400" dirty="0">
                <a:solidFill>
                  <a:schemeClr val="bg1"/>
                </a:solidFill>
                <a:latin typeface="Arial" panose="020B0604020202020204" pitchFamily="34" charset="0"/>
                <a:ea typeface="Poppins"/>
                <a:cs typeface="Arial" panose="020B0604020202020204" pitchFamily="34" charset="0"/>
                <a:sym typeface="Poppins"/>
              </a:rPr>
              <a:t> </a:t>
            </a:r>
            <a:r>
              <a:rPr lang="en-US" sz="2400" dirty="0" err="1">
                <a:solidFill>
                  <a:schemeClr val="bg1"/>
                </a:solidFill>
                <a:latin typeface="Arial" panose="020B0604020202020204" pitchFamily="34" charset="0"/>
                <a:ea typeface="Poppins"/>
                <a:cs typeface="Arial" panose="020B0604020202020204" pitchFamily="34" charset="0"/>
                <a:sym typeface="Poppins"/>
              </a:rPr>
              <a:t>kiểm</a:t>
            </a:r>
            <a:r>
              <a:rPr lang="en-US" sz="2400" dirty="0">
                <a:solidFill>
                  <a:schemeClr val="bg1"/>
                </a:solidFill>
                <a:latin typeface="Arial" panose="020B0604020202020204" pitchFamily="34" charset="0"/>
                <a:ea typeface="Poppins"/>
                <a:cs typeface="Arial" panose="020B0604020202020204" pitchFamily="34" charset="0"/>
                <a:sym typeface="Poppins"/>
              </a:rPr>
              <a:t> </a:t>
            </a:r>
            <a:r>
              <a:rPr lang="en-US" sz="2400" dirty="0" err="1">
                <a:solidFill>
                  <a:schemeClr val="bg1"/>
                </a:solidFill>
                <a:latin typeface="Arial" panose="020B0604020202020204" pitchFamily="34" charset="0"/>
                <a:ea typeface="Poppins"/>
                <a:cs typeface="Arial" panose="020B0604020202020204" pitchFamily="34" charset="0"/>
                <a:sym typeface="Poppins"/>
              </a:rPr>
              <a:t>soát</a:t>
            </a:r>
            <a:r>
              <a:rPr lang="en-US" sz="2400" dirty="0">
                <a:solidFill>
                  <a:schemeClr val="bg1"/>
                </a:solidFill>
                <a:latin typeface="Arial" panose="020B0604020202020204" pitchFamily="34" charset="0"/>
                <a:ea typeface="Poppins"/>
                <a:cs typeface="Arial" panose="020B0604020202020204" pitchFamily="34" charset="0"/>
                <a:sym typeface="Poppins"/>
              </a:rPr>
              <a:t> </a:t>
            </a:r>
            <a:r>
              <a:rPr lang="en-US" sz="2400" dirty="0" err="1">
                <a:solidFill>
                  <a:schemeClr val="bg1"/>
                </a:solidFill>
                <a:latin typeface="Arial" panose="020B0604020202020204" pitchFamily="34" charset="0"/>
                <a:ea typeface="Poppins"/>
                <a:cs typeface="Arial" panose="020B0604020202020204" pitchFamily="34" charset="0"/>
                <a:sym typeface="Poppins"/>
              </a:rPr>
              <a:t>mạng</a:t>
            </a:r>
            <a:endParaRPr lang="en-US" sz="2400" dirty="0">
              <a:solidFill>
                <a:schemeClr val="bg1"/>
              </a:solidFill>
              <a:latin typeface="Arial" panose="020B0604020202020204" pitchFamily="34" charset="0"/>
              <a:ea typeface="Poppins"/>
              <a:cs typeface="Arial" panose="020B0604020202020204" pitchFamily="34" charset="0"/>
              <a:sym typeface="Poppins"/>
            </a:endParaRPr>
          </a:p>
          <a:p>
            <a:pPr marL="342900" lvl="0" indent="-342900">
              <a:buFont typeface="Arial" panose="020B0604020202020204" pitchFamily="34" charset="0"/>
              <a:buChar char="•"/>
            </a:pPr>
            <a:endParaRPr lang="en-US" sz="2400" dirty="0">
              <a:solidFill>
                <a:schemeClr val="bg1"/>
              </a:solidFill>
              <a:latin typeface="Arial" panose="020B0604020202020204" pitchFamily="34" charset="0"/>
              <a:ea typeface="Poppins"/>
              <a:cs typeface="Arial" panose="020B0604020202020204" pitchFamily="34" charset="0"/>
              <a:sym typeface="Poppins"/>
            </a:endParaRPr>
          </a:p>
          <a:p>
            <a:pPr marL="342900" lvl="0" indent="-342900">
              <a:buFont typeface="Arial" panose="020B0604020202020204" pitchFamily="34" charset="0"/>
              <a:buChar char="•"/>
            </a:pPr>
            <a:r>
              <a:rPr lang="en-US" sz="2400" dirty="0" err="1">
                <a:solidFill>
                  <a:srgbClr val="FFFFFF"/>
                </a:solidFill>
                <a:latin typeface="Arial" panose="020B0604020202020204" pitchFamily="34" charset="0"/>
                <a:ea typeface="Poppins"/>
                <a:cs typeface="Arial" panose="020B0604020202020204" pitchFamily="34" charset="0"/>
                <a:sym typeface="Poppins"/>
              </a:rPr>
              <a:t>Tấn</a:t>
            </a:r>
            <a:r>
              <a:rPr lang="en-US" sz="2400" dirty="0">
                <a:solidFill>
                  <a:srgbClr val="FFFFFF"/>
                </a:solidFill>
                <a:latin typeface="Arial" panose="020B0604020202020204" pitchFamily="34" charset="0"/>
                <a:ea typeface="Poppins"/>
                <a:cs typeface="Arial" panose="020B0604020202020204" pitchFamily="34" charset="0"/>
                <a:sym typeface="Poppins"/>
              </a:rPr>
              <a:t> </a:t>
            </a:r>
            <a:r>
              <a:rPr lang="en-US" sz="2400" dirty="0" err="1">
                <a:solidFill>
                  <a:srgbClr val="FFFFFF"/>
                </a:solidFill>
                <a:latin typeface="Arial" panose="020B0604020202020204" pitchFamily="34" charset="0"/>
                <a:ea typeface="Poppins"/>
                <a:cs typeface="Arial" panose="020B0604020202020204" pitchFamily="34" charset="0"/>
                <a:sym typeface="Poppins"/>
              </a:rPr>
              <a:t>công</a:t>
            </a:r>
            <a:r>
              <a:rPr lang="en-US" sz="2400" dirty="0">
                <a:solidFill>
                  <a:srgbClr val="FFFFFF"/>
                </a:solidFill>
                <a:latin typeface="Arial" panose="020B0604020202020204" pitchFamily="34" charset="0"/>
                <a:ea typeface="Poppins"/>
                <a:cs typeface="Arial" panose="020B0604020202020204" pitchFamily="34" charset="0"/>
                <a:sym typeface="Poppins"/>
              </a:rPr>
              <a:t> MITM: </a:t>
            </a:r>
            <a:r>
              <a:rPr lang="en-US" sz="2400" dirty="0" err="1">
                <a:solidFill>
                  <a:srgbClr val="FFFFFF"/>
                </a:solidFill>
                <a:latin typeface="Arial" panose="020B0604020202020204" pitchFamily="34" charset="0"/>
                <a:ea typeface="Poppins"/>
                <a:cs typeface="Arial" panose="020B0604020202020204" pitchFamily="34" charset="0"/>
                <a:sym typeface="Poppins"/>
              </a:rPr>
              <a:t>làm</a:t>
            </a:r>
            <a:r>
              <a:rPr lang="en-US" sz="2400" dirty="0">
                <a:solidFill>
                  <a:srgbClr val="FFFFFF"/>
                </a:solidFill>
                <a:latin typeface="Arial" panose="020B0604020202020204" pitchFamily="34" charset="0"/>
                <a:ea typeface="Poppins"/>
                <a:cs typeface="Arial" panose="020B0604020202020204" pitchFamily="34" charset="0"/>
                <a:sym typeface="Poppins"/>
              </a:rPr>
              <a:t> </a:t>
            </a:r>
            <a:r>
              <a:rPr lang="en-US" sz="2400" dirty="0" err="1">
                <a:solidFill>
                  <a:srgbClr val="FFFFFF"/>
                </a:solidFill>
                <a:latin typeface="Arial" panose="020B0604020202020204" pitchFamily="34" charset="0"/>
                <a:ea typeface="Poppins"/>
                <a:cs typeface="Arial" panose="020B0604020202020204" pitchFamily="34" charset="0"/>
                <a:sym typeface="Poppins"/>
              </a:rPr>
              <a:t>lộ</a:t>
            </a:r>
            <a:r>
              <a:rPr lang="en-US" sz="2400" dirty="0">
                <a:solidFill>
                  <a:srgbClr val="FFFFFF"/>
                </a:solidFill>
                <a:latin typeface="Arial" panose="020B0604020202020204" pitchFamily="34" charset="0"/>
                <a:ea typeface="Poppins"/>
                <a:cs typeface="Arial" panose="020B0604020202020204" pitchFamily="34" charset="0"/>
                <a:sym typeface="Poppins"/>
              </a:rPr>
              <a:t> </a:t>
            </a:r>
            <a:r>
              <a:rPr lang="en-US" sz="2400" dirty="0" err="1">
                <a:solidFill>
                  <a:srgbClr val="FFFFFF"/>
                </a:solidFill>
                <a:latin typeface="Arial" panose="020B0604020202020204" pitchFamily="34" charset="0"/>
                <a:ea typeface="Poppins"/>
                <a:cs typeface="Arial" panose="020B0604020202020204" pitchFamily="34" charset="0"/>
                <a:sym typeface="Poppins"/>
              </a:rPr>
              <a:t>thông</a:t>
            </a:r>
            <a:r>
              <a:rPr lang="en-US" sz="2400" dirty="0">
                <a:solidFill>
                  <a:srgbClr val="FFFFFF"/>
                </a:solidFill>
                <a:latin typeface="Arial" panose="020B0604020202020204" pitchFamily="34" charset="0"/>
                <a:ea typeface="Poppins"/>
                <a:cs typeface="Arial" panose="020B0604020202020204" pitchFamily="34" charset="0"/>
                <a:sym typeface="Poppins"/>
              </a:rPr>
              <a:t> tin, </a:t>
            </a:r>
            <a:r>
              <a:rPr lang="en-US" sz="2400" dirty="0" err="1">
                <a:solidFill>
                  <a:srgbClr val="FFFFFF"/>
                </a:solidFill>
                <a:latin typeface="Arial" panose="020B0604020202020204" pitchFamily="34" charset="0"/>
                <a:ea typeface="Poppins"/>
                <a:cs typeface="Arial" panose="020B0604020202020204" pitchFamily="34" charset="0"/>
                <a:sym typeface="Poppins"/>
              </a:rPr>
              <a:t>thay</a:t>
            </a:r>
            <a:r>
              <a:rPr lang="en-US" sz="2400" dirty="0">
                <a:solidFill>
                  <a:srgbClr val="FFFFFF"/>
                </a:solidFill>
                <a:latin typeface="Arial" panose="020B0604020202020204" pitchFamily="34" charset="0"/>
                <a:ea typeface="Poppins"/>
                <a:cs typeface="Arial" panose="020B0604020202020204" pitchFamily="34" charset="0"/>
                <a:sym typeface="Poppins"/>
              </a:rPr>
              <a:t> </a:t>
            </a:r>
            <a:r>
              <a:rPr lang="en-US" sz="2400" dirty="0" err="1">
                <a:solidFill>
                  <a:srgbClr val="FFFFFF"/>
                </a:solidFill>
                <a:latin typeface="Arial" panose="020B0604020202020204" pitchFamily="34" charset="0"/>
                <a:ea typeface="Poppins"/>
                <a:cs typeface="Arial" panose="020B0604020202020204" pitchFamily="34" charset="0"/>
                <a:sym typeface="Poppins"/>
              </a:rPr>
              <a:t>đổi</a:t>
            </a:r>
            <a:r>
              <a:rPr lang="en-US" sz="2400" dirty="0">
                <a:solidFill>
                  <a:srgbClr val="FFFFFF"/>
                </a:solidFill>
                <a:latin typeface="Arial" panose="020B0604020202020204" pitchFamily="34" charset="0"/>
                <a:ea typeface="Poppins"/>
                <a:cs typeface="Arial" panose="020B0604020202020204" pitchFamily="34" charset="0"/>
                <a:sym typeface="Poppins"/>
              </a:rPr>
              <a:t> </a:t>
            </a:r>
            <a:r>
              <a:rPr lang="en-US" sz="2400" dirty="0" err="1">
                <a:solidFill>
                  <a:srgbClr val="FFFFFF"/>
                </a:solidFill>
                <a:latin typeface="Arial" panose="020B0604020202020204" pitchFamily="34" charset="0"/>
                <a:ea typeface="Poppins"/>
                <a:cs typeface="Arial" panose="020B0604020202020204" pitchFamily="34" charset="0"/>
                <a:sym typeface="Poppins"/>
              </a:rPr>
              <a:t>dữ</a:t>
            </a:r>
            <a:r>
              <a:rPr lang="en-US" sz="2400" dirty="0">
                <a:solidFill>
                  <a:srgbClr val="FFFFFF"/>
                </a:solidFill>
                <a:latin typeface="Arial" panose="020B0604020202020204" pitchFamily="34" charset="0"/>
                <a:ea typeface="Poppins"/>
                <a:cs typeface="Arial" panose="020B0604020202020204" pitchFamily="34" charset="0"/>
                <a:sym typeface="Poppins"/>
              </a:rPr>
              <a:t> </a:t>
            </a:r>
            <a:r>
              <a:rPr lang="en-US" sz="2400" dirty="0" err="1">
                <a:solidFill>
                  <a:srgbClr val="FFFFFF"/>
                </a:solidFill>
                <a:latin typeface="Arial" panose="020B0604020202020204" pitchFamily="34" charset="0"/>
                <a:ea typeface="Poppins"/>
                <a:cs typeface="Arial" panose="020B0604020202020204" pitchFamily="34" charset="0"/>
                <a:sym typeface="Poppins"/>
              </a:rPr>
              <a:t>liệu</a:t>
            </a:r>
            <a:r>
              <a:rPr lang="en-US" sz="2400" dirty="0">
                <a:solidFill>
                  <a:srgbClr val="FFFFFF"/>
                </a:solidFill>
                <a:latin typeface="Arial" panose="020B0604020202020204" pitchFamily="34" charset="0"/>
                <a:ea typeface="Poppins"/>
                <a:cs typeface="Arial" panose="020B0604020202020204" pitchFamily="34" charset="0"/>
                <a:sym typeface="Poppins"/>
              </a:rPr>
              <a:t> </a:t>
            </a:r>
            <a:r>
              <a:rPr lang="en-US" sz="2400" dirty="0" err="1">
                <a:solidFill>
                  <a:srgbClr val="FFFFFF"/>
                </a:solidFill>
                <a:latin typeface="Arial" panose="020B0604020202020204" pitchFamily="34" charset="0"/>
                <a:ea typeface="Poppins"/>
                <a:cs typeface="Arial" panose="020B0604020202020204" pitchFamily="34" charset="0"/>
                <a:sym typeface="Poppins"/>
              </a:rPr>
              <a:t>nếu</a:t>
            </a:r>
            <a:r>
              <a:rPr lang="en-US" sz="2400" dirty="0">
                <a:solidFill>
                  <a:srgbClr val="FFFFFF"/>
                </a:solidFill>
                <a:latin typeface="Arial" panose="020B0604020202020204" pitchFamily="34" charset="0"/>
                <a:ea typeface="Poppins"/>
                <a:cs typeface="Arial" panose="020B0604020202020204" pitchFamily="34" charset="0"/>
                <a:sym typeface="Poppins"/>
              </a:rPr>
              <a:t> </a:t>
            </a:r>
            <a:r>
              <a:rPr lang="en-US" sz="2400" dirty="0" err="1">
                <a:solidFill>
                  <a:srgbClr val="FFFFFF"/>
                </a:solidFill>
                <a:latin typeface="Arial" panose="020B0604020202020204" pitchFamily="34" charset="0"/>
                <a:ea typeface="Poppins"/>
                <a:cs typeface="Arial" panose="020B0604020202020204" pitchFamily="34" charset="0"/>
                <a:sym typeface="Poppins"/>
              </a:rPr>
              <a:t>quá</a:t>
            </a:r>
            <a:r>
              <a:rPr lang="en-US" sz="2400" dirty="0">
                <a:solidFill>
                  <a:srgbClr val="FFFFFF"/>
                </a:solidFill>
                <a:latin typeface="Arial" panose="020B0604020202020204" pitchFamily="34" charset="0"/>
                <a:ea typeface="Poppins"/>
                <a:cs typeface="Arial" panose="020B0604020202020204" pitchFamily="34" charset="0"/>
                <a:sym typeface="Poppins"/>
              </a:rPr>
              <a:t> </a:t>
            </a:r>
            <a:r>
              <a:rPr lang="en-US" sz="2400" dirty="0" err="1">
                <a:solidFill>
                  <a:srgbClr val="FFFFFF"/>
                </a:solidFill>
                <a:latin typeface="Arial" panose="020B0604020202020204" pitchFamily="34" charset="0"/>
                <a:ea typeface="Poppins"/>
                <a:cs typeface="Arial" panose="020B0604020202020204" pitchFamily="34" charset="0"/>
                <a:sym typeface="Poppins"/>
              </a:rPr>
              <a:t>trình</a:t>
            </a:r>
            <a:r>
              <a:rPr lang="en-US" sz="2400" dirty="0">
                <a:solidFill>
                  <a:srgbClr val="FFFFFF"/>
                </a:solidFill>
                <a:latin typeface="Arial" panose="020B0604020202020204" pitchFamily="34" charset="0"/>
                <a:ea typeface="Poppins"/>
                <a:cs typeface="Arial" panose="020B0604020202020204" pitchFamily="34" charset="0"/>
                <a:sym typeface="Poppins"/>
              </a:rPr>
              <a:t> </a:t>
            </a:r>
            <a:r>
              <a:rPr lang="en-US" sz="2400" dirty="0" err="1">
                <a:solidFill>
                  <a:srgbClr val="FFFFFF"/>
                </a:solidFill>
                <a:latin typeface="Arial" panose="020B0604020202020204" pitchFamily="34" charset="0"/>
                <a:ea typeface="Poppins"/>
                <a:cs typeface="Arial" panose="020B0604020202020204" pitchFamily="34" charset="0"/>
                <a:sym typeface="Poppins"/>
              </a:rPr>
              <a:t>giao</a:t>
            </a:r>
            <a:r>
              <a:rPr lang="en-US" sz="2400" dirty="0">
                <a:solidFill>
                  <a:srgbClr val="FFFFFF"/>
                </a:solidFill>
                <a:latin typeface="Arial" panose="020B0604020202020204" pitchFamily="34" charset="0"/>
                <a:ea typeface="Poppins"/>
                <a:cs typeface="Arial" panose="020B0604020202020204" pitchFamily="34" charset="0"/>
                <a:sym typeface="Poppins"/>
              </a:rPr>
              <a:t> </a:t>
            </a:r>
            <a:r>
              <a:rPr lang="en-US" sz="2400" dirty="0" err="1">
                <a:solidFill>
                  <a:srgbClr val="FFFFFF"/>
                </a:solidFill>
                <a:latin typeface="Arial" panose="020B0604020202020204" pitchFamily="34" charset="0"/>
                <a:ea typeface="Poppins"/>
                <a:cs typeface="Arial" panose="020B0604020202020204" pitchFamily="34" charset="0"/>
                <a:sym typeface="Poppins"/>
              </a:rPr>
              <a:t>tiếp</a:t>
            </a:r>
            <a:r>
              <a:rPr lang="en-US" sz="2400" dirty="0">
                <a:solidFill>
                  <a:srgbClr val="FFFFFF"/>
                </a:solidFill>
                <a:latin typeface="Arial" panose="020B0604020202020204" pitchFamily="34" charset="0"/>
                <a:ea typeface="Poppins"/>
                <a:cs typeface="Arial" panose="020B0604020202020204" pitchFamily="34" charset="0"/>
                <a:sym typeface="Poppins"/>
              </a:rPr>
              <a:t> </a:t>
            </a:r>
            <a:r>
              <a:rPr lang="en-US" sz="2400" dirty="0" err="1">
                <a:solidFill>
                  <a:srgbClr val="FFFFFF"/>
                </a:solidFill>
                <a:latin typeface="Arial" panose="020B0604020202020204" pitchFamily="34" charset="0"/>
                <a:ea typeface="Poppins"/>
                <a:cs typeface="Arial" panose="020B0604020202020204" pitchFamily="34" charset="0"/>
                <a:sym typeface="Poppins"/>
              </a:rPr>
              <a:t>không</a:t>
            </a:r>
            <a:r>
              <a:rPr lang="en-US" sz="2400" dirty="0">
                <a:solidFill>
                  <a:srgbClr val="FFFFFF"/>
                </a:solidFill>
                <a:latin typeface="Arial" panose="020B0604020202020204" pitchFamily="34" charset="0"/>
                <a:ea typeface="Poppins"/>
                <a:cs typeface="Arial" panose="020B0604020202020204" pitchFamily="34" charset="0"/>
                <a:sym typeface="Poppins"/>
              </a:rPr>
              <a:t> </a:t>
            </a:r>
            <a:r>
              <a:rPr lang="en-US" sz="2400" dirty="0" err="1">
                <a:solidFill>
                  <a:srgbClr val="FFFFFF"/>
                </a:solidFill>
                <a:latin typeface="Arial" panose="020B0604020202020204" pitchFamily="34" charset="0"/>
                <a:ea typeface="Poppins"/>
                <a:cs typeface="Arial" panose="020B0604020202020204" pitchFamily="34" charset="0"/>
                <a:sym typeface="Poppins"/>
              </a:rPr>
              <a:t>được</a:t>
            </a:r>
            <a:r>
              <a:rPr lang="en-US" sz="2400" dirty="0">
                <a:solidFill>
                  <a:srgbClr val="FFFFFF"/>
                </a:solidFill>
                <a:latin typeface="Arial" panose="020B0604020202020204" pitchFamily="34" charset="0"/>
                <a:ea typeface="Poppins"/>
                <a:cs typeface="Arial" panose="020B0604020202020204" pitchFamily="34" charset="0"/>
                <a:sym typeface="Poppins"/>
              </a:rPr>
              <a:t> </a:t>
            </a:r>
            <a:r>
              <a:rPr lang="en-US" sz="2400" dirty="0" err="1">
                <a:solidFill>
                  <a:srgbClr val="FFFFFF"/>
                </a:solidFill>
                <a:latin typeface="Arial" panose="020B0604020202020204" pitchFamily="34" charset="0"/>
                <a:ea typeface="Poppins"/>
                <a:cs typeface="Arial" panose="020B0604020202020204" pitchFamily="34" charset="0"/>
                <a:sym typeface="Poppins"/>
              </a:rPr>
              <a:t>bảo</a:t>
            </a:r>
            <a:r>
              <a:rPr lang="en-US" sz="2400" dirty="0">
                <a:solidFill>
                  <a:srgbClr val="FFFFFF"/>
                </a:solidFill>
                <a:latin typeface="Arial" panose="020B0604020202020204" pitchFamily="34" charset="0"/>
                <a:ea typeface="Poppins"/>
                <a:cs typeface="Arial" panose="020B0604020202020204" pitchFamily="34" charset="0"/>
                <a:sym typeface="Poppins"/>
              </a:rPr>
              <a:t> </a:t>
            </a:r>
            <a:r>
              <a:rPr lang="en-US" sz="2400" dirty="0" err="1">
                <a:solidFill>
                  <a:srgbClr val="FFFFFF"/>
                </a:solidFill>
                <a:latin typeface="Arial" panose="020B0604020202020204" pitchFamily="34" charset="0"/>
                <a:ea typeface="Poppins"/>
                <a:cs typeface="Arial" panose="020B0604020202020204" pitchFamily="34" charset="0"/>
                <a:sym typeface="Poppins"/>
              </a:rPr>
              <a:t>vệ</a:t>
            </a:r>
            <a:r>
              <a:rPr lang="en-US" sz="2400" dirty="0">
                <a:solidFill>
                  <a:srgbClr val="FFFFFF"/>
                </a:solidFill>
                <a:latin typeface="Arial" panose="020B0604020202020204" pitchFamily="34" charset="0"/>
                <a:ea typeface="Poppins"/>
                <a:cs typeface="Arial" panose="020B0604020202020204" pitchFamily="34" charset="0"/>
                <a:sym typeface="Poppins"/>
              </a:rPr>
              <a:t> </a:t>
            </a:r>
          </a:p>
        </p:txBody>
      </p:sp>
      <p:sp>
        <p:nvSpPr>
          <p:cNvPr id="11" name="Freeform 11">
            <a:extLst>
              <a:ext uri="{FF2B5EF4-FFF2-40B4-BE49-F238E27FC236}">
                <a16:creationId xmlns:a16="http://schemas.microsoft.com/office/drawing/2014/main" id="{3FF2B407-EBE6-42A7-4FAB-55591572DB7F}"/>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41FEB65B-9B4D-5F29-503C-C52F1C5F72C5}"/>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B000CF51-1147-0586-5BE9-49D9B70F5595}"/>
              </a:ext>
            </a:extLst>
          </p:cNvPr>
          <p:cNvSpPr txBox="1"/>
          <p:nvPr/>
        </p:nvSpPr>
        <p:spPr>
          <a:xfrm>
            <a:off x="1028700" y="2427514"/>
            <a:ext cx="8343900" cy="1010148"/>
          </a:xfrm>
          <a:prstGeom prst="rect">
            <a:avLst/>
          </a:prstGeom>
        </p:spPr>
        <p:txBody>
          <a:bodyPr wrap="square" lIns="0" tIns="0" rIns="0" bIns="0" rtlCol="0" anchor="t">
            <a:spAutoFit/>
          </a:bodyPr>
          <a:lstStyle/>
          <a:p>
            <a:pPr marL="0" lvl="0" indent="0" algn="l">
              <a:lnSpc>
                <a:spcPts val="8474"/>
              </a:lnSpc>
            </a:pPr>
            <a:r>
              <a:rPr lang="en-US" sz="6600" spc="-345">
                <a:solidFill>
                  <a:srgbClr val="FFFFFF"/>
                </a:solidFill>
                <a:latin typeface="Arial" panose="020B0604020202020204" pitchFamily="34" charset="0"/>
                <a:ea typeface="Times New Roman"/>
                <a:cs typeface="Arial" panose="020B0604020202020204" pitchFamily="34" charset="0"/>
                <a:sym typeface="Times New Roman"/>
              </a:rPr>
              <a:t>Các kỹ thuật khác</a:t>
            </a:r>
          </a:p>
        </p:txBody>
      </p:sp>
    </p:spTree>
    <p:extLst>
      <p:ext uri="{BB962C8B-B14F-4D97-AF65-F5344CB8AC3E}">
        <p14:creationId xmlns:p14="http://schemas.microsoft.com/office/powerpoint/2010/main" val="1264442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E8D09-05CE-0DFE-8CBE-A4490006894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9E56F83-8704-EC1A-5012-B3F3FF4A205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TextBox 3">
            <a:extLst>
              <a:ext uri="{FF2B5EF4-FFF2-40B4-BE49-F238E27FC236}">
                <a16:creationId xmlns:a16="http://schemas.microsoft.com/office/drawing/2014/main" id="{5AC3B47F-B9EC-165B-3193-61C69A8BDC84}"/>
              </a:ext>
            </a:extLst>
          </p:cNvPr>
          <p:cNvSpPr txBox="1"/>
          <p:nvPr/>
        </p:nvSpPr>
        <p:spPr>
          <a:xfrm>
            <a:off x="1784976" y="5000179"/>
            <a:ext cx="14718047" cy="2205732"/>
          </a:xfrm>
          <a:prstGeom prst="rect">
            <a:avLst/>
          </a:prstGeom>
        </p:spPr>
        <p:txBody>
          <a:bodyPr wrap="square" lIns="0" tIns="0" rIns="0" bIns="0" rtlCol="0" anchor="t">
            <a:spAutoFit/>
          </a:bodyPr>
          <a:lstStyle/>
          <a:p>
            <a:pPr marL="0" lvl="0" indent="0" algn="ctr">
              <a:lnSpc>
                <a:spcPts val="8568"/>
              </a:lnSpc>
            </a:pPr>
            <a:r>
              <a:rPr lang="en-US" sz="8159" spc="-359">
                <a:solidFill>
                  <a:srgbClr val="FFFFFF"/>
                </a:solidFill>
                <a:latin typeface="Arial" panose="020B0604020202020204" pitchFamily="34" charset="0"/>
                <a:ea typeface="Times New Roman"/>
                <a:cs typeface="Arial" panose="020B0604020202020204" pitchFamily="34" charset="0"/>
                <a:sym typeface="Times New Roman"/>
              </a:rPr>
              <a:t>CÁC KỸ THUẬT PHÁT HIỆN HONEYPOT</a:t>
            </a:r>
          </a:p>
        </p:txBody>
      </p:sp>
      <p:sp>
        <p:nvSpPr>
          <p:cNvPr id="5" name="Freeform 5">
            <a:extLst>
              <a:ext uri="{FF2B5EF4-FFF2-40B4-BE49-F238E27FC236}">
                <a16:creationId xmlns:a16="http://schemas.microsoft.com/office/drawing/2014/main" id="{7848C0B9-DA6C-87B4-E131-0EB737601BF7}"/>
              </a:ext>
            </a:extLst>
          </p:cNvPr>
          <p:cNvSpPr/>
          <p:nvPr/>
        </p:nvSpPr>
        <p:spPr>
          <a:xfrm>
            <a:off x="-1340885" y="5505450"/>
            <a:ext cx="5838682" cy="5855316"/>
          </a:xfrm>
          <a:custGeom>
            <a:avLst/>
            <a:gdLst/>
            <a:ahLst/>
            <a:cxnLst/>
            <a:rect l="l" t="t" r="r" b="b"/>
            <a:pathLst>
              <a:path w="5838682" h="5855316">
                <a:moveTo>
                  <a:pt x="0" y="0"/>
                </a:moveTo>
                <a:lnTo>
                  <a:pt x="5838681" y="0"/>
                </a:lnTo>
                <a:lnTo>
                  <a:pt x="5838681" y="5855316"/>
                </a:lnTo>
                <a:lnTo>
                  <a:pt x="0" y="5855316"/>
                </a:lnTo>
                <a:lnTo>
                  <a:pt x="0"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5917EE9D-3F4E-9DB0-22EC-A957119102FC}"/>
              </a:ext>
            </a:extLst>
          </p:cNvPr>
          <p:cNvSpPr/>
          <p:nvPr/>
        </p:nvSpPr>
        <p:spPr>
          <a:xfrm flipH="1">
            <a:off x="13558746" y="5505450"/>
            <a:ext cx="5838682" cy="5855316"/>
          </a:xfrm>
          <a:custGeom>
            <a:avLst/>
            <a:gdLst/>
            <a:ahLst/>
            <a:cxnLst/>
            <a:rect l="l" t="t" r="r" b="b"/>
            <a:pathLst>
              <a:path w="5838682" h="5855316">
                <a:moveTo>
                  <a:pt x="5838681" y="0"/>
                </a:moveTo>
                <a:lnTo>
                  <a:pt x="0" y="0"/>
                </a:lnTo>
                <a:lnTo>
                  <a:pt x="0" y="5855316"/>
                </a:lnTo>
                <a:lnTo>
                  <a:pt x="5838681" y="5855316"/>
                </a:lnTo>
                <a:lnTo>
                  <a:pt x="5838681"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7" name="AutoShape 7">
            <a:extLst>
              <a:ext uri="{FF2B5EF4-FFF2-40B4-BE49-F238E27FC236}">
                <a16:creationId xmlns:a16="http://schemas.microsoft.com/office/drawing/2014/main" id="{50F14702-0857-65E9-0024-8996099E4A39}"/>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8" name="Freeform 8">
            <a:extLst>
              <a:ext uri="{FF2B5EF4-FFF2-40B4-BE49-F238E27FC236}">
                <a16:creationId xmlns:a16="http://schemas.microsoft.com/office/drawing/2014/main" id="{2A027FF7-8471-EBE0-A542-BFA8CC8622EA}"/>
              </a:ext>
            </a:extLst>
          </p:cNvPr>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34346034-9F00-6DFE-CBDE-635FB41FC767}"/>
              </a:ext>
            </a:extLst>
          </p:cNvPr>
          <p:cNvSpPr txBox="1"/>
          <p:nvPr/>
        </p:nvSpPr>
        <p:spPr>
          <a:xfrm>
            <a:off x="1574843" y="1023452"/>
            <a:ext cx="2922953" cy="327654"/>
          </a:xfrm>
          <a:prstGeom prst="rect">
            <a:avLst/>
          </a:prstGeom>
        </p:spPr>
        <p:txBody>
          <a:bodyPr lIns="0" tIns="0" rIns="0" bIns="0" rtlCol="0" anchor="t">
            <a:spAutoFit/>
          </a:bodyPr>
          <a:lstStyle/>
          <a:p>
            <a:pPr marL="0" lvl="0" indent="0" algn="l">
              <a:lnSpc>
                <a:spcPts val="2798"/>
              </a:lnSpc>
            </a:pPr>
            <a:r>
              <a:rPr lang="en-US" sz="1998" err="1">
                <a:solidFill>
                  <a:srgbClr val="FFFFFF"/>
                </a:solidFill>
                <a:latin typeface="Arial" panose="020B0604020202020204" pitchFamily="34" charset="0"/>
                <a:ea typeface="Poppins"/>
                <a:cs typeface="Arial" panose="020B0604020202020204" pitchFamily="34" charset="0"/>
                <a:sym typeface="Poppins"/>
              </a:rPr>
              <a:t>Nhóm</a:t>
            </a:r>
            <a:r>
              <a:rPr lang="en-US" sz="1998">
                <a:solidFill>
                  <a:srgbClr val="FFFFFF"/>
                </a:solidFill>
                <a:latin typeface="Arial" panose="020B0604020202020204" pitchFamily="34" charset="0"/>
                <a:ea typeface="Poppins"/>
                <a:cs typeface="Arial" panose="020B0604020202020204" pitchFamily="34" charset="0"/>
                <a:sym typeface="Poppins"/>
              </a:rPr>
              <a:t> 9 - ATTT K22A</a:t>
            </a:r>
          </a:p>
        </p:txBody>
      </p:sp>
    </p:spTree>
    <p:extLst>
      <p:ext uri="{BB962C8B-B14F-4D97-AF65-F5344CB8AC3E}">
        <p14:creationId xmlns:p14="http://schemas.microsoft.com/office/powerpoint/2010/main" val="7477695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69B1A-B2EC-488F-7AF3-E990CB4A8C0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EB7B0B8-9FB7-168D-716E-E9BF6F24114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B223E352-DEBE-29BA-5C7D-5380D5816009}"/>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6068D996-C306-5DEF-E704-C2C50B026D6B}"/>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BDD607AB-E66F-3E23-72BB-E0F556566C35}"/>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9417E135-2055-FF8B-6A9E-1CFA01DF1925}"/>
              </a:ext>
            </a:extLst>
          </p:cNvPr>
          <p:cNvSpPr txBox="1"/>
          <p:nvPr/>
        </p:nvSpPr>
        <p:spPr>
          <a:xfrm>
            <a:off x="1056409" y="4305300"/>
            <a:ext cx="7358743" cy="3690113"/>
          </a:xfrm>
          <a:prstGeom prst="rect">
            <a:avLst/>
          </a:prstGeom>
        </p:spPr>
        <p:txBody>
          <a:bodyPr lIns="0" tIns="0" rIns="0" bIns="0" rtlCol="0" anchor="t">
            <a:spAutoFit/>
          </a:bodyPr>
          <a:lstStyle/>
          <a:p>
            <a:pPr lvl="0"/>
            <a:r>
              <a:rPr lang="en-US" sz="2398" dirty="0">
                <a:solidFill>
                  <a:srgbClr val="FFFFFF"/>
                </a:solidFill>
                <a:latin typeface="Arial" panose="020B0604020202020204" pitchFamily="34" charset="0"/>
                <a:ea typeface="Poppins"/>
                <a:cs typeface="Arial" panose="020B0604020202020204" pitchFamily="34" charset="0"/>
                <a:sym typeface="Poppins"/>
              </a:rPr>
              <a:t>Honeypot </a:t>
            </a:r>
            <a:r>
              <a:rPr lang="en-US" sz="2398" dirty="0" err="1">
                <a:solidFill>
                  <a:srgbClr val="FFFFFF"/>
                </a:solidFill>
                <a:latin typeface="Arial" panose="020B0604020202020204" pitchFamily="34" charset="0"/>
                <a:ea typeface="Poppins"/>
                <a:cs typeface="Arial" panose="020B0604020202020204" pitchFamily="34" charset="0"/>
                <a:sym typeface="Poppins"/>
              </a:rPr>
              <a:t>là</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bẫy</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được</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thiết</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kế</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để</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phát</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hiện</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làm</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chệch</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hướng</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hoặc</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chống</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lại</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các</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nỗ</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lực</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xâm</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nhập</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trái</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phép</a:t>
            </a:r>
            <a:r>
              <a:rPr lang="en-US" sz="2398" dirty="0">
                <a:solidFill>
                  <a:srgbClr val="FFFFFF"/>
                </a:solidFill>
                <a:latin typeface="Arial" panose="020B0604020202020204" pitchFamily="34" charset="0"/>
                <a:ea typeface="Poppins"/>
                <a:cs typeface="Arial" panose="020B0604020202020204" pitchFamily="34" charset="0"/>
                <a:sym typeface="Poppins"/>
              </a:rPr>
              <a:t>.</a:t>
            </a:r>
          </a:p>
          <a:p>
            <a:pPr lvl="0"/>
            <a:endParaRPr lang="en-US" sz="2398" dirty="0">
              <a:solidFill>
                <a:srgbClr val="FFFFFF"/>
              </a:solidFill>
              <a:latin typeface="Arial" panose="020B0604020202020204" pitchFamily="34" charset="0"/>
              <a:ea typeface="Poppins"/>
              <a:cs typeface="Arial" panose="020B0604020202020204" pitchFamily="34" charset="0"/>
              <a:sym typeface="Poppins"/>
            </a:endParaRPr>
          </a:p>
          <a:p>
            <a:pPr lvl="0"/>
            <a:r>
              <a:rPr lang="en-US" sz="2398" dirty="0" err="1">
                <a:solidFill>
                  <a:srgbClr val="FFFFFF"/>
                </a:solidFill>
                <a:latin typeface="Arial" panose="020B0604020202020204" pitchFamily="34" charset="0"/>
                <a:ea typeface="Poppins"/>
                <a:cs typeface="Arial" panose="020B0604020202020204" pitchFamily="34" charset="0"/>
                <a:sym typeface="Poppins"/>
              </a:rPr>
              <a:t>Mục</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đích</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của</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kẻ</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tấn</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công</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phát</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hiện</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và</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bỏ</a:t>
            </a:r>
            <a:r>
              <a:rPr lang="en-US" sz="2398" dirty="0">
                <a:solidFill>
                  <a:srgbClr val="FFFFFF"/>
                </a:solidFill>
                <a:latin typeface="Arial" panose="020B0604020202020204" pitchFamily="34" charset="0"/>
                <a:ea typeface="Poppins"/>
                <a:cs typeface="Arial" panose="020B0604020202020204" pitchFamily="34" charset="0"/>
                <a:sym typeface="Poppins"/>
              </a:rPr>
              <a:t> qua honeypot </a:t>
            </a:r>
            <a:r>
              <a:rPr lang="en-US" sz="2398" dirty="0" err="1">
                <a:solidFill>
                  <a:srgbClr val="FFFFFF"/>
                </a:solidFill>
                <a:latin typeface="Arial" panose="020B0604020202020204" pitchFamily="34" charset="0"/>
                <a:ea typeface="Poppins"/>
                <a:cs typeface="Arial" panose="020B0604020202020204" pitchFamily="34" charset="0"/>
                <a:sym typeface="Poppins"/>
              </a:rPr>
              <a:t>để</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tránh</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bị</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giám</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sát</a:t>
            </a:r>
            <a:endParaRPr lang="en-US" sz="2398" dirty="0">
              <a:solidFill>
                <a:srgbClr val="FFFFFF"/>
              </a:solidFill>
              <a:latin typeface="Arial" panose="020B0604020202020204" pitchFamily="34" charset="0"/>
              <a:ea typeface="Poppins"/>
              <a:cs typeface="Arial" panose="020B0604020202020204" pitchFamily="34" charset="0"/>
              <a:sym typeface="Poppins"/>
            </a:endParaRPr>
          </a:p>
          <a:p>
            <a:pPr lvl="0"/>
            <a:endParaRPr lang="en-US" sz="2398" dirty="0">
              <a:solidFill>
                <a:srgbClr val="FFFFFF"/>
              </a:solidFill>
              <a:latin typeface="Arial" panose="020B0604020202020204" pitchFamily="34" charset="0"/>
              <a:ea typeface="Poppins"/>
              <a:cs typeface="Arial" panose="020B0604020202020204" pitchFamily="34" charset="0"/>
              <a:sym typeface="Poppins"/>
            </a:endParaRPr>
          </a:p>
          <a:p>
            <a:pPr lvl="0"/>
            <a:r>
              <a:rPr lang="en-US" sz="2398" dirty="0">
                <a:solidFill>
                  <a:srgbClr val="FFFFFF"/>
                </a:solidFill>
                <a:latin typeface="Arial" panose="020B0604020202020204" pitchFamily="34" charset="0"/>
                <a:ea typeface="Poppins"/>
                <a:cs typeface="Arial" panose="020B0604020202020204" pitchFamily="34" charset="0"/>
                <a:sym typeface="Poppins"/>
              </a:rPr>
              <a:t>Các </a:t>
            </a:r>
            <a:r>
              <a:rPr lang="en-US" sz="2398" dirty="0" err="1">
                <a:solidFill>
                  <a:srgbClr val="FFFFFF"/>
                </a:solidFill>
                <a:latin typeface="Arial" panose="020B0604020202020204" pitchFamily="34" charset="0"/>
                <a:ea typeface="Poppins"/>
                <a:cs typeface="Arial" panose="020B0604020202020204" pitchFamily="34" charset="0"/>
                <a:sym typeface="Poppins"/>
              </a:rPr>
              <a:t>công</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cụ</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phổ</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biến</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phát</a:t>
            </a:r>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hiện</a:t>
            </a:r>
            <a:r>
              <a:rPr lang="en-US" sz="2398" dirty="0">
                <a:solidFill>
                  <a:srgbClr val="FFFFFF"/>
                </a:solidFill>
                <a:latin typeface="Arial" panose="020B0604020202020204" pitchFamily="34" charset="0"/>
                <a:ea typeface="Poppins"/>
                <a:cs typeface="Arial" panose="020B0604020202020204" pitchFamily="34" charset="0"/>
                <a:sym typeface="Poppins"/>
              </a:rPr>
              <a:t> honeypot:</a:t>
            </a:r>
            <a:br>
              <a:rPr lang="en-US" sz="2398" dirty="0">
                <a:solidFill>
                  <a:srgbClr val="FFFFFF"/>
                </a:solidFill>
                <a:latin typeface="Arial" panose="020B0604020202020204" pitchFamily="34" charset="0"/>
                <a:ea typeface="Poppins"/>
                <a:cs typeface="Arial" panose="020B0604020202020204" pitchFamily="34" charset="0"/>
                <a:sym typeface="Poppins"/>
              </a:rPr>
            </a:br>
            <a:r>
              <a:rPr lang="en-US" sz="2398" dirty="0">
                <a:solidFill>
                  <a:srgbClr val="FFFFFF"/>
                </a:solidFill>
                <a:latin typeface="Arial" panose="020B0604020202020204" pitchFamily="34" charset="0"/>
                <a:ea typeface="Poppins"/>
                <a:cs typeface="Arial" panose="020B0604020202020204" pitchFamily="34" charset="0"/>
                <a:sym typeface="Poppins"/>
              </a:rPr>
              <a:t>- Send-safe Honeypot Hunter</a:t>
            </a:r>
          </a:p>
          <a:p>
            <a:pPr lvl="0"/>
            <a:r>
              <a:rPr lang="en-US" sz="2398" dirty="0">
                <a:solidFill>
                  <a:srgbClr val="FFFFFF"/>
                </a:solidFill>
                <a:latin typeface="Arial" panose="020B0604020202020204" pitchFamily="34" charset="0"/>
                <a:ea typeface="Poppins"/>
                <a:cs typeface="Arial" panose="020B0604020202020204" pitchFamily="34" charset="0"/>
                <a:sym typeface="Poppins"/>
              </a:rPr>
              <a:t>- </a:t>
            </a:r>
            <a:r>
              <a:rPr lang="en-US" sz="2398" dirty="0" err="1">
                <a:solidFill>
                  <a:srgbClr val="FFFFFF"/>
                </a:solidFill>
                <a:latin typeface="Arial" panose="020B0604020202020204" pitchFamily="34" charset="0"/>
                <a:ea typeface="Poppins"/>
                <a:cs typeface="Arial" panose="020B0604020202020204" pitchFamily="34" charset="0"/>
                <a:sym typeface="Poppins"/>
              </a:rPr>
              <a:t>kippo_detect</a:t>
            </a:r>
            <a:endParaRPr lang="en-US" sz="2398" dirty="0">
              <a:solidFill>
                <a:srgbClr val="FFFFFF"/>
              </a:solidFill>
              <a:latin typeface="Arial" panose="020B0604020202020204" pitchFamily="34" charset="0"/>
              <a:ea typeface="Poppins"/>
              <a:cs typeface="Arial" panose="020B0604020202020204" pitchFamily="34" charset="0"/>
              <a:sym typeface="Poppins"/>
            </a:endParaRPr>
          </a:p>
        </p:txBody>
      </p:sp>
      <p:sp>
        <p:nvSpPr>
          <p:cNvPr id="11" name="Freeform 11">
            <a:extLst>
              <a:ext uri="{FF2B5EF4-FFF2-40B4-BE49-F238E27FC236}">
                <a16:creationId xmlns:a16="http://schemas.microsoft.com/office/drawing/2014/main" id="{2991F219-4210-1557-D34D-57D90D574B0D}"/>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DE7D3467-CE84-3CC5-D06E-040E13667138}"/>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2BE06F5B-545B-8A38-B0CD-DEAFF04B4967}"/>
              </a:ext>
            </a:extLst>
          </p:cNvPr>
          <p:cNvSpPr txBox="1"/>
          <p:nvPr/>
        </p:nvSpPr>
        <p:spPr>
          <a:xfrm>
            <a:off x="1028700" y="2427514"/>
            <a:ext cx="16040100" cy="1010148"/>
          </a:xfrm>
          <a:prstGeom prst="rect">
            <a:avLst/>
          </a:prstGeom>
        </p:spPr>
        <p:txBody>
          <a:bodyPr wrap="square" lIns="0" tIns="0" rIns="0" bIns="0" rtlCol="0" anchor="t">
            <a:spAutoFit/>
          </a:bodyPr>
          <a:lstStyle/>
          <a:p>
            <a:pPr marL="0" lvl="0" indent="0" algn="l">
              <a:lnSpc>
                <a:spcPts val="8474"/>
              </a:lnSpc>
            </a:pP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Giới</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thiệu</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Honeypot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và</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phát</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hiện</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Honeypot</a:t>
            </a:r>
          </a:p>
        </p:txBody>
      </p:sp>
      <p:pic>
        <p:nvPicPr>
          <p:cNvPr id="7" name="Picture 6">
            <a:extLst>
              <a:ext uri="{FF2B5EF4-FFF2-40B4-BE49-F238E27FC236}">
                <a16:creationId xmlns:a16="http://schemas.microsoft.com/office/drawing/2014/main" id="{09B1B177-10B0-24CE-422F-C7A32D610360}"/>
              </a:ext>
            </a:extLst>
          </p:cNvPr>
          <p:cNvPicPr>
            <a:picLocks noChangeAspect="1"/>
          </p:cNvPicPr>
          <p:nvPr/>
        </p:nvPicPr>
        <p:blipFill>
          <a:blip r:embed="rId5"/>
          <a:stretch>
            <a:fillRect/>
          </a:stretch>
        </p:blipFill>
        <p:spPr>
          <a:xfrm>
            <a:off x="9178180" y="4320175"/>
            <a:ext cx="8053411" cy="5694013"/>
          </a:xfrm>
          <a:prstGeom prst="rect">
            <a:avLst/>
          </a:prstGeom>
        </p:spPr>
      </p:pic>
    </p:spTree>
    <p:extLst>
      <p:ext uri="{BB962C8B-B14F-4D97-AF65-F5344CB8AC3E}">
        <p14:creationId xmlns:p14="http://schemas.microsoft.com/office/powerpoint/2010/main" val="29081818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764E6-FEFF-47A4-D7B3-F7EF7A53278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BB6423F-2FAE-002F-1938-1323691FDFF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4975C192-C9E2-AEA0-F4EE-FE14058883E4}"/>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08A0CEC4-EE2D-01DE-EB00-CFE894FC814E}"/>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E37848E9-371E-2101-FA2F-5B5BB304AD23}"/>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E6EC2C99-DF51-FD76-F766-9BBF3115B2C0}"/>
              </a:ext>
            </a:extLst>
          </p:cNvPr>
          <p:cNvSpPr txBox="1"/>
          <p:nvPr/>
        </p:nvSpPr>
        <p:spPr>
          <a:xfrm>
            <a:off x="1028700" y="4061461"/>
            <a:ext cx="14668500" cy="4042260"/>
          </a:xfrm>
          <a:prstGeom prst="rect">
            <a:avLst/>
          </a:prstGeom>
        </p:spPr>
        <p:txBody>
          <a:bodyPr wrap="square" lIns="0" tIns="0" rIns="0" bIns="0" rtlCol="0" anchor="t">
            <a:spAutoFit/>
          </a:bodyPr>
          <a:lstStyle/>
          <a:p>
            <a:pPr lvl="0"/>
            <a:r>
              <a:rPr lang="vi-VN" sz="2400" dirty="0" err="1">
                <a:solidFill>
                  <a:schemeClr val="bg1"/>
                </a:solidFill>
                <a:latin typeface="Arial" panose="020B0604020202020204" pitchFamily="34" charset="0"/>
                <a:cs typeface="Arial" panose="020B0604020202020204" pitchFamily="34" charset="0"/>
              </a:rPr>
              <a:t>Layer</a:t>
            </a:r>
            <a:r>
              <a:rPr lang="vi-VN" sz="2400" dirty="0">
                <a:solidFill>
                  <a:schemeClr val="bg1"/>
                </a:solidFill>
                <a:latin typeface="Arial" panose="020B0604020202020204" pitchFamily="34" charset="0"/>
                <a:cs typeface="Arial" panose="020B0604020202020204" pitchFamily="34" charset="0"/>
              </a:rPr>
              <a:t> 7 </a:t>
            </a:r>
            <a:r>
              <a:rPr lang="vi-VN" sz="2400" dirty="0" err="1">
                <a:solidFill>
                  <a:schemeClr val="bg1"/>
                </a:solidFill>
                <a:latin typeface="Arial" panose="020B0604020202020204" pitchFamily="34" charset="0"/>
                <a:cs typeface="Arial" panose="020B0604020202020204" pitchFamily="34" charset="0"/>
              </a:rPr>
              <a:t>Tar</a:t>
            </a:r>
            <a:r>
              <a:rPr lang="vi-VN" sz="2400" dirty="0">
                <a:solidFill>
                  <a:schemeClr val="bg1"/>
                </a:solidFill>
                <a:latin typeface="Arial" panose="020B0604020202020204" pitchFamily="34" charset="0"/>
                <a:cs typeface="Arial" panose="020B0604020202020204" pitchFamily="34" charset="0"/>
              </a:rPr>
              <a:t> </a:t>
            </a:r>
            <a:r>
              <a:rPr lang="vi-VN" sz="2400" dirty="0" err="1">
                <a:solidFill>
                  <a:schemeClr val="bg1"/>
                </a:solidFill>
                <a:latin typeface="Arial" panose="020B0604020202020204" pitchFamily="34" charset="0"/>
                <a:cs typeface="Arial" panose="020B0604020202020204" pitchFamily="34" charset="0"/>
              </a:rPr>
              <a:t>Pit</a:t>
            </a:r>
            <a:r>
              <a:rPr lang="vi-VN" sz="2400" dirty="0">
                <a:solidFill>
                  <a:schemeClr val="bg1"/>
                </a:solidFill>
                <a:latin typeface="Arial" panose="020B0604020202020204" pitchFamily="34" charset="0"/>
                <a:cs typeface="Arial" panose="020B0604020202020204" pitchFamily="34" charset="0"/>
              </a:rPr>
              <a:t>:</a:t>
            </a:r>
          </a:p>
          <a:p>
            <a:pPr lvl="0"/>
            <a:r>
              <a:rPr lang="en-US" sz="2400" dirty="0">
                <a:solidFill>
                  <a:schemeClr val="bg1"/>
                </a:solidFill>
                <a:latin typeface="Arial" panose="020B0604020202020204" pitchFamily="34" charset="0"/>
                <a:cs typeface="Arial" panose="020B0604020202020204" pitchFamily="34" charset="0"/>
              </a:rPr>
              <a:t>- </a:t>
            </a:r>
            <a:r>
              <a:rPr lang="vi-VN" sz="2400" dirty="0">
                <a:solidFill>
                  <a:schemeClr val="bg1"/>
                </a:solidFill>
                <a:latin typeface="Arial" panose="020B0604020202020204" pitchFamily="34" charset="0"/>
                <a:cs typeface="Arial" panose="020B0604020202020204" pitchFamily="34" charset="0"/>
              </a:rPr>
              <a:t>Bẫy ứng dụng (ví dụ: SMTP) phản hồi cực kỳ chậm đối với các lệnh gửi đến.</a:t>
            </a:r>
          </a:p>
          <a:p>
            <a:pPr marL="342900" lvl="0" indent="-342900">
              <a:buFontTx/>
              <a:buChar char="-"/>
            </a:pPr>
            <a:r>
              <a:rPr lang="vi-VN" sz="2400" dirty="0">
                <a:solidFill>
                  <a:schemeClr val="bg1"/>
                </a:solidFill>
                <a:latin typeface="Arial" panose="020B0604020202020204" pitchFamily="34" charset="0"/>
                <a:cs typeface="Arial" panose="020B0604020202020204" pitchFamily="34" charset="0"/>
              </a:rPr>
              <a:t>Nhận biết: Đo độ trễ (</a:t>
            </a:r>
            <a:r>
              <a:rPr lang="vi-VN" sz="2400" dirty="0" err="1">
                <a:solidFill>
                  <a:schemeClr val="bg1"/>
                </a:solidFill>
                <a:latin typeface="Arial" panose="020B0604020202020204" pitchFamily="34" charset="0"/>
                <a:cs typeface="Arial" panose="020B0604020202020204" pitchFamily="34" charset="0"/>
              </a:rPr>
              <a:t>latency</a:t>
            </a:r>
            <a:r>
              <a:rPr lang="vi-VN" sz="2400" dirty="0">
                <a:solidFill>
                  <a:schemeClr val="bg1"/>
                </a:solidFill>
                <a:latin typeface="Arial" panose="020B0604020202020204" pitchFamily="34" charset="0"/>
                <a:cs typeface="Arial" panose="020B0604020202020204" pitchFamily="34" charset="0"/>
              </a:rPr>
              <a:t>/RTT) phản hồi từ dịch vụ.</a:t>
            </a:r>
          </a:p>
          <a:p>
            <a:pPr marL="342900" lvl="0" indent="-342900">
              <a:buFontTx/>
              <a:buChar char="-"/>
            </a:pPr>
            <a:endParaRPr lang="vi-VN" sz="2400" dirty="0">
              <a:solidFill>
                <a:schemeClr val="bg1"/>
              </a:solidFill>
              <a:latin typeface="Arial" panose="020B0604020202020204" pitchFamily="34" charset="0"/>
              <a:cs typeface="Arial" panose="020B0604020202020204" pitchFamily="34" charset="0"/>
            </a:endParaRPr>
          </a:p>
          <a:p>
            <a:pPr lvl="0"/>
            <a:r>
              <a:rPr lang="vi-VN" sz="2400" dirty="0" err="1">
                <a:solidFill>
                  <a:schemeClr val="bg1"/>
                </a:solidFill>
                <a:latin typeface="Arial" panose="020B0604020202020204" pitchFamily="34" charset="0"/>
                <a:cs typeface="Arial" panose="020B0604020202020204" pitchFamily="34" charset="0"/>
              </a:rPr>
              <a:t>Layer</a:t>
            </a:r>
            <a:r>
              <a:rPr lang="vi-VN" sz="2400" dirty="0">
                <a:solidFill>
                  <a:schemeClr val="bg1"/>
                </a:solidFill>
                <a:latin typeface="Arial" panose="020B0604020202020204" pitchFamily="34" charset="0"/>
                <a:cs typeface="Arial" panose="020B0604020202020204" pitchFamily="34" charset="0"/>
              </a:rPr>
              <a:t> 4 </a:t>
            </a:r>
            <a:r>
              <a:rPr lang="vi-VN" sz="2400" dirty="0" err="1">
                <a:solidFill>
                  <a:schemeClr val="bg1"/>
                </a:solidFill>
                <a:latin typeface="Arial" panose="020B0604020202020204" pitchFamily="34" charset="0"/>
                <a:cs typeface="Arial" panose="020B0604020202020204" pitchFamily="34" charset="0"/>
              </a:rPr>
              <a:t>Tar</a:t>
            </a:r>
            <a:r>
              <a:rPr lang="vi-VN" sz="2400" dirty="0">
                <a:solidFill>
                  <a:schemeClr val="bg1"/>
                </a:solidFill>
                <a:latin typeface="Arial" panose="020B0604020202020204" pitchFamily="34" charset="0"/>
                <a:cs typeface="Arial" panose="020B0604020202020204" pitchFamily="34" charset="0"/>
              </a:rPr>
              <a:t> </a:t>
            </a:r>
            <a:r>
              <a:rPr lang="vi-VN" sz="2400" dirty="0" err="1">
                <a:solidFill>
                  <a:schemeClr val="bg1"/>
                </a:solidFill>
                <a:latin typeface="Arial" panose="020B0604020202020204" pitchFamily="34" charset="0"/>
                <a:cs typeface="Arial" panose="020B0604020202020204" pitchFamily="34" charset="0"/>
              </a:rPr>
              <a:t>Pit</a:t>
            </a:r>
            <a:r>
              <a:rPr lang="vi-VN" sz="2400" dirty="0">
                <a:solidFill>
                  <a:schemeClr val="bg1"/>
                </a:solidFill>
                <a:latin typeface="Arial" panose="020B0604020202020204" pitchFamily="34" charset="0"/>
                <a:cs typeface="Arial" panose="020B0604020202020204" pitchFamily="34" charset="0"/>
              </a:rPr>
              <a:t> (ví dụ: </a:t>
            </a:r>
            <a:r>
              <a:rPr lang="vi-VN" sz="2400" dirty="0" err="1">
                <a:solidFill>
                  <a:schemeClr val="bg1"/>
                </a:solidFill>
                <a:latin typeface="Arial" panose="020B0604020202020204" pitchFamily="34" charset="0"/>
                <a:cs typeface="Arial" panose="020B0604020202020204" pitchFamily="34" charset="0"/>
              </a:rPr>
              <a:t>LaBrea</a:t>
            </a:r>
            <a:r>
              <a:rPr lang="vi-VN" sz="2400" dirty="0">
                <a:solidFill>
                  <a:schemeClr val="bg1"/>
                </a:solidFill>
                <a:latin typeface="Arial" panose="020B0604020202020204" pitchFamily="34" charset="0"/>
                <a:cs typeface="Arial" panose="020B0604020202020204" pitchFamily="34" charset="0"/>
              </a:rPr>
              <a:t>):</a:t>
            </a:r>
          </a:p>
          <a:p>
            <a:pPr lvl="0"/>
            <a:r>
              <a:rPr lang="en-US" sz="2400" dirty="0">
                <a:solidFill>
                  <a:schemeClr val="bg1"/>
                </a:solidFill>
                <a:latin typeface="Arial" panose="020B0604020202020204" pitchFamily="34" charset="0"/>
                <a:cs typeface="Arial" panose="020B0604020202020204" pitchFamily="34" charset="0"/>
              </a:rPr>
              <a:t>- </a:t>
            </a:r>
            <a:r>
              <a:rPr lang="vi-VN" sz="2400" dirty="0">
                <a:solidFill>
                  <a:schemeClr val="bg1"/>
                </a:solidFill>
                <a:latin typeface="Arial" panose="020B0604020202020204" pitchFamily="34" charset="0"/>
                <a:cs typeface="Arial" panose="020B0604020202020204" pitchFamily="34" charset="0"/>
              </a:rPr>
              <a:t>Chấp nhận kết nối TCP nhưng lập tức hạ TCP </a:t>
            </a:r>
            <a:r>
              <a:rPr lang="vi-VN" sz="2400" dirty="0" err="1">
                <a:solidFill>
                  <a:schemeClr val="bg1"/>
                </a:solidFill>
                <a:latin typeface="Arial" panose="020B0604020202020204" pitchFamily="34" charset="0"/>
                <a:cs typeface="Arial" panose="020B0604020202020204" pitchFamily="34" charset="0"/>
              </a:rPr>
              <a:t>Window</a:t>
            </a:r>
            <a:r>
              <a:rPr lang="vi-VN" sz="2400" dirty="0">
                <a:solidFill>
                  <a:schemeClr val="bg1"/>
                </a:solidFill>
                <a:latin typeface="Arial" panose="020B0604020202020204" pitchFamily="34" charset="0"/>
                <a:cs typeface="Arial" panose="020B0604020202020204" pitchFamily="34" charset="0"/>
              </a:rPr>
              <a:t> </a:t>
            </a:r>
            <a:r>
              <a:rPr lang="vi-VN" sz="2400" dirty="0" err="1">
                <a:solidFill>
                  <a:schemeClr val="bg1"/>
                </a:solidFill>
                <a:latin typeface="Arial" panose="020B0604020202020204" pitchFamily="34" charset="0"/>
                <a:cs typeface="Arial" panose="020B0604020202020204" pitchFamily="34" charset="0"/>
              </a:rPr>
              <a:t>Size</a:t>
            </a:r>
            <a:r>
              <a:rPr lang="vi-VN" sz="2400" dirty="0">
                <a:solidFill>
                  <a:schemeClr val="bg1"/>
                </a:solidFill>
                <a:latin typeface="Arial" panose="020B0604020202020204" pitchFamily="34" charset="0"/>
                <a:cs typeface="Arial" panose="020B0604020202020204" pitchFamily="34" charset="0"/>
              </a:rPr>
              <a:t> = 0.</a:t>
            </a:r>
          </a:p>
          <a:p>
            <a:pPr marL="342900" lvl="0" indent="-342900">
              <a:buFontTx/>
              <a:buChar char="-"/>
            </a:pPr>
            <a:r>
              <a:rPr lang="vi-VN" sz="2400" dirty="0">
                <a:solidFill>
                  <a:schemeClr val="bg1"/>
                </a:solidFill>
                <a:latin typeface="Arial" panose="020B0604020202020204" pitchFamily="34" charset="0"/>
                <a:cs typeface="Arial" panose="020B0604020202020204" pitchFamily="34" charset="0"/>
              </a:rPr>
              <a:t>Liên tục gửi ACK giữ kết nối làm cạn kiệt tài nguyên kẻ tấn công.</a:t>
            </a:r>
          </a:p>
          <a:p>
            <a:pPr marL="342900" lvl="0" indent="-342900">
              <a:buFontTx/>
              <a:buChar char="-"/>
            </a:pPr>
            <a:endParaRPr lang="vi-VN" sz="2400" dirty="0">
              <a:solidFill>
                <a:schemeClr val="bg1"/>
              </a:solidFill>
              <a:latin typeface="Arial" panose="020B0604020202020204" pitchFamily="34" charset="0"/>
              <a:cs typeface="Arial" panose="020B0604020202020204" pitchFamily="34" charset="0"/>
            </a:endParaRPr>
          </a:p>
          <a:p>
            <a:pPr lvl="0"/>
            <a:r>
              <a:rPr lang="vi-VN" sz="2400" dirty="0" err="1">
                <a:solidFill>
                  <a:schemeClr val="bg1"/>
                </a:solidFill>
                <a:latin typeface="Arial" panose="020B0604020202020204" pitchFamily="34" charset="0"/>
                <a:cs typeface="Arial" panose="020B0604020202020204" pitchFamily="34" charset="0"/>
              </a:rPr>
              <a:t>Layer</a:t>
            </a:r>
            <a:r>
              <a:rPr lang="vi-VN" sz="2400" dirty="0">
                <a:solidFill>
                  <a:schemeClr val="bg1"/>
                </a:solidFill>
                <a:latin typeface="Arial" panose="020B0604020202020204" pitchFamily="34" charset="0"/>
                <a:cs typeface="Arial" panose="020B0604020202020204" pitchFamily="34" charset="0"/>
              </a:rPr>
              <a:t> 2 </a:t>
            </a:r>
            <a:r>
              <a:rPr lang="vi-VN" sz="2400" dirty="0" err="1">
                <a:solidFill>
                  <a:schemeClr val="bg1"/>
                </a:solidFill>
                <a:latin typeface="Arial" panose="020B0604020202020204" pitchFamily="34" charset="0"/>
                <a:cs typeface="Arial" panose="020B0604020202020204" pitchFamily="34" charset="0"/>
              </a:rPr>
              <a:t>Tar</a:t>
            </a:r>
            <a:r>
              <a:rPr lang="vi-VN" sz="2400" dirty="0">
                <a:solidFill>
                  <a:schemeClr val="bg1"/>
                </a:solidFill>
                <a:latin typeface="Arial" panose="020B0604020202020204" pitchFamily="34" charset="0"/>
                <a:cs typeface="Arial" panose="020B0604020202020204" pitchFamily="34" charset="0"/>
              </a:rPr>
              <a:t> </a:t>
            </a:r>
            <a:r>
              <a:rPr lang="vi-VN" sz="2400" dirty="0" err="1">
                <a:solidFill>
                  <a:schemeClr val="bg1"/>
                </a:solidFill>
                <a:latin typeface="Arial" panose="020B0604020202020204" pitchFamily="34" charset="0"/>
                <a:cs typeface="Arial" panose="020B0604020202020204" pitchFamily="34" charset="0"/>
              </a:rPr>
              <a:t>Pit</a:t>
            </a:r>
            <a:r>
              <a:rPr lang="vi-VN" sz="2400" dirty="0">
                <a:solidFill>
                  <a:schemeClr val="bg1"/>
                </a:solidFill>
                <a:latin typeface="Arial" panose="020B0604020202020204" pitchFamily="34" charset="0"/>
                <a:cs typeface="Arial" panose="020B0604020202020204" pitchFamily="34" charset="0"/>
              </a:rPr>
              <a:t>:</a:t>
            </a:r>
          </a:p>
          <a:p>
            <a:pPr lvl="0"/>
            <a:r>
              <a:rPr lang="vi-VN" sz="2400" dirty="0">
                <a:solidFill>
                  <a:schemeClr val="bg1"/>
                </a:solidFill>
                <a:latin typeface="Arial" panose="020B0604020202020204" pitchFamily="34" charset="0"/>
                <a:cs typeface="Arial" panose="020B0604020202020204" pitchFamily="34" charset="0"/>
              </a:rPr>
              <a:t>Nhận biết: Phản hồi ARP mang địa chỉ MAC đặc thù 00:00:0f:ff:ff:ff (hoạt động như lỗ đen).</a:t>
            </a:r>
          </a:p>
          <a:p>
            <a:pPr marL="0" lvl="0" indent="0" algn="l">
              <a:lnSpc>
                <a:spcPts val="2901"/>
              </a:lnSpc>
            </a:pPr>
            <a:endParaRPr lang="vi-VN" sz="2400" dirty="0">
              <a:solidFill>
                <a:srgbClr val="FFFFFF"/>
              </a:solidFill>
              <a:latin typeface="Arial" panose="020B0604020202020204" pitchFamily="34" charset="0"/>
              <a:ea typeface="Poppins"/>
              <a:cs typeface="Arial" panose="020B0604020202020204" pitchFamily="34" charset="0"/>
              <a:sym typeface="Poppins"/>
            </a:endParaRPr>
          </a:p>
        </p:txBody>
      </p:sp>
      <p:sp>
        <p:nvSpPr>
          <p:cNvPr id="11" name="Freeform 11">
            <a:extLst>
              <a:ext uri="{FF2B5EF4-FFF2-40B4-BE49-F238E27FC236}">
                <a16:creationId xmlns:a16="http://schemas.microsoft.com/office/drawing/2014/main" id="{608DEF85-9671-9898-548C-5C3D8AEC835C}"/>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9EFFBCEE-0584-0165-0DDE-3704035A95E2}"/>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0BC45295-7B88-AED8-6FBB-27AA3B542B02}"/>
              </a:ext>
            </a:extLst>
          </p:cNvPr>
          <p:cNvSpPr txBox="1"/>
          <p:nvPr/>
        </p:nvSpPr>
        <p:spPr>
          <a:xfrm>
            <a:off x="1028700" y="2427514"/>
            <a:ext cx="15963900" cy="1010148"/>
          </a:xfrm>
          <a:prstGeom prst="rect">
            <a:avLst/>
          </a:prstGeom>
        </p:spPr>
        <p:txBody>
          <a:bodyPr wrap="square" lIns="0" tIns="0" rIns="0" bIns="0" rtlCol="0" anchor="t">
            <a:spAutoFit/>
          </a:bodyPr>
          <a:lstStyle/>
          <a:p>
            <a:pPr marL="0" lvl="0" indent="0" algn="l">
              <a:lnSpc>
                <a:spcPts val="8474"/>
              </a:lnSpc>
            </a:pP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Kỹ</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thuật</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phát</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hiện</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Tar Pit (Layer 2, 4, 7)</a:t>
            </a:r>
          </a:p>
        </p:txBody>
      </p:sp>
    </p:spTree>
    <p:extLst>
      <p:ext uri="{BB962C8B-B14F-4D97-AF65-F5344CB8AC3E}">
        <p14:creationId xmlns:p14="http://schemas.microsoft.com/office/powerpoint/2010/main" val="38065629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906D3-D154-FB9F-C825-DC95EF9F0F0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96F79F4-52FD-8FA2-A879-415CB8C90D7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5E4F20AD-F984-9ACB-0AD8-DD4F6EC3B990}"/>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F2D39D0B-1D20-CE6F-4859-A121811CF2AA}"/>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9FB3A55A-994C-53DD-9DC3-4BA924C40F51}"/>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3D17A058-0FA3-0880-48B7-290FF669AF3A}"/>
              </a:ext>
            </a:extLst>
          </p:cNvPr>
          <p:cNvSpPr txBox="1"/>
          <p:nvPr/>
        </p:nvSpPr>
        <p:spPr>
          <a:xfrm>
            <a:off x="1028700" y="4305300"/>
            <a:ext cx="13906500" cy="3303597"/>
          </a:xfrm>
          <a:prstGeom prst="rect">
            <a:avLst/>
          </a:prstGeom>
        </p:spPr>
        <p:txBody>
          <a:bodyPr wrap="square" lIns="0" tIns="0" rIns="0" bIns="0" rtlCol="0" anchor="t">
            <a:spAutoFit/>
          </a:bodyPr>
          <a:lstStyle/>
          <a:p>
            <a:pPr lvl="0"/>
            <a:r>
              <a:rPr lang="vi-VN" sz="2400" dirty="0" err="1">
                <a:solidFill>
                  <a:schemeClr val="bg1"/>
                </a:solidFill>
                <a:latin typeface="Arial" panose="020B0604020202020204" pitchFamily="34" charset="0"/>
                <a:cs typeface="Arial" panose="020B0604020202020204" pitchFamily="34" charset="0"/>
              </a:rPr>
              <a:t>VMware-based</a:t>
            </a:r>
            <a:r>
              <a:rPr lang="vi-VN" sz="2400" dirty="0">
                <a:solidFill>
                  <a:schemeClr val="bg1"/>
                </a:solidFill>
                <a:latin typeface="Arial" panose="020B0604020202020204" pitchFamily="34" charset="0"/>
                <a:cs typeface="Arial" panose="020B0604020202020204" pitchFamily="34" charset="0"/>
              </a:rPr>
              <a:t> </a:t>
            </a:r>
            <a:r>
              <a:rPr lang="vi-VN" sz="2400" dirty="0" err="1">
                <a:solidFill>
                  <a:schemeClr val="bg1"/>
                </a:solidFill>
                <a:latin typeface="Arial" panose="020B0604020202020204" pitchFamily="34" charset="0"/>
                <a:cs typeface="Arial" panose="020B0604020202020204" pitchFamily="34" charset="0"/>
              </a:rPr>
              <a:t>Honeypot</a:t>
            </a:r>
            <a:r>
              <a:rPr lang="vi-VN" sz="2400" dirty="0">
                <a:solidFill>
                  <a:schemeClr val="bg1"/>
                </a:solidFill>
                <a:latin typeface="Arial" panose="020B0604020202020204" pitchFamily="34" charset="0"/>
                <a:cs typeface="Arial" panose="020B0604020202020204" pitchFamily="34" charset="0"/>
              </a:rPr>
              <a:t>:</a:t>
            </a:r>
          </a:p>
          <a:p>
            <a:pPr lvl="0"/>
            <a:r>
              <a:rPr lang="en-US" sz="2400" dirty="0">
                <a:solidFill>
                  <a:schemeClr val="bg1"/>
                </a:solidFill>
                <a:latin typeface="Arial" panose="020B0604020202020204" pitchFamily="34" charset="0"/>
                <a:cs typeface="Arial" panose="020B0604020202020204" pitchFamily="34" charset="0"/>
              </a:rPr>
              <a:t>- </a:t>
            </a:r>
            <a:r>
              <a:rPr lang="vi-VN" sz="2400" dirty="0" err="1">
                <a:solidFill>
                  <a:schemeClr val="bg1"/>
                </a:solidFill>
                <a:latin typeface="Arial" panose="020B0604020202020204" pitchFamily="34" charset="0"/>
                <a:cs typeface="Arial" panose="020B0604020202020204" pitchFamily="34" charset="0"/>
              </a:rPr>
              <a:t>VMware</a:t>
            </a:r>
            <a:r>
              <a:rPr lang="vi-VN" sz="2400" dirty="0">
                <a:solidFill>
                  <a:schemeClr val="bg1"/>
                </a:solidFill>
                <a:latin typeface="Arial" panose="020B0604020202020204" pitchFamily="34" charset="0"/>
                <a:cs typeface="Arial" panose="020B0604020202020204" pitchFamily="34" charset="0"/>
              </a:rPr>
              <a:t> được dùng phổ biến để dựng </a:t>
            </a:r>
            <a:r>
              <a:rPr lang="vi-VN" sz="2400" dirty="0" err="1">
                <a:solidFill>
                  <a:schemeClr val="bg1"/>
                </a:solidFill>
                <a:latin typeface="Arial" panose="020B0604020202020204" pitchFamily="34" charset="0"/>
                <a:cs typeface="Arial" panose="020B0604020202020204" pitchFamily="34" charset="0"/>
              </a:rPr>
              <a:t>Honeypot</a:t>
            </a:r>
            <a:r>
              <a:rPr lang="vi-VN" sz="2400" dirty="0">
                <a:solidFill>
                  <a:schemeClr val="bg1"/>
                </a:solidFill>
                <a:latin typeface="Arial" panose="020B0604020202020204" pitchFamily="34" charset="0"/>
                <a:cs typeface="Arial" panose="020B0604020202020204" pitchFamily="34" charset="0"/>
              </a:rPr>
              <a:t> nhờ khả năng quản lý tài nguyên linh hoạt.</a:t>
            </a:r>
          </a:p>
          <a:p>
            <a:pPr marL="342900" lvl="0" indent="-342900">
              <a:buFontTx/>
              <a:buChar char="-"/>
            </a:pPr>
            <a:r>
              <a:rPr lang="vi-VN" sz="2400" dirty="0">
                <a:solidFill>
                  <a:schemeClr val="bg1"/>
                </a:solidFill>
                <a:latin typeface="Arial" panose="020B0604020202020204" pitchFamily="34" charset="0"/>
                <a:cs typeface="Arial" panose="020B0604020202020204" pitchFamily="34" charset="0"/>
              </a:rPr>
              <a:t>Nhận biết: Phân tích địa chỉ MAC của </a:t>
            </a:r>
            <a:r>
              <a:rPr lang="vi-VN" sz="2400" dirty="0" err="1">
                <a:solidFill>
                  <a:schemeClr val="bg1"/>
                </a:solidFill>
                <a:latin typeface="Arial" panose="020B0604020202020204" pitchFamily="34" charset="0"/>
                <a:cs typeface="Arial" panose="020B0604020202020204" pitchFamily="34" charset="0"/>
              </a:rPr>
              <a:t>card</a:t>
            </a:r>
            <a:r>
              <a:rPr lang="vi-VN" sz="2400" dirty="0">
                <a:solidFill>
                  <a:schemeClr val="bg1"/>
                </a:solidFill>
                <a:latin typeface="Arial" panose="020B0604020202020204" pitchFamily="34" charset="0"/>
                <a:cs typeface="Arial" panose="020B0604020202020204" pitchFamily="34" charset="0"/>
              </a:rPr>
              <a:t> mạng và so sánh với dải MAC đăng ký của </a:t>
            </a:r>
            <a:r>
              <a:rPr lang="vi-VN" sz="2400" dirty="0" err="1">
                <a:solidFill>
                  <a:schemeClr val="bg1"/>
                </a:solidFill>
                <a:latin typeface="Arial" panose="020B0604020202020204" pitchFamily="34" charset="0"/>
                <a:cs typeface="Arial" panose="020B0604020202020204" pitchFamily="34" charset="0"/>
              </a:rPr>
              <a:t>VMware</a:t>
            </a:r>
            <a:r>
              <a:rPr lang="vi-VN" sz="2400" dirty="0">
                <a:solidFill>
                  <a:schemeClr val="bg1"/>
                </a:solidFill>
                <a:latin typeface="Arial" panose="020B0604020202020204" pitchFamily="34" charset="0"/>
                <a:cs typeface="Arial" panose="020B0604020202020204" pitchFamily="34" charset="0"/>
              </a:rPr>
              <a:t> </a:t>
            </a:r>
            <a:r>
              <a:rPr lang="vi-VN" sz="2400" dirty="0" err="1">
                <a:solidFill>
                  <a:schemeClr val="bg1"/>
                </a:solidFill>
                <a:latin typeface="Arial" panose="020B0604020202020204" pitchFamily="34" charset="0"/>
                <a:cs typeface="Arial" panose="020B0604020202020204" pitchFamily="34" charset="0"/>
              </a:rPr>
              <a:t>Inc</a:t>
            </a:r>
            <a:r>
              <a:rPr lang="vi-VN" sz="2400" dirty="0">
                <a:solidFill>
                  <a:schemeClr val="bg1"/>
                </a:solidFill>
                <a:latin typeface="Arial" panose="020B0604020202020204" pitchFamily="34" charset="0"/>
                <a:cs typeface="Arial" panose="020B0604020202020204" pitchFamily="34" charset="0"/>
              </a:rPr>
              <a:t> (chuẩn IEEE).</a:t>
            </a:r>
          </a:p>
          <a:p>
            <a:pPr marL="342900" lvl="0" indent="-342900">
              <a:buFontTx/>
              <a:buChar char="-"/>
            </a:pPr>
            <a:endParaRPr lang="vi-VN" sz="2400" dirty="0">
              <a:solidFill>
                <a:schemeClr val="bg1"/>
              </a:solidFill>
              <a:latin typeface="Arial" panose="020B0604020202020204" pitchFamily="34" charset="0"/>
              <a:cs typeface="Arial" panose="020B0604020202020204" pitchFamily="34" charset="0"/>
            </a:endParaRPr>
          </a:p>
          <a:p>
            <a:pPr lvl="0"/>
            <a:r>
              <a:rPr lang="vi-VN" sz="2400" dirty="0" err="1">
                <a:solidFill>
                  <a:schemeClr val="bg1"/>
                </a:solidFill>
                <a:latin typeface="Arial" panose="020B0604020202020204" pitchFamily="34" charset="0"/>
                <a:cs typeface="Arial" panose="020B0604020202020204" pitchFamily="34" charset="0"/>
              </a:rPr>
              <a:t>Linux</a:t>
            </a:r>
            <a:r>
              <a:rPr lang="vi-VN" sz="2400" dirty="0">
                <a:solidFill>
                  <a:schemeClr val="bg1"/>
                </a:solidFill>
                <a:latin typeface="Arial" panose="020B0604020202020204" pitchFamily="34" charset="0"/>
                <a:cs typeface="Arial" panose="020B0604020202020204" pitchFamily="34" charset="0"/>
              </a:rPr>
              <a:t> </a:t>
            </a:r>
            <a:r>
              <a:rPr lang="vi-VN" sz="2400" dirty="0" err="1">
                <a:solidFill>
                  <a:schemeClr val="bg1"/>
                </a:solidFill>
                <a:latin typeface="Arial" panose="020B0604020202020204" pitchFamily="34" charset="0"/>
                <a:cs typeface="Arial" panose="020B0604020202020204" pitchFamily="34" charset="0"/>
              </a:rPr>
              <a:t>User-Mode</a:t>
            </a:r>
            <a:r>
              <a:rPr lang="vi-VN" sz="2400" dirty="0">
                <a:solidFill>
                  <a:schemeClr val="bg1"/>
                </a:solidFill>
                <a:latin typeface="Arial" panose="020B0604020202020204" pitchFamily="34" charset="0"/>
                <a:cs typeface="Arial" panose="020B0604020202020204" pitchFamily="34" charset="0"/>
              </a:rPr>
              <a:t> (UML) </a:t>
            </a:r>
            <a:r>
              <a:rPr lang="vi-VN" sz="2400" dirty="0" err="1">
                <a:solidFill>
                  <a:schemeClr val="bg1"/>
                </a:solidFill>
                <a:latin typeface="Arial" panose="020B0604020202020204" pitchFamily="34" charset="0"/>
                <a:cs typeface="Arial" panose="020B0604020202020204" pitchFamily="34" charset="0"/>
              </a:rPr>
              <a:t>Honeypot</a:t>
            </a:r>
            <a:r>
              <a:rPr lang="vi-VN" sz="2400" dirty="0">
                <a:solidFill>
                  <a:schemeClr val="bg1"/>
                </a:solidFill>
                <a:latin typeface="Arial" panose="020B0604020202020204" pitchFamily="34" charset="0"/>
                <a:cs typeface="Arial" panose="020B0604020202020204" pitchFamily="34" charset="0"/>
              </a:rPr>
              <a:t>:</a:t>
            </a:r>
          </a:p>
          <a:p>
            <a:pPr lvl="0"/>
            <a:r>
              <a:rPr lang="en-US" sz="2400" dirty="0">
                <a:solidFill>
                  <a:schemeClr val="bg1"/>
                </a:solidFill>
                <a:latin typeface="Arial" panose="020B0604020202020204" pitchFamily="34" charset="0"/>
                <a:cs typeface="Arial" panose="020B0604020202020204" pitchFamily="34" charset="0"/>
              </a:rPr>
              <a:t>- </a:t>
            </a:r>
            <a:r>
              <a:rPr lang="vi-VN" sz="2400" dirty="0">
                <a:solidFill>
                  <a:schemeClr val="bg1"/>
                </a:solidFill>
                <a:latin typeface="Arial" panose="020B0604020202020204" pitchFamily="34" charset="0"/>
                <a:cs typeface="Arial" panose="020B0604020202020204" pitchFamily="34" charset="0"/>
              </a:rPr>
              <a:t>Phần mềm nguồn mở tạo máy ảo nhẹ để triển khai </a:t>
            </a:r>
            <a:r>
              <a:rPr lang="en-US" sz="2400" dirty="0">
                <a:solidFill>
                  <a:schemeClr val="bg1"/>
                </a:solidFill>
                <a:latin typeface="Arial" panose="020B0604020202020204" pitchFamily="34" charset="0"/>
                <a:cs typeface="Arial" panose="020B0604020202020204" pitchFamily="34" charset="0"/>
              </a:rPr>
              <a:t> </a:t>
            </a:r>
            <a:r>
              <a:rPr lang="vi-VN" sz="2400" dirty="0" err="1">
                <a:solidFill>
                  <a:schemeClr val="bg1"/>
                </a:solidFill>
                <a:latin typeface="Arial" panose="020B0604020202020204" pitchFamily="34" charset="0"/>
                <a:cs typeface="Arial" panose="020B0604020202020204" pitchFamily="34" charset="0"/>
              </a:rPr>
              <a:t>Honeypot</a:t>
            </a:r>
            <a:r>
              <a:rPr lang="vi-VN" sz="2400" dirty="0">
                <a:solidFill>
                  <a:schemeClr val="bg1"/>
                </a:solidFill>
                <a:latin typeface="Arial" panose="020B0604020202020204" pitchFamily="34" charset="0"/>
                <a:cs typeface="Arial" panose="020B0604020202020204" pitchFamily="34" charset="0"/>
              </a:rPr>
              <a:t>.</a:t>
            </a:r>
          </a:p>
          <a:p>
            <a:pPr lvl="0"/>
            <a:r>
              <a:rPr lang="en-US" sz="2400" dirty="0">
                <a:solidFill>
                  <a:schemeClr val="bg1"/>
                </a:solidFill>
                <a:latin typeface="Arial" panose="020B0604020202020204" pitchFamily="34" charset="0"/>
                <a:cs typeface="Arial" panose="020B0604020202020204" pitchFamily="34" charset="0"/>
              </a:rPr>
              <a:t>- </a:t>
            </a:r>
            <a:r>
              <a:rPr lang="vi-VN" sz="2400" dirty="0">
                <a:solidFill>
                  <a:schemeClr val="bg1"/>
                </a:solidFill>
                <a:latin typeface="Arial" panose="020B0604020202020204" pitchFamily="34" charset="0"/>
                <a:cs typeface="Arial" panose="020B0604020202020204" pitchFamily="34" charset="0"/>
              </a:rPr>
              <a:t>Nhận biết: Kiểm tra các tệp hệ thống đặc thù: /</a:t>
            </a:r>
            <a:r>
              <a:rPr lang="vi-VN" sz="2400" dirty="0" err="1">
                <a:solidFill>
                  <a:schemeClr val="bg1"/>
                </a:solidFill>
                <a:latin typeface="Arial" panose="020B0604020202020204" pitchFamily="34" charset="0"/>
                <a:cs typeface="Arial" panose="020B0604020202020204" pitchFamily="34" charset="0"/>
              </a:rPr>
              <a:t>proc</a:t>
            </a:r>
            <a:r>
              <a:rPr lang="vi-VN" sz="2400" dirty="0">
                <a:solidFill>
                  <a:schemeClr val="bg1"/>
                </a:solidFill>
                <a:latin typeface="Arial" panose="020B0604020202020204" pitchFamily="34" charset="0"/>
                <a:cs typeface="Arial" panose="020B0604020202020204" pitchFamily="34" charset="0"/>
              </a:rPr>
              <a:t>/</a:t>
            </a:r>
            <a:r>
              <a:rPr lang="vi-VN" sz="2400" dirty="0" err="1">
                <a:solidFill>
                  <a:schemeClr val="bg1"/>
                </a:solidFill>
                <a:latin typeface="Arial" panose="020B0604020202020204" pitchFamily="34" charset="0"/>
                <a:cs typeface="Arial" panose="020B0604020202020204" pitchFamily="34" charset="0"/>
              </a:rPr>
              <a:t>mounts</a:t>
            </a:r>
            <a:r>
              <a:rPr lang="vi-VN" sz="2400" dirty="0">
                <a:solidFill>
                  <a:schemeClr val="bg1"/>
                </a:solidFill>
                <a:latin typeface="Arial" panose="020B0604020202020204" pitchFamily="34" charset="0"/>
                <a:cs typeface="Arial" panose="020B0604020202020204" pitchFamily="34" charset="0"/>
              </a:rPr>
              <a:t>, /</a:t>
            </a:r>
            <a:r>
              <a:rPr lang="vi-VN" sz="2400" dirty="0" err="1">
                <a:solidFill>
                  <a:schemeClr val="bg1"/>
                </a:solidFill>
                <a:latin typeface="Arial" panose="020B0604020202020204" pitchFamily="34" charset="0"/>
                <a:cs typeface="Arial" panose="020B0604020202020204" pitchFamily="34" charset="0"/>
              </a:rPr>
              <a:t>proc</a:t>
            </a:r>
            <a:r>
              <a:rPr lang="vi-VN" sz="2400" dirty="0">
                <a:solidFill>
                  <a:schemeClr val="bg1"/>
                </a:solidFill>
                <a:latin typeface="Arial" panose="020B0604020202020204" pitchFamily="34" charset="0"/>
                <a:cs typeface="Arial" panose="020B0604020202020204" pitchFamily="34" charset="0"/>
              </a:rPr>
              <a:t>/</a:t>
            </a:r>
            <a:r>
              <a:rPr lang="vi-VN" sz="2400" dirty="0" err="1">
                <a:solidFill>
                  <a:schemeClr val="bg1"/>
                </a:solidFill>
                <a:latin typeface="Arial" panose="020B0604020202020204" pitchFamily="34" charset="0"/>
                <a:cs typeface="Arial" panose="020B0604020202020204" pitchFamily="34" charset="0"/>
              </a:rPr>
              <a:t>interrupts</a:t>
            </a:r>
            <a:r>
              <a:rPr lang="vi-VN" sz="2400" dirty="0">
                <a:solidFill>
                  <a:schemeClr val="bg1"/>
                </a:solidFill>
                <a:latin typeface="Arial" panose="020B0604020202020204" pitchFamily="34" charset="0"/>
                <a:cs typeface="Arial" panose="020B0604020202020204" pitchFamily="34" charset="0"/>
              </a:rPr>
              <a:t>, /</a:t>
            </a:r>
            <a:r>
              <a:rPr lang="vi-VN" sz="2400" dirty="0" err="1">
                <a:solidFill>
                  <a:schemeClr val="bg1"/>
                </a:solidFill>
                <a:latin typeface="Arial" panose="020B0604020202020204" pitchFamily="34" charset="0"/>
                <a:cs typeface="Arial" panose="020B0604020202020204" pitchFamily="34" charset="0"/>
              </a:rPr>
              <a:t>proc</a:t>
            </a:r>
            <a:r>
              <a:rPr lang="vi-VN" sz="2400" dirty="0">
                <a:solidFill>
                  <a:schemeClr val="bg1"/>
                </a:solidFill>
                <a:latin typeface="Arial" panose="020B0604020202020204" pitchFamily="34" charset="0"/>
                <a:cs typeface="Arial" panose="020B0604020202020204" pitchFamily="34" charset="0"/>
              </a:rPr>
              <a:t>/</a:t>
            </a:r>
            <a:r>
              <a:rPr lang="vi-VN" sz="2400" dirty="0" err="1">
                <a:solidFill>
                  <a:schemeClr val="bg1"/>
                </a:solidFill>
                <a:latin typeface="Arial" panose="020B0604020202020204" pitchFamily="34" charset="0"/>
                <a:cs typeface="Arial" panose="020B0604020202020204" pitchFamily="34" charset="0"/>
              </a:rPr>
              <a:t>cmdline</a:t>
            </a:r>
            <a:r>
              <a:rPr lang="vi-VN" sz="2400" dirty="0">
                <a:solidFill>
                  <a:schemeClr val="bg1"/>
                </a:solidFill>
                <a:latin typeface="Arial" panose="020B0604020202020204" pitchFamily="34" charset="0"/>
                <a:cs typeface="Arial" panose="020B0604020202020204" pitchFamily="34" charset="0"/>
              </a:rPr>
              <a:t>.</a:t>
            </a:r>
          </a:p>
          <a:p>
            <a:pPr marL="0" lvl="0" indent="0" algn="l">
              <a:lnSpc>
                <a:spcPts val="2901"/>
              </a:lnSpc>
            </a:pPr>
            <a:endParaRPr lang="vi-VN" sz="2400" dirty="0">
              <a:solidFill>
                <a:srgbClr val="FFFFFF"/>
              </a:solidFill>
              <a:latin typeface="Arial" panose="020B0604020202020204" pitchFamily="34" charset="0"/>
              <a:ea typeface="Poppins"/>
              <a:cs typeface="Arial" panose="020B0604020202020204" pitchFamily="34" charset="0"/>
              <a:sym typeface="Poppins"/>
            </a:endParaRPr>
          </a:p>
        </p:txBody>
      </p:sp>
      <p:sp>
        <p:nvSpPr>
          <p:cNvPr id="11" name="Freeform 11">
            <a:extLst>
              <a:ext uri="{FF2B5EF4-FFF2-40B4-BE49-F238E27FC236}">
                <a16:creationId xmlns:a16="http://schemas.microsoft.com/office/drawing/2014/main" id="{2FB8B071-31BA-2082-0D88-20A414242CE3}"/>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B8C0CAC1-E026-C1EA-0D0C-90DC0609185C}"/>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06C2C92A-3CAD-6878-0FB0-647442E4893A}"/>
              </a:ext>
            </a:extLst>
          </p:cNvPr>
          <p:cNvSpPr txBox="1"/>
          <p:nvPr/>
        </p:nvSpPr>
        <p:spPr>
          <a:xfrm>
            <a:off x="1028700" y="2427514"/>
            <a:ext cx="15430500" cy="1010148"/>
          </a:xfrm>
          <a:prstGeom prst="rect">
            <a:avLst/>
          </a:prstGeom>
        </p:spPr>
        <p:txBody>
          <a:bodyPr wrap="square" lIns="0" tIns="0" rIns="0" bIns="0" rtlCol="0" anchor="t">
            <a:spAutoFit/>
          </a:bodyPr>
          <a:lstStyle/>
          <a:p>
            <a:pPr marL="0" lvl="0" indent="0" algn="l">
              <a:lnSpc>
                <a:spcPts val="8474"/>
              </a:lnSpc>
            </a:pP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Phát</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hiện</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Honeypot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trên</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môi</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trường</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ảo</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hoá</a:t>
            </a:r>
            <a:endParaRPr lang="en-US" sz="6600" spc="-345" dirty="0">
              <a:solidFill>
                <a:srgbClr val="FFFFFF"/>
              </a:solidFill>
              <a:latin typeface="Arial" panose="020B0604020202020204" pitchFamily="34"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8329542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F6493-12A9-1B5E-927B-AB5E97A2FDC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092C7E7-634B-6167-CB0B-2296D20D170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latin typeface="Arial (Thân)"/>
            </a:endParaRPr>
          </a:p>
        </p:txBody>
      </p:sp>
      <p:sp>
        <p:nvSpPr>
          <p:cNvPr id="3" name="AutoShape 3">
            <a:extLst>
              <a:ext uri="{FF2B5EF4-FFF2-40B4-BE49-F238E27FC236}">
                <a16:creationId xmlns:a16="http://schemas.microsoft.com/office/drawing/2014/main" id="{977F9DF0-9E5B-84B0-4DA3-3ED50B220218}"/>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489325AD-B7F8-9735-6703-79DC11D68274}"/>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D50EF8AA-B756-D905-3E9C-534699AB0A5C}"/>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3A06E467-48E2-0B95-9172-714BB189C937}"/>
              </a:ext>
            </a:extLst>
          </p:cNvPr>
          <p:cNvSpPr txBox="1"/>
          <p:nvPr/>
        </p:nvSpPr>
        <p:spPr>
          <a:xfrm>
            <a:off x="1234280" y="7226103"/>
            <a:ext cx="4633120" cy="2503314"/>
          </a:xfrm>
          <a:prstGeom prst="rect">
            <a:avLst/>
          </a:prstGeom>
        </p:spPr>
        <p:txBody>
          <a:bodyPr wrap="square" lIns="0" tIns="0" rIns="0" bIns="0" rtlCol="0" anchor="t">
            <a:spAutoFit/>
          </a:bodyPr>
          <a:lstStyle/>
          <a:p>
            <a:pPr lvl="0"/>
            <a:r>
              <a:rPr lang="vi-VN" sz="2800">
                <a:solidFill>
                  <a:schemeClr val="bg1"/>
                </a:solidFill>
                <a:latin typeface="Arial (Thân)"/>
                <a:cs typeface="Arial" panose="020B0604020202020204" pitchFamily="34" charset="0"/>
              </a:rPr>
              <a:t>Mô phỏng hàng ngàn máy chủ và dịch vụ giả lập.</a:t>
            </a:r>
          </a:p>
          <a:p>
            <a:pPr lvl="0"/>
            <a:r>
              <a:rPr lang="vi-VN" sz="2800">
                <a:solidFill>
                  <a:schemeClr val="bg1"/>
                </a:solidFill>
                <a:latin typeface="Arial (Thân)"/>
                <a:cs typeface="Arial" panose="020B0604020202020204" pitchFamily="34" charset="0"/>
              </a:rPr>
              <a:t>Nhận biết: Phản hồi giả mạo các yêu cầu SMTP/network với cấu trúc bất thường.</a:t>
            </a:r>
          </a:p>
          <a:p>
            <a:pPr marL="0" lvl="0" indent="0" algn="l">
              <a:lnSpc>
                <a:spcPts val="2901"/>
              </a:lnSpc>
            </a:pPr>
            <a:endParaRPr lang="vi-VN" sz="2398">
              <a:solidFill>
                <a:srgbClr val="FFFFFF"/>
              </a:solidFill>
              <a:latin typeface="Arial (Thân)"/>
              <a:ea typeface="Poppins"/>
              <a:cs typeface="Arial" panose="020B0604020202020204" pitchFamily="34" charset="0"/>
              <a:sym typeface="Poppins"/>
            </a:endParaRPr>
          </a:p>
        </p:txBody>
      </p:sp>
      <p:sp>
        <p:nvSpPr>
          <p:cNvPr id="11" name="Freeform 11">
            <a:extLst>
              <a:ext uri="{FF2B5EF4-FFF2-40B4-BE49-F238E27FC236}">
                <a16:creationId xmlns:a16="http://schemas.microsoft.com/office/drawing/2014/main" id="{2BA5304F-F839-563A-A2FC-6DB6DC7CFB07}"/>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C129B2E2-7B5B-A638-BC49-FBD6F21A0781}"/>
              </a:ext>
            </a:extLst>
          </p:cNvPr>
          <p:cNvSpPr txBox="1"/>
          <p:nvPr/>
        </p:nvSpPr>
        <p:spPr>
          <a:xfrm>
            <a:off x="1574843" y="1023452"/>
            <a:ext cx="2922953" cy="327654"/>
          </a:xfrm>
          <a:prstGeom prst="rect">
            <a:avLst/>
          </a:prstGeom>
        </p:spPr>
        <p:txBody>
          <a:bodyPr lIns="0" tIns="0" rIns="0" bIns="0" rtlCol="0" anchor="t">
            <a:spAutoFit/>
          </a:bodyPr>
          <a:lstStyle/>
          <a:p>
            <a:pPr marL="0" lvl="0" indent="0" algn="l">
              <a:lnSpc>
                <a:spcPts val="2798"/>
              </a:lnSpc>
            </a:pPr>
            <a:r>
              <a:rPr lang="en-US" sz="1998" dirty="0" err="1">
                <a:solidFill>
                  <a:srgbClr val="FFFFFF"/>
                </a:solidFill>
                <a:latin typeface="Arial (Thân)"/>
                <a:ea typeface="Poppins"/>
                <a:cs typeface="Poppins"/>
                <a:sym typeface="Poppins"/>
              </a:rPr>
              <a:t>Nhóm</a:t>
            </a:r>
            <a:r>
              <a:rPr lang="en-US" sz="1998" dirty="0">
                <a:solidFill>
                  <a:srgbClr val="FFFFFF"/>
                </a:solidFill>
                <a:latin typeface="Arial (Thân)"/>
                <a:ea typeface="Poppins"/>
                <a:cs typeface="Poppins"/>
                <a:sym typeface="Poppins"/>
              </a:rPr>
              <a:t> 9 - ATTT K22A</a:t>
            </a:r>
          </a:p>
        </p:txBody>
      </p:sp>
      <p:sp>
        <p:nvSpPr>
          <p:cNvPr id="13" name="TextBox 13">
            <a:extLst>
              <a:ext uri="{FF2B5EF4-FFF2-40B4-BE49-F238E27FC236}">
                <a16:creationId xmlns:a16="http://schemas.microsoft.com/office/drawing/2014/main" id="{FF104C2E-04F7-BD59-030A-80B36D8E64A6}"/>
              </a:ext>
            </a:extLst>
          </p:cNvPr>
          <p:cNvSpPr txBox="1"/>
          <p:nvPr/>
        </p:nvSpPr>
        <p:spPr>
          <a:xfrm>
            <a:off x="1028700" y="2427514"/>
            <a:ext cx="16230600" cy="1010148"/>
          </a:xfrm>
          <a:prstGeom prst="rect">
            <a:avLst/>
          </a:prstGeom>
        </p:spPr>
        <p:txBody>
          <a:bodyPr wrap="square" lIns="0" tIns="0" rIns="0" bIns="0" rtlCol="0" anchor="t">
            <a:spAutoFit/>
          </a:bodyPr>
          <a:lstStyle/>
          <a:p>
            <a:pPr marL="0" lvl="0" indent="0" algn="l">
              <a:lnSpc>
                <a:spcPts val="8474"/>
              </a:lnSpc>
            </a:pPr>
            <a:r>
              <a:rPr lang="en-US" sz="6600" spc="-345" dirty="0" err="1">
                <a:solidFill>
                  <a:srgbClr val="FFFFFF"/>
                </a:solidFill>
                <a:latin typeface="Arial (Thân)"/>
                <a:ea typeface="Times New Roman"/>
                <a:cs typeface="Arial" panose="020B0604020202020204" pitchFamily="34" charset="0"/>
                <a:sym typeface="Times New Roman"/>
              </a:rPr>
              <a:t>Phát</a:t>
            </a:r>
            <a:r>
              <a:rPr lang="en-US" sz="6600" spc="-345" dirty="0">
                <a:solidFill>
                  <a:srgbClr val="FFFFFF"/>
                </a:solidFill>
                <a:latin typeface="Arial (Thân)"/>
                <a:ea typeface="Times New Roman"/>
                <a:cs typeface="Arial" panose="020B0604020202020204" pitchFamily="34" charset="0"/>
                <a:sym typeface="Times New Roman"/>
              </a:rPr>
              <a:t> </a:t>
            </a:r>
            <a:r>
              <a:rPr lang="en-US" sz="6600" spc="-345" dirty="0" err="1">
                <a:solidFill>
                  <a:srgbClr val="FFFFFF"/>
                </a:solidFill>
                <a:latin typeface="Arial (Thân)"/>
                <a:ea typeface="Times New Roman"/>
                <a:cs typeface="Arial" panose="020B0604020202020204" pitchFamily="34" charset="0"/>
                <a:sym typeface="Times New Roman"/>
              </a:rPr>
              <a:t>hiện</a:t>
            </a:r>
            <a:r>
              <a:rPr lang="en-US" sz="6600" spc="-345" dirty="0">
                <a:solidFill>
                  <a:srgbClr val="FFFFFF"/>
                </a:solidFill>
                <a:latin typeface="Arial (Thân)"/>
                <a:ea typeface="Times New Roman"/>
                <a:cs typeface="Arial" panose="020B0604020202020204" pitchFamily="34" charset="0"/>
                <a:sym typeface="Times New Roman"/>
              </a:rPr>
              <a:t> </a:t>
            </a:r>
            <a:r>
              <a:rPr lang="en-US" sz="6600" spc="-345" dirty="0" err="1">
                <a:solidFill>
                  <a:srgbClr val="FFFFFF"/>
                </a:solidFill>
                <a:latin typeface="Arial (Thân)"/>
                <a:ea typeface="Times New Roman"/>
                <a:cs typeface="Arial" panose="020B0604020202020204" pitchFamily="34" charset="0"/>
                <a:sym typeface="Times New Roman"/>
              </a:rPr>
              <a:t>Honeyd</a:t>
            </a:r>
            <a:r>
              <a:rPr lang="en-US" sz="6600" spc="-345" dirty="0">
                <a:solidFill>
                  <a:srgbClr val="FFFFFF"/>
                </a:solidFill>
                <a:latin typeface="Arial (Thân)"/>
                <a:ea typeface="Times New Roman"/>
                <a:cs typeface="Arial" panose="020B0604020202020204" pitchFamily="34" charset="0"/>
                <a:sym typeface="Times New Roman"/>
              </a:rPr>
              <a:t>, Sebek, </a:t>
            </a:r>
            <a:r>
              <a:rPr lang="en-US" sz="6600" spc="-345" dirty="0" err="1">
                <a:solidFill>
                  <a:srgbClr val="FFFFFF"/>
                </a:solidFill>
                <a:latin typeface="Arial (Thân)"/>
                <a:ea typeface="Times New Roman"/>
                <a:cs typeface="Arial" panose="020B0604020202020204" pitchFamily="34" charset="0"/>
                <a:sym typeface="Times New Roman"/>
              </a:rPr>
              <a:t>Snort_inline</a:t>
            </a:r>
            <a:endParaRPr lang="en-US" sz="6600" spc="-345" dirty="0">
              <a:solidFill>
                <a:srgbClr val="FFFFFF"/>
              </a:solidFill>
              <a:latin typeface="Arial (Thân)"/>
              <a:ea typeface="Times New Roman"/>
              <a:cs typeface="Arial" panose="020B0604020202020204" pitchFamily="34" charset="0"/>
              <a:sym typeface="Times New Roman"/>
            </a:endParaRPr>
          </a:p>
        </p:txBody>
      </p:sp>
      <p:sp>
        <p:nvSpPr>
          <p:cNvPr id="15" name="TextBox 10">
            <a:extLst>
              <a:ext uri="{FF2B5EF4-FFF2-40B4-BE49-F238E27FC236}">
                <a16:creationId xmlns:a16="http://schemas.microsoft.com/office/drawing/2014/main" id="{163B7828-047F-C697-5172-0CEDC4AC34D6}"/>
              </a:ext>
            </a:extLst>
          </p:cNvPr>
          <p:cNvSpPr txBox="1"/>
          <p:nvPr/>
        </p:nvSpPr>
        <p:spPr>
          <a:xfrm>
            <a:off x="6827440" y="7226103"/>
            <a:ext cx="4633120" cy="2934201"/>
          </a:xfrm>
          <a:prstGeom prst="rect">
            <a:avLst/>
          </a:prstGeom>
        </p:spPr>
        <p:txBody>
          <a:bodyPr wrap="square" lIns="0" tIns="0" rIns="0" bIns="0" rtlCol="0" anchor="t">
            <a:spAutoFit/>
          </a:bodyPr>
          <a:lstStyle/>
          <a:p>
            <a:pPr lvl="0"/>
            <a:r>
              <a:rPr lang="vi-VN" sz="2800">
                <a:solidFill>
                  <a:schemeClr val="bg1"/>
                </a:solidFill>
                <a:latin typeface="Arial (Thân)"/>
                <a:cs typeface="Arial" panose="020B0604020202020204" pitchFamily="34" charset="0"/>
              </a:rPr>
              <a:t>Bắt giam lệnh gọi hệ thống read() để ghi lại hoạt động độc hại.</a:t>
            </a:r>
          </a:p>
          <a:p>
            <a:pPr lvl="0"/>
            <a:r>
              <a:rPr lang="vi-VN" sz="2800">
                <a:solidFill>
                  <a:schemeClr val="bg1"/>
                </a:solidFill>
                <a:latin typeface="Arial (Thân)"/>
                <a:cs typeface="Arial" panose="020B0604020202020204" pitchFamily="34" charset="0"/>
              </a:rPr>
              <a:t>Nhận biết: Gây ra độ trễ/tắc nghẽn mạng do truyền dữ liệu Sebek chưa mã hóa.</a:t>
            </a:r>
          </a:p>
          <a:p>
            <a:pPr marL="0" lvl="0" indent="0" algn="l">
              <a:lnSpc>
                <a:spcPts val="2901"/>
              </a:lnSpc>
            </a:pPr>
            <a:endParaRPr lang="vi-VN" sz="2398">
              <a:solidFill>
                <a:srgbClr val="FFFFFF"/>
              </a:solidFill>
              <a:latin typeface="Arial (Thân)"/>
              <a:ea typeface="Poppins"/>
              <a:cs typeface="Arial" panose="020B0604020202020204" pitchFamily="34" charset="0"/>
              <a:sym typeface="Poppins"/>
            </a:endParaRPr>
          </a:p>
        </p:txBody>
      </p:sp>
      <p:sp>
        <p:nvSpPr>
          <p:cNvPr id="17" name="TextBox 10">
            <a:extLst>
              <a:ext uri="{FF2B5EF4-FFF2-40B4-BE49-F238E27FC236}">
                <a16:creationId xmlns:a16="http://schemas.microsoft.com/office/drawing/2014/main" id="{1685B01A-3790-FA85-5A06-A7A9153FE5F4}"/>
              </a:ext>
            </a:extLst>
          </p:cNvPr>
          <p:cNvSpPr txBox="1"/>
          <p:nvPr/>
        </p:nvSpPr>
        <p:spPr>
          <a:xfrm>
            <a:off x="12420600" y="7167182"/>
            <a:ext cx="4633120" cy="2934201"/>
          </a:xfrm>
          <a:prstGeom prst="rect">
            <a:avLst/>
          </a:prstGeom>
        </p:spPr>
        <p:txBody>
          <a:bodyPr wrap="square" lIns="0" tIns="0" rIns="0" bIns="0" rtlCol="0" anchor="t">
            <a:spAutoFit/>
          </a:bodyPr>
          <a:lstStyle/>
          <a:p>
            <a:pPr lvl="0"/>
            <a:r>
              <a:rPr lang="vi-VN" sz="2800">
                <a:solidFill>
                  <a:schemeClr val="bg1"/>
                </a:solidFill>
                <a:latin typeface="Arial (Thân)"/>
                <a:cs typeface="Arial" panose="020B0604020202020204" pitchFamily="34" charset="0"/>
              </a:rPr>
              <a:t>Tự động sửa đổi hoặc loại bỏ gói tin đi.</a:t>
            </a:r>
          </a:p>
          <a:p>
            <a:pPr lvl="0"/>
            <a:r>
              <a:rPr lang="vi-VN" sz="2800">
                <a:solidFill>
                  <a:schemeClr val="bg1"/>
                </a:solidFill>
                <a:latin typeface="Arial (Thân)"/>
                <a:cs typeface="Arial" panose="020B0604020202020204" pitchFamily="34" charset="0"/>
              </a:rPr>
              <a:t>Nhận biết: Bắt gói tin đi bằng một máy thứ hai để so sánh xem gói tin có bị sửa đổi/mất dấu hay không.</a:t>
            </a:r>
          </a:p>
          <a:p>
            <a:pPr marL="0" lvl="0" indent="0" algn="l">
              <a:lnSpc>
                <a:spcPts val="2901"/>
              </a:lnSpc>
            </a:pPr>
            <a:endParaRPr lang="vi-VN" sz="2398">
              <a:solidFill>
                <a:srgbClr val="FFFFFF"/>
              </a:solidFill>
              <a:latin typeface="Arial (Thân)"/>
              <a:ea typeface="Poppins"/>
              <a:cs typeface="Arial" panose="020B0604020202020204" pitchFamily="34" charset="0"/>
              <a:sym typeface="Poppins"/>
            </a:endParaRPr>
          </a:p>
        </p:txBody>
      </p:sp>
      <p:sp>
        <p:nvSpPr>
          <p:cNvPr id="19" name="TextBox 13">
            <a:extLst>
              <a:ext uri="{FF2B5EF4-FFF2-40B4-BE49-F238E27FC236}">
                <a16:creationId xmlns:a16="http://schemas.microsoft.com/office/drawing/2014/main" id="{07345945-8C9C-721E-D2DC-AA88D79277A2}"/>
              </a:ext>
            </a:extLst>
          </p:cNvPr>
          <p:cNvSpPr txBox="1"/>
          <p:nvPr/>
        </p:nvSpPr>
        <p:spPr>
          <a:xfrm>
            <a:off x="1218238" y="5218042"/>
            <a:ext cx="8343900" cy="934295"/>
          </a:xfrm>
          <a:prstGeom prst="rect">
            <a:avLst/>
          </a:prstGeom>
        </p:spPr>
        <p:txBody>
          <a:bodyPr wrap="square" lIns="0" tIns="0" rIns="0" bIns="0" rtlCol="0" anchor="t">
            <a:spAutoFit/>
          </a:bodyPr>
          <a:lstStyle/>
          <a:p>
            <a:pPr marL="0" lvl="0" indent="0" algn="l">
              <a:lnSpc>
                <a:spcPts val="8474"/>
              </a:lnSpc>
            </a:pPr>
            <a:r>
              <a:rPr lang="en-US" sz="4000" spc="-345">
                <a:solidFill>
                  <a:srgbClr val="FFFFFF"/>
                </a:solidFill>
                <a:latin typeface="Arial (Thân)"/>
                <a:ea typeface="Times New Roman"/>
                <a:cs typeface="Arial" panose="020B0604020202020204" pitchFamily="34" charset="0"/>
                <a:sym typeface="Times New Roman"/>
              </a:rPr>
              <a:t>Honeyd Daemon</a:t>
            </a:r>
          </a:p>
        </p:txBody>
      </p:sp>
      <p:sp>
        <p:nvSpPr>
          <p:cNvPr id="21" name="TextBox 13">
            <a:extLst>
              <a:ext uri="{FF2B5EF4-FFF2-40B4-BE49-F238E27FC236}">
                <a16:creationId xmlns:a16="http://schemas.microsoft.com/office/drawing/2014/main" id="{7ED2E412-0ECC-787D-EAAB-E0D8B6D1F854}"/>
              </a:ext>
            </a:extLst>
          </p:cNvPr>
          <p:cNvSpPr txBox="1"/>
          <p:nvPr/>
        </p:nvSpPr>
        <p:spPr>
          <a:xfrm>
            <a:off x="6827440" y="5246904"/>
            <a:ext cx="8343900" cy="934295"/>
          </a:xfrm>
          <a:prstGeom prst="rect">
            <a:avLst/>
          </a:prstGeom>
        </p:spPr>
        <p:txBody>
          <a:bodyPr wrap="square" lIns="0" tIns="0" rIns="0" bIns="0" rtlCol="0" anchor="t">
            <a:spAutoFit/>
          </a:bodyPr>
          <a:lstStyle/>
          <a:p>
            <a:pPr marL="0" lvl="0" indent="0" algn="l">
              <a:lnSpc>
                <a:spcPts val="8474"/>
              </a:lnSpc>
            </a:pPr>
            <a:r>
              <a:rPr lang="en-US" sz="4000" spc="-345">
                <a:solidFill>
                  <a:srgbClr val="FFFFFF"/>
                </a:solidFill>
                <a:latin typeface="Arial (Thân)"/>
                <a:ea typeface="Times New Roman"/>
                <a:cs typeface="Arial" panose="020B0604020202020204" pitchFamily="34" charset="0"/>
                <a:sym typeface="Times New Roman"/>
              </a:rPr>
              <a:t>Sebek Honeypot</a:t>
            </a:r>
          </a:p>
        </p:txBody>
      </p:sp>
      <p:sp>
        <p:nvSpPr>
          <p:cNvPr id="23" name="TextBox 13">
            <a:extLst>
              <a:ext uri="{FF2B5EF4-FFF2-40B4-BE49-F238E27FC236}">
                <a16:creationId xmlns:a16="http://schemas.microsoft.com/office/drawing/2014/main" id="{EAD77F0D-CA81-3A6D-74CB-100858F5A62A}"/>
              </a:ext>
            </a:extLst>
          </p:cNvPr>
          <p:cNvSpPr txBox="1"/>
          <p:nvPr/>
        </p:nvSpPr>
        <p:spPr>
          <a:xfrm>
            <a:off x="12420600" y="5213260"/>
            <a:ext cx="4471289" cy="934295"/>
          </a:xfrm>
          <a:prstGeom prst="rect">
            <a:avLst/>
          </a:prstGeom>
        </p:spPr>
        <p:txBody>
          <a:bodyPr wrap="square" lIns="0" tIns="0" rIns="0" bIns="0" rtlCol="0" anchor="t">
            <a:spAutoFit/>
          </a:bodyPr>
          <a:lstStyle/>
          <a:p>
            <a:pPr marL="0" lvl="0" indent="0" algn="l">
              <a:lnSpc>
                <a:spcPts val="8474"/>
              </a:lnSpc>
            </a:pPr>
            <a:r>
              <a:rPr lang="en-US" sz="4000" spc="-345">
                <a:solidFill>
                  <a:srgbClr val="FFFFFF"/>
                </a:solidFill>
                <a:latin typeface="Arial (Thân)"/>
                <a:ea typeface="Times New Roman"/>
                <a:cs typeface="Arial" panose="020B0604020202020204" pitchFamily="34" charset="0"/>
                <a:sym typeface="Times New Roman"/>
              </a:rPr>
              <a:t>Snort_inline</a:t>
            </a:r>
          </a:p>
        </p:txBody>
      </p:sp>
    </p:spTree>
    <p:extLst>
      <p:ext uri="{BB962C8B-B14F-4D97-AF65-F5344CB8AC3E}">
        <p14:creationId xmlns:p14="http://schemas.microsoft.com/office/powerpoint/2010/main" val="40030129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60174-4E1B-D7DF-7C56-2F1449A350E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800381B-96CE-5D15-4BEA-A70D84F8608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latin typeface="Arial (Thân)"/>
            </a:endParaRPr>
          </a:p>
        </p:txBody>
      </p:sp>
      <p:sp>
        <p:nvSpPr>
          <p:cNvPr id="3" name="AutoShape 3">
            <a:extLst>
              <a:ext uri="{FF2B5EF4-FFF2-40B4-BE49-F238E27FC236}">
                <a16:creationId xmlns:a16="http://schemas.microsoft.com/office/drawing/2014/main" id="{8612CA41-887A-44ED-EB3A-E6EB29932A21}"/>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51AE2D50-DF2E-7918-8108-030F70C3A5A4}"/>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095021F4-E407-C7DE-2449-61CB923B18DA}"/>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1" name="Freeform 11">
            <a:extLst>
              <a:ext uri="{FF2B5EF4-FFF2-40B4-BE49-F238E27FC236}">
                <a16:creationId xmlns:a16="http://schemas.microsoft.com/office/drawing/2014/main" id="{637816DD-6382-1485-FE78-C55ECC470676}"/>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892B410B-2E4F-3F83-6CDA-75662F4E6D59}"/>
              </a:ext>
            </a:extLst>
          </p:cNvPr>
          <p:cNvSpPr txBox="1"/>
          <p:nvPr/>
        </p:nvSpPr>
        <p:spPr>
          <a:xfrm>
            <a:off x="1574843" y="1023452"/>
            <a:ext cx="2922953" cy="327654"/>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Arial (Thân)"/>
                <a:ea typeface="Poppins"/>
                <a:cs typeface="Poppins"/>
                <a:sym typeface="Poppins"/>
              </a:rPr>
              <a:t>Nhóm 9 - ATTT K22A</a:t>
            </a:r>
          </a:p>
        </p:txBody>
      </p:sp>
      <p:sp>
        <p:nvSpPr>
          <p:cNvPr id="13" name="TextBox 13">
            <a:extLst>
              <a:ext uri="{FF2B5EF4-FFF2-40B4-BE49-F238E27FC236}">
                <a16:creationId xmlns:a16="http://schemas.microsoft.com/office/drawing/2014/main" id="{0D159A19-D61E-F50E-A928-FEF12A9DDE0A}"/>
              </a:ext>
            </a:extLst>
          </p:cNvPr>
          <p:cNvSpPr txBox="1"/>
          <p:nvPr/>
        </p:nvSpPr>
        <p:spPr>
          <a:xfrm>
            <a:off x="1028700" y="2427514"/>
            <a:ext cx="16421100" cy="1010148"/>
          </a:xfrm>
          <a:prstGeom prst="rect">
            <a:avLst/>
          </a:prstGeom>
        </p:spPr>
        <p:txBody>
          <a:bodyPr wrap="square" lIns="0" tIns="0" rIns="0" bIns="0" rtlCol="0" anchor="t">
            <a:spAutoFit/>
          </a:bodyPr>
          <a:lstStyle/>
          <a:p>
            <a:pPr marL="0" lvl="0" indent="0" algn="l">
              <a:lnSpc>
                <a:spcPts val="8474"/>
              </a:lnSpc>
            </a:pPr>
            <a:r>
              <a:rPr lang="en-US" sz="6600" spc="-345" dirty="0" err="1">
                <a:solidFill>
                  <a:srgbClr val="FFFFFF"/>
                </a:solidFill>
                <a:latin typeface="Arial (Thân)"/>
                <a:ea typeface="Times New Roman"/>
                <a:cs typeface="Arial" panose="020B0604020202020204" pitchFamily="34" charset="0"/>
                <a:sym typeface="Times New Roman"/>
              </a:rPr>
              <a:t>Phát</a:t>
            </a:r>
            <a:r>
              <a:rPr lang="en-US" sz="6600" spc="-345" dirty="0">
                <a:solidFill>
                  <a:srgbClr val="FFFFFF"/>
                </a:solidFill>
                <a:latin typeface="Arial (Thân)"/>
                <a:ea typeface="Times New Roman"/>
                <a:cs typeface="Arial" panose="020B0604020202020204" pitchFamily="34" charset="0"/>
                <a:sym typeface="Times New Roman"/>
              </a:rPr>
              <a:t> </a:t>
            </a:r>
            <a:r>
              <a:rPr lang="en-US" sz="6600" spc="-345" dirty="0" err="1">
                <a:solidFill>
                  <a:srgbClr val="FFFFFF"/>
                </a:solidFill>
                <a:latin typeface="Arial (Thân)"/>
                <a:ea typeface="Times New Roman"/>
                <a:cs typeface="Arial" panose="020B0604020202020204" pitchFamily="34" charset="0"/>
                <a:sym typeface="Times New Roman"/>
              </a:rPr>
              <a:t>hiện</a:t>
            </a:r>
            <a:r>
              <a:rPr lang="en-US" sz="6600" spc="-345" dirty="0">
                <a:solidFill>
                  <a:srgbClr val="FFFFFF"/>
                </a:solidFill>
                <a:latin typeface="Arial (Thân)"/>
                <a:ea typeface="Times New Roman"/>
                <a:cs typeface="Arial" panose="020B0604020202020204" pitchFamily="34" charset="0"/>
                <a:sym typeface="Times New Roman"/>
              </a:rPr>
              <a:t> Fake AP </a:t>
            </a:r>
            <a:r>
              <a:rPr lang="en-US" sz="6600" spc="-345" dirty="0" err="1">
                <a:solidFill>
                  <a:srgbClr val="FFFFFF"/>
                </a:solidFill>
                <a:latin typeface="Arial (Thân)"/>
                <a:ea typeface="Times New Roman"/>
                <a:cs typeface="Arial" panose="020B0604020202020204" pitchFamily="34" charset="0"/>
                <a:sym typeface="Times New Roman"/>
              </a:rPr>
              <a:t>và</a:t>
            </a:r>
            <a:r>
              <a:rPr lang="en-US" sz="6600" spc="-345" dirty="0">
                <a:solidFill>
                  <a:srgbClr val="FFFFFF"/>
                </a:solidFill>
                <a:latin typeface="Arial (Thân)"/>
                <a:ea typeface="Times New Roman"/>
                <a:cs typeface="Arial" panose="020B0604020202020204" pitchFamily="34" charset="0"/>
                <a:sym typeface="Times New Roman"/>
              </a:rPr>
              <a:t> Honeypot Bait and Switch</a:t>
            </a:r>
          </a:p>
        </p:txBody>
      </p:sp>
      <p:sp>
        <p:nvSpPr>
          <p:cNvPr id="7" name="TextBox 10">
            <a:extLst>
              <a:ext uri="{FF2B5EF4-FFF2-40B4-BE49-F238E27FC236}">
                <a16:creationId xmlns:a16="http://schemas.microsoft.com/office/drawing/2014/main" id="{A0CB4DB1-7C6B-FC28-0328-181F3291B20F}"/>
              </a:ext>
            </a:extLst>
          </p:cNvPr>
          <p:cNvSpPr txBox="1"/>
          <p:nvPr/>
        </p:nvSpPr>
        <p:spPr>
          <a:xfrm>
            <a:off x="1028700" y="6698679"/>
            <a:ext cx="7358743" cy="1826206"/>
          </a:xfrm>
          <a:prstGeom prst="rect">
            <a:avLst/>
          </a:prstGeom>
        </p:spPr>
        <p:txBody>
          <a:bodyPr lIns="0" tIns="0" rIns="0" bIns="0" rtlCol="0" anchor="t">
            <a:spAutoFit/>
          </a:bodyPr>
          <a:lstStyle/>
          <a:p>
            <a:pPr lvl="0"/>
            <a:r>
              <a:rPr lang="vi-VN" sz="2400" dirty="0">
                <a:solidFill>
                  <a:schemeClr val="bg1"/>
                </a:solidFill>
                <a:latin typeface="Arial (Thân)"/>
                <a:cs typeface="Arial" panose="020B0604020202020204" pitchFamily="34" charset="0"/>
              </a:rPr>
              <a:t>Chỉ phát khung </a:t>
            </a:r>
            <a:r>
              <a:rPr lang="vi-VN" sz="2400" dirty="0" err="1">
                <a:solidFill>
                  <a:schemeClr val="bg1"/>
                </a:solidFill>
                <a:latin typeface="Arial (Thân)"/>
                <a:cs typeface="Arial" panose="020B0604020202020204" pitchFamily="34" charset="0"/>
              </a:rPr>
              <a:t>Beacon</a:t>
            </a:r>
            <a:r>
              <a:rPr lang="vi-VN" sz="2400" dirty="0">
                <a:solidFill>
                  <a:schemeClr val="bg1"/>
                </a:solidFill>
                <a:latin typeface="Arial (Thân)"/>
                <a:cs typeface="Arial" panose="020B0604020202020204" pitchFamily="34" charset="0"/>
              </a:rPr>
              <a:t> 802.11b với ESSID/BSSID ngẫu nhiên.</a:t>
            </a:r>
          </a:p>
          <a:p>
            <a:pPr lvl="0"/>
            <a:r>
              <a:rPr lang="vi-VN" sz="2400" dirty="0">
                <a:solidFill>
                  <a:schemeClr val="bg1"/>
                </a:solidFill>
                <a:latin typeface="Arial (Thân)"/>
                <a:cs typeface="Arial" panose="020B0604020202020204" pitchFamily="34" charset="0"/>
              </a:rPr>
              <a:t>Nhận biết: Theo dõi lưu lượng mạng — </a:t>
            </a:r>
            <a:r>
              <a:rPr lang="vi-VN" sz="2400" dirty="0" err="1">
                <a:solidFill>
                  <a:schemeClr val="bg1"/>
                </a:solidFill>
                <a:latin typeface="Arial (Thân)"/>
                <a:cs typeface="Arial" panose="020B0604020202020204" pitchFamily="34" charset="0"/>
              </a:rPr>
              <a:t>Fake</a:t>
            </a:r>
            <a:r>
              <a:rPr lang="vi-VN" sz="2400" dirty="0">
                <a:solidFill>
                  <a:schemeClr val="bg1"/>
                </a:solidFill>
                <a:latin typeface="Arial (Thân)"/>
                <a:cs typeface="Arial" panose="020B0604020202020204" pitchFamily="34" charset="0"/>
              </a:rPr>
              <a:t> AP hoàn toàn không sinh ra lưu lượng dữ liệu thực tế.</a:t>
            </a:r>
          </a:p>
          <a:p>
            <a:pPr marL="0" lvl="0" indent="0" algn="l">
              <a:lnSpc>
                <a:spcPts val="2901"/>
              </a:lnSpc>
            </a:pPr>
            <a:endParaRPr lang="vi-VN" sz="2398" dirty="0">
              <a:solidFill>
                <a:srgbClr val="FFFFFF"/>
              </a:solidFill>
              <a:latin typeface="Arial (Thân)"/>
              <a:ea typeface="Poppins"/>
              <a:cs typeface="Arial" panose="020B0604020202020204" pitchFamily="34" charset="0"/>
              <a:sym typeface="Poppins"/>
            </a:endParaRPr>
          </a:p>
        </p:txBody>
      </p:sp>
      <p:sp>
        <p:nvSpPr>
          <p:cNvPr id="9" name="TextBox 10">
            <a:extLst>
              <a:ext uri="{FF2B5EF4-FFF2-40B4-BE49-F238E27FC236}">
                <a16:creationId xmlns:a16="http://schemas.microsoft.com/office/drawing/2014/main" id="{1274DC92-067A-003E-3417-63B4AD5023A6}"/>
              </a:ext>
            </a:extLst>
          </p:cNvPr>
          <p:cNvSpPr txBox="1"/>
          <p:nvPr/>
        </p:nvSpPr>
        <p:spPr>
          <a:xfrm>
            <a:off x="9144000" y="6698679"/>
            <a:ext cx="7358743" cy="2934201"/>
          </a:xfrm>
          <a:prstGeom prst="rect">
            <a:avLst/>
          </a:prstGeom>
        </p:spPr>
        <p:txBody>
          <a:bodyPr lIns="0" tIns="0" rIns="0" bIns="0" rtlCol="0" anchor="t">
            <a:spAutoFit/>
          </a:bodyPr>
          <a:lstStyle/>
          <a:p>
            <a:pPr lvl="0"/>
            <a:r>
              <a:rPr lang="vi-VN" sz="2400" dirty="0">
                <a:solidFill>
                  <a:schemeClr val="bg1"/>
                </a:solidFill>
                <a:latin typeface="Arial (Thân)"/>
                <a:cs typeface="Arial" panose="020B0604020202020204" pitchFamily="34" charset="0"/>
              </a:rPr>
              <a:t>Tự động chuyển hướng toàn bộ lưu lượng của kẻ tấn công sang </a:t>
            </a:r>
            <a:r>
              <a:rPr lang="vi-VN" sz="2400" dirty="0" err="1">
                <a:solidFill>
                  <a:schemeClr val="bg1"/>
                </a:solidFill>
                <a:latin typeface="Arial (Thân)"/>
                <a:cs typeface="Arial" panose="020B0604020202020204" pitchFamily="34" charset="0"/>
              </a:rPr>
              <a:t>Honeypot</a:t>
            </a:r>
            <a:r>
              <a:rPr lang="vi-VN" sz="2400" dirty="0">
                <a:solidFill>
                  <a:schemeClr val="bg1"/>
                </a:solidFill>
                <a:latin typeface="Arial (Thân)"/>
                <a:cs typeface="Arial" panose="020B0604020202020204" pitchFamily="34" charset="0"/>
              </a:rPr>
              <a:t> ngay khi phát hiện xâm nhập.</a:t>
            </a:r>
          </a:p>
          <a:p>
            <a:pPr lvl="0"/>
            <a:r>
              <a:rPr lang="vi-VN" sz="2400" dirty="0">
                <a:solidFill>
                  <a:schemeClr val="bg1"/>
                </a:solidFill>
                <a:latin typeface="Arial (Thân)"/>
                <a:cs typeface="Arial" panose="020B0604020202020204" pitchFamily="34" charset="0"/>
              </a:rPr>
              <a:t>Nhận biết: Phân tích sự thay đổi đột ngột của các tham số TCP/IP:</a:t>
            </a:r>
          </a:p>
          <a:p>
            <a:pPr lvl="0"/>
            <a:r>
              <a:rPr lang="en-US" sz="2400" dirty="0">
                <a:solidFill>
                  <a:schemeClr val="bg1"/>
                </a:solidFill>
                <a:latin typeface="Arial (Thân)"/>
                <a:cs typeface="Arial" panose="020B0604020202020204" pitchFamily="34" charset="0"/>
              </a:rPr>
              <a:t>- </a:t>
            </a:r>
            <a:r>
              <a:rPr lang="vi-VN" sz="2400" dirty="0">
                <a:solidFill>
                  <a:schemeClr val="bg1"/>
                </a:solidFill>
                <a:latin typeface="Arial (Thân)"/>
                <a:cs typeface="Arial" panose="020B0604020202020204" pitchFamily="34" charset="0"/>
              </a:rPr>
              <a:t>RTT (</a:t>
            </a:r>
            <a:r>
              <a:rPr lang="vi-VN" sz="2400" dirty="0" err="1">
                <a:solidFill>
                  <a:schemeClr val="bg1"/>
                </a:solidFill>
                <a:latin typeface="Arial (Thân)"/>
                <a:cs typeface="Arial" panose="020B0604020202020204" pitchFamily="34" charset="0"/>
              </a:rPr>
              <a:t>Round</a:t>
            </a:r>
            <a:r>
              <a:rPr lang="vi-VN" sz="2400" dirty="0">
                <a:solidFill>
                  <a:schemeClr val="bg1"/>
                </a:solidFill>
                <a:latin typeface="Arial (Thân)"/>
                <a:cs typeface="Arial" panose="020B0604020202020204" pitchFamily="34" charset="0"/>
              </a:rPr>
              <a:t> </a:t>
            </a:r>
            <a:r>
              <a:rPr lang="vi-VN" sz="2400" dirty="0" err="1">
                <a:solidFill>
                  <a:schemeClr val="bg1"/>
                </a:solidFill>
                <a:latin typeface="Arial (Thân)"/>
                <a:cs typeface="Arial" panose="020B0604020202020204" pitchFamily="34" charset="0"/>
              </a:rPr>
              <a:t>Trip</a:t>
            </a:r>
            <a:r>
              <a:rPr lang="vi-VN" sz="2400" dirty="0">
                <a:solidFill>
                  <a:schemeClr val="bg1"/>
                </a:solidFill>
                <a:latin typeface="Arial (Thân)"/>
                <a:cs typeface="Arial" panose="020B0604020202020204" pitchFamily="34" charset="0"/>
              </a:rPr>
              <a:t> </a:t>
            </a:r>
            <a:r>
              <a:rPr lang="vi-VN" sz="2400" dirty="0" err="1">
                <a:solidFill>
                  <a:schemeClr val="bg1"/>
                </a:solidFill>
                <a:latin typeface="Arial (Thân)"/>
                <a:cs typeface="Arial" panose="020B0604020202020204" pitchFamily="34" charset="0"/>
              </a:rPr>
              <a:t>Time</a:t>
            </a:r>
            <a:r>
              <a:rPr lang="vi-VN" sz="2400" dirty="0">
                <a:solidFill>
                  <a:schemeClr val="bg1"/>
                </a:solidFill>
                <a:latin typeface="Arial (Thân)"/>
                <a:cs typeface="Arial" panose="020B0604020202020204" pitchFamily="34" charset="0"/>
              </a:rPr>
              <a:t> - Thời gian khứ hồi)</a:t>
            </a:r>
          </a:p>
          <a:p>
            <a:pPr lvl="0"/>
            <a:r>
              <a:rPr lang="en-US" sz="2400" dirty="0">
                <a:solidFill>
                  <a:schemeClr val="bg1"/>
                </a:solidFill>
                <a:latin typeface="Arial (Thân)"/>
                <a:cs typeface="Arial" panose="020B0604020202020204" pitchFamily="34" charset="0"/>
              </a:rPr>
              <a:t>- </a:t>
            </a:r>
            <a:r>
              <a:rPr lang="vi-VN" sz="2400" dirty="0">
                <a:solidFill>
                  <a:schemeClr val="bg1"/>
                </a:solidFill>
                <a:latin typeface="Arial (Thân)"/>
                <a:cs typeface="Arial" panose="020B0604020202020204" pitchFamily="34" charset="0"/>
              </a:rPr>
              <a:t>TTL (</a:t>
            </a:r>
            <a:r>
              <a:rPr lang="vi-VN" sz="2400" dirty="0" err="1">
                <a:solidFill>
                  <a:schemeClr val="bg1"/>
                </a:solidFill>
                <a:latin typeface="Arial (Thân)"/>
                <a:cs typeface="Arial" panose="020B0604020202020204" pitchFamily="34" charset="0"/>
              </a:rPr>
              <a:t>Time</a:t>
            </a:r>
            <a:r>
              <a:rPr lang="vi-VN" sz="2400" dirty="0">
                <a:solidFill>
                  <a:schemeClr val="bg1"/>
                </a:solidFill>
                <a:latin typeface="Arial (Thân)"/>
                <a:cs typeface="Arial" panose="020B0604020202020204" pitchFamily="34" charset="0"/>
              </a:rPr>
              <a:t> to </a:t>
            </a:r>
            <a:r>
              <a:rPr lang="vi-VN" sz="2400" dirty="0" err="1">
                <a:solidFill>
                  <a:schemeClr val="bg1"/>
                </a:solidFill>
                <a:latin typeface="Arial (Thân)"/>
                <a:cs typeface="Arial" panose="020B0604020202020204" pitchFamily="34" charset="0"/>
              </a:rPr>
              <a:t>Live</a:t>
            </a:r>
            <a:r>
              <a:rPr lang="vi-VN" sz="2400" dirty="0">
                <a:solidFill>
                  <a:schemeClr val="bg1"/>
                </a:solidFill>
                <a:latin typeface="Arial (Thân)"/>
                <a:cs typeface="Arial" panose="020B0604020202020204" pitchFamily="34" charset="0"/>
              </a:rPr>
              <a:t>)</a:t>
            </a:r>
          </a:p>
          <a:p>
            <a:pPr lvl="0"/>
            <a:r>
              <a:rPr lang="en-US" sz="2400" dirty="0">
                <a:solidFill>
                  <a:schemeClr val="bg1"/>
                </a:solidFill>
                <a:latin typeface="Arial (Thân)"/>
                <a:cs typeface="Arial" panose="020B0604020202020204" pitchFamily="34" charset="0"/>
              </a:rPr>
              <a:t>- </a:t>
            </a:r>
            <a:r>
              <a:rPr lang="vi-VN" sz="2400" dirty="0">
                <a:solidFill>
                  <a:schemeClr val="bg1"/>
                </a:solidFill>
                <a:latin typeface="Arial (Thân)"/>
                <a:cs typeface="Arial" panose="020B0604020202020204" pitchFamily="34" charset="0"/>
              </a:rPr>
              <a:t>TCP </a:t>
            </a:r>
            <a:r>
              <a:rPr lang="vi-VN" sz="2400" dirty="0" err="1">
                <a:solidFill>
                  <a:schemeClr val="bg1"/>
                </a:solidFill>
                <a:latin typeface="Arial (Thân)"/>
                <a:cs typeface="Arial" panose="020B0604020202020204" pitchFamily="34" charset="0"/>
              </a:rPr>
              <a:t>Timestamp</a:t>
            </a:r>
            <a:endParaRPr lang="vi-VN" sz="2400" dirty="0">
              <a:solidFill>
                <a:schemeClr val="bg1"/>
              </a:solidFill>
              <a:latin typeface="Arial (Thân)"/>
              <a:cs typeface="Arial" panose="020B0604020202020204" pitchFamily="34" charset="0"/>
            </a:endParaRPr>
          </a:p>
          <a:p>
            <a:pPr marL="0" lvl="0" indent="0" algn="l">
              <a:lnSpc>
                <a:spcPts val="2901"/>
              </a:lnSpc>
            </a:pPr>
            <a:endParaRPr lang="vi-VN" sz="2398" dirty="0">
              <a:solidFill>
                <a:srgbClr val="FFFFFF"/>
              </a:solidFill>
              <a:latin typeface="Arial (Thân)"/>
              <a:ea typeface="Poppins"/>
              <a:cs typeface="Arial" panose="020B0604020202020204" pitchFamily="34" charset="0"/>
              <a:sym typeface="Poppins"/>
            </a:endParaRPr>
          </a:p>
        </p:txBody>
      </p:sp>
      <p:sp>
        <p:nvSpPr>
          <p:cNvPr id="16" name="TextBox 13">
            <a:extLst>
              <a:ext uri="{FF2B5EF4-FFF2-40B4-BE49-F238E27FC236}">
                <a16:creationId xmlns:a16="http://schemas.microsoft.com/office/drawing/2014/main" id="{F1B52491-0C7D-DA0A-AEAA-F8BFFCF94B60}"/>
              </a:ext>
            </a:extLst>
          </p:cNvPr>
          <p:cNvSpPr txBox="1"/>
          <p:nvPr/>
        </p:nvSpPr>
        <p:spPr>
          <a:xfrm>
            <a:off x="1028700" y="5036917"/>
            <a:ext cx="8343900" cy="934295"/>
          </a:xfrm>
          <a:prstGeom prst="rect">
            <a:avLst/>
          </a:prstGeom>
        </p:spPr>
        <p:txBody>
          <a:bodyPr wrap="square" lIns="0" tIns="0" rIns="0" bIns="0" rtlCol="0" anchor="t">
            <a:spAutoFit/>
          </a:bodyPr>
          <a:lstStyle/>
          <a:p>
            <a:pPr marL="0" lvl="0" indent="0" algn="l">
              <a:lnSpc>
                <a:spcPts val="8474"/>
              </a:lnSpc>
            </a:pPr>
            <a:r>
              <a:rPr lang="en-US" sz="4000" spc="-345">
                <a:solidFill>
                  <a:srgbClr val="FFFFFF"/>
                </a:solidFill>
                <a:latin typeface="Arial (Thân)"/>
                <a:ea typeface="Times New Roman"/>
                <a:cs typeface="Arial" panose="020B0604020202020204" pitchFamily="34" charset="0"/>
                <a:sym typeface="Times New Roman"/>
              </a:rPr>
              <a:t>Fake  AP</a:t>
            </a:r>
          </a:p>
        </p:txBody>
      </p:sp>
      <p:sp>
        <p:nvSpPr>
          <p:cNvPr id="20" name="TextBox 13">
            <a:extLst>
              <a:ext uri="{FF2B5EF4-FFF2-40B4-BE49-F238E27FC236}">
                <a16:creationId xmlns:a16="http://schemas.microsoft.com/office/drawing/2014/main" id="{AC7C70C2-EDB4-4168-2A50-E4A1A5693DC5}"/>
              </a:ext>
            </a:extLst>
          </p:cNvPr>
          <p:cNvSpPr txBox="1"/>
          <p:nvPr/>
        </p:nvSpPr>
        <p:spPr>
          <a:xfrm>
            <a:off x="9144000" y="5036916"/>
            <a:ext cx="5757854" cy="934295"/>
          </a:xfrm>
          <a:prstGeom prst="rect">
            <a:avLst/>
          </a:prstGeom>
        </p:spPr>
        <p:txBody>
          <a:bodyPr wrap="square" lIns="0" tIns="0" rIns="0" bIns="0" rtlCol="0" anchor="t">
            <a:spAutoFit/>
          </a:bodyPr>
          <a:lstStyle/>
          <a:p>
            <a:pPr marL="0" lvl="0" indent="0" algn="l">
              <a:lnSpc>
                <a:spcPts val="8474"/>
              </a:lnSpc>
            </a:pPr>
            <a:r>
              <a:rPr lang="en-US" sz="4000" spc="-345">
                <a:solidFill>
                  <a:srgbClr val="FFFFFF"/>
                </a:solidFill>
                <a:latin typeface="Arial (Thân)"/>
                <a:ea typeface="Times New Roman"/>
                <a:cs typeface="Arial" panose="020B0604020202020204" pitchFamily="34" charset="0"/>
                <a:sym typeface="Times New Roman"/>
              </a:rPr>
              <a:t>Honeypot Bait and Switch</a:t>
            </a:r>
          </a:p>
        </p:txBody>
      </p:sp>
    </p:spTree>
    <p:extLst>
      <p:ext uri="{BB962C8B-B14F-4D97-AF65-F5344CB8AC3E}">
        <p14:creationId xmlns:p14="http://schemas.microsoft.com/office/powerpoint/2010/main" val="23367072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8EC72-7D04-1338-B932-EA28E8EE58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6F9C064-BBDB-B0BE-FA91-367FD812DD1B}"/>
              </a:ext>
            </a:extLst>
          </p:cNvPr>
          <p:cNvSpPr/>
          <p:nvPr/>
        </p:nvSpPr>
        <p:spPr>
          <a:xfrm>
            <a:off x="3412" y="-1421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8C6BC70A-C9FD-5BC3-1831-B747B4BA1776}"/>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D918FA49-2979-9E5D-CCC3-928B6D6B5E55}"/>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46F8BC83-1EFF-57A6-B76A-91C46DC7C97F}"/>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03C4D2A8-AF81-3D6A-6BF4-56FDF4584117}"/>
              </a:ext>
            </a:extLst>
          </p:cNvPr>
          <p:cNvSpPr txBox="1"/>
          <p:nvPr/>
        </p:nvSpPr>
        <p:spPr>
          <a:xfrm>
            <a:off x="1066231" y="4000500"/>
            <a:ext cx="8343900" cy="3693319"/>
          </a:xfrm>
          <a:prstGeom prst="rect">
            <a:avLst/>
          </a:prstGeom>
        </p:spPr>
        <p:txBody>
          <a:bodyPr wrap="square" lIns="0" tIns="0" rIns="0" bIns="0" rtlCol="0" anchor="t">
            <a:spAutoFit/>
          </a:bodyPr>
          <a:lstStyle/>
          <a:p>
            <a:pPr lvl="0"/>
            <a:r>
              <a:rPr lang="vi-VN" sz="2400" dirty="0" err="1">
                <a:solidFill>
                  <a:schemeClr val="bg1"/>
                </a:solidFill>
                <a:latin typeface="Arial" panose="020B0604020202020204" pitchFamily="34" charset="0"/>
                <a:cs typeface="Arial" panose="020B0604020202020204" pitchFamily="34" charset="0"/>
              </a:rPr>
              <a:t>Traffic</a:t>
            </a:r>
            <a:r>
              <a:rPr lang="vi-VN" sz="2400" dirty="0">
                <a:solidFill>
                  <a:schemeClr val="bg1"/>
                </a:solidFill>
                <a:latin typeface="Arial" panose="020B0604020202020204" pitchFamily="34" charset="0"/>
                <a:cs typeface="Arial" panose="020B0604020202020204" pitchFamily="34" charset="0"/>
              </a:rPr>
              <a:t> IQ Professional:</a:t>
            </a:r>
            <a:endParaRPr lang="en-US" sz="2400" dirty="0">
              <a:solidFill>
                <a:schemeClr val="bg1"/>
              </a:solidFill>
              <a:latin typeface="Arial" panose="020B0604020202020204" pitchFamily="34" charset="0"/>
              <a:cs typeface="Arial" panose="020B0604020202020204" pitchFamily="34" charset="0"/>
            </a:endParaRPr>
          </a:p>
          <a:p>
            <a:pPr lvl="0"/>
            <a:endParaRPr lang="en-US" sz="2400" dirty="0">
              <a:solidFill>
                <a:schemeClr val="bg1"/>
              </a:solidFill>
              <a:latin typeface="Arial" panose="020B0604020202020204" pitchFamily="34" charset="0"/>
              <a:cs typeface="Arial" panose="020B0604020202020204" pitchFamily="34" charset="0"/>
            </a:endParaRPr>
          </a:p>
          <a:p>
            <a:pPr lvl="0"/>
            <a:r>
              <a:rPr lang="vi-VN" sz="2400" dirty="0">
                <a:solidFill>
                  <a:srgbClr val="FFFFFF"/>
                </a:solidFill>
                <a:latin typeface="Arial" panose="020B0604020202020204" pitchFamily="34" charset="0"/>
                <a:ea typeface="Poppins"/>
                <a:cs typeface="Arial" panose="020B0604020202020204" pitchFamily="34" charset="0"/>
                <a:sym typeface="Poppins"/>
              </a:rPr>
              <a:t>Công cụ kiểm thử bảo mật chuyên nghiệp, tạo ra lưu lượng ứng dụng chuẩn hoặc lưu lượng tấn công giữa hai máy ảo.</a:t>
            </a:r>
          </a:p>
          <a:p>
            <a:pPr lvl="0"/>
            <a:r>
              <a:rPr lang="vi-VN" sz="2400" dirty="0">
                <a:solidFill>
                  <a:srgbClr val="FFFFFF"/>
                </a:solidFill>
                <a:latin typeface="Arial" panose="020B0604020202020204" pitchFamily="34" charset="0"/>
                <a:ea typeface="Poppins"/>
                <a:cs typeface="Arial" panose="020B0604020202020204" pitchFamily="34" charset="0"/>
                <a:sym typeface="Poppins"/>
              </a:rPr>
              <a:t> </a:t>
            </a:r>
          </a:p>
          <a:p>
            <a:pPr lvl="0"/>
            <a:r>
              <a:rPr lang="vi-VN" sz="2400" dirty="0">
                <a:solidFill>
                  <a:srgbClr val="FFFFFF"/>
                </a:solidFill>
                <a:latin typeface="Arial" panose="020B0604020202020204" pitchFamily="34" charset="0"/>
                <a:ea typeface="Poppins"/>
                <a:cs typeface="Arial" panose="020B0604020202020204" pitchFamily="34" charset="0"/>
                <a:sym typeface="Poppins"/>
              </a:rPr>
              <a:t>Dùng để đánh giá hành vi của các thiết bị không phải Proxy (</a:t>
            </a:r>
            <a:r>
              <a:rPr lang="vi-VN" sz="2400" dirty="0" err="1">
                <a:solidFill>
                  <a:srgbClr val="FFFFFF"/>
                </a:solidFill>
                <a:latin typeface="Arial" panose="020B0604020202020204" pitchFamily="34" charset="0"/>
                <a:ea typeface="Poppins"/>
                <a:cs typeface="Arial" panose="020B0604020202020204" pitchFamily="34" charset="0"/>
                <a:sym typeface="Poppins"/>
              </a:rPr>
              <a:t>Firewall</a:t>
            </a:r>
            <a:r>
              <a:rPr lang="vi-VN" sz="2400" dirty="0">
                <a:solidFill>
                  <a:srgbClr val="FFFFFF"/>
                </a:solidFill>
                <a:latin typeface="Arial" panose="020B0604020202020204" pitchFamily="34" charset="0"/>
                <a:ea typeface="Poppins"/>
                <a:cs typeface="Arial" panose="020B0604020202020204" pitchFamily="34" charset="0"/>
                <a:sym typeface="Poppins"/>
              </a:rPr>
              <a:t>, IDS/IPS, </a:t>
            </a:r>
            <a:r>
              <a:rPr lang="vi-VN" sz="2400" dirty="0" err="1">
                <a:solidFill>
                  <a:srgbClr val="FFFFFF"/>
                </a:solidFill>
                <a:latin typeface="Arial" panose="020B0604020202020204" pitchFamily="34" charset="0"/>
                <a:ea typeface="Poppins"/>
                <a:cs typeface="Arial" panose="020B0604020202020204" pitchFamily="34" charset="0"/>
                <a:sym typeface="Poppins"/>
              </a:rPr>
              <a:t>Router</a:t>
            </a:r>
            <a:r>
              <a:rPr lang="vi-VN" sz="2400" dirty="0">
                <a:solidFill>
                  <a:srgbClr val="FFFFFF"/>
                </a:solidFill>
                <a:latin typeface="Arial" panose="020B0604020202020204" pitchFamily="34" charset="0"/>
                <a:ea typeface="Poppins"/>
                <a:cs typeface="Arial" panose="020B0604020202020204" pitchFamily="34" charset="0"/>
                <a:sym typeface="Poppins"/>
              </a:rPr>
              <a:t>, </a:t>
            </a:r>
            <a:r>
              <a:rPr lang="vi-VN" sz="2400" dirty="0" err="1">
                <a:solidFill>
                  <a:srgbClr val="FFFFFF"/>
                </a:solidFill>
                <a:latin typeface="Arial" panose="020B0604020202020204" pitchFamily="34" charset="0"/>
                <a:ea typeface="Poppins"/>
                <a:cs typeface="Arial" panose="020B0604020202020204" pitchFamily="34" charset="0"/>
                <a:sym typeface="Poppins"/>
              </a:rPr>
              <a:t>Switch</a:t>
            </a:r>
            <a:r>
              <a:rPr lang="vi-VN" sz="2400" dirty="0">
                <a:solidFill>
                  <a:srgbClr val="FFFFFF"/>
                </a:solidFill>
                <a:latin typeface="Arial" panose="020B0604020202020204" pitchFamily="34" charset="0"/>
                <a:ea typeface="Poppins"/>
                <a:cs typeface="Arial" panose="020B0604020202020204" pitchFamily="34" charset="0"/>
                <a:sym typeface="Poppins"/>
              </a:rPr>
              <a:t>). </a:t>
            </a:r>
          </a:p>
          <a:p>
            <a:pPr lvl="0"/>
            <a:endParaRPr lang="vi-VN" sz="2400" dirty="0">
              <a:solidFill>
                <a:srgbClr val="FFFFFF"/>
              </a:solidFill>
              <a:latin typeface="Arial" panose="020B0604020202020204" pitchFamily="34" charset="0"/>
              <a:ea typeface="Poppins"/>
              <a:cs typeface="Arial" panose="020B0604020202020204" pitchFamily="34" charset="0"/>
              <a:sym typeface="Poppins"/>
            </a:endParaRPr>
          </a:p>
          <a:p>
            <a:pPr lvl="0"/>
            <a:r>
              <a:rPr lang="vi-VN" sz="2400" dirty="0">
                <a:solidFill>
                  <a:srgbClr val="FFFFFF"/>
                </a:solidFill>
                <a:latin typeface="Arial" panose="020B0604020202020204" pitchFamily="34" charset="0"/>
                <a:ea typeface="Poppins"/>
                <a:cs typeface="Arial" panose="020B0604020202020204" pitchFamily="34" charset="0"/>
                <a:sym typeface="Poppins"/>
              </a:rPr>
              <a:t>Nguy cơ: Kẻ tấn công lợi dụng khả năng tạo lưu lượng tấn công tùy chỉnh để qua mặt thiết bị biên. </a:t>
            </a:r>
          </a:p>
        </p:txBody>
      </p:sp>
      <p:sp>
        <p:nvSpPr>
          <p:cNvPr id="11" name="Freeform 11">
            <a:extLst>
              <a:ext uri="{FF2B5EF4-FFF2-40B4-BE49-F238E27FC236}">
                <a16:creationId xmlns:a16="http://schemas.microsoft.com/office/drawing/2014/main" id="{3C8AE73F-41AA-0354-7D5A-C0C73A21D934}"/>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C3504997-90AC-F1E3-74F3-F75BCB11107A}"/>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3180FF49-6594-564B-51EA-5FB412C4E4CE}"/>
              </a:ext>
            </a:extLst>
          </p:cNvPr>
          <p:cNvSpPr txBox="1"/>
          <p:nvPr/>
        </p:nvSpPr>
        <p:spPr>
          <a:xfrm>
            <a:off x="1028700" y="2427514"/>
            <a:ext cx="16230600" cy="1010148"/>
          </a:xfrm>
          <a:prstGeom prst="rect">
            <a:avLst/>
          </a:prstGeom>
        </p:spPr>
        <p:txBody>
          <a:bodyPr wrap="square" lIns="0" tIns="0" rIns="0" bIns="0" rtlCol="0" anchor="t">
            <a:spAutoFit/>
          </a:bodyPr>
          <a:lstStyle/>
          <a:p>
            <a:pPr marL="0" lvl="0" indent="0" algn="l">
              <a:lnSpc>
                <a:spcPts val="8474"/>
              </a:lnSpc>
            </a:pP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Các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công</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cụ</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lẩn</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tránh</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IDS/Firewall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phổ</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biến</a:t>
            </a:r>
            <a:endParaRPr lang="en-US" sz="6600" spc="-345" dirty="0">
              <a:solidFill>
                <a:srgbClr val="FFFFFF"/>
              </a:solidFill>
              <a:latin typeface="Arial" panose="020B0604020202020204" pitchFamily="34" charset="0"/>
              <a:ea typeface="Times New Roman"/>
              <a:cs typeface="Arial" panose="020B0604020202020204" pitchFamily="34" charset="0"/>
              <a:sym typeface="Times New Roman"/>
            </a:endParaRPr>
          </a:p>
        </p:txBody>
      </p:sp>
      <p:pic>
        <p:nvPicPr>
          <p:cNvPr id="8" name="Picture 7" descr="TrafficIQ Professional | Idappcom">
            <a:extLst>
              <a:ext uri="{FF2B5EF4-FFF2-40B4-BE49-F238E27FC236}">
                <a16:creationId xmlns:a16="http://schemas.microsoft.com/office/drawing/2014/main" id="{D4F75AEF-1BE7-BBB7-99F4-8D566E42A0BC}"/>
              </a:ext>
            </a:extLst>
          </p:cNvPr>
          <p:cNvPicPr>
            <a:picLocks noChangeAspect="1"/>
          </p:cNvPicPr>
          <p:nvPr/>
        </p:nvPicPr>
        <p:blipFill>
          <a:blip r:embed="rId5"/>
          <a:stretch>
            <a:fillRect/>
          </a:stretch>
        </p:blipFill>
        <p:spPr>
          <a:xfrm>
            <a:off x="10008953" y="4076700"/>
            <a:ext cx="7250347" cy="5547245"/>
          </a:xfrm>
          <a:prstGeom prst="rect">
            <a:avLst/>
          </a:prstGeom>
        </p:spPr>
      </p:pic>
    </p:spTree>
    <p:extLst>
      <p:ext uri="{BB962C8B-B14F-4D97-AF65-F5344CB8AC3E}">
        <p14:creationId xmlns:p14="http://schemas.microsoft.com/office/powerpoint/2010/main" val="17137464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20C9A-B26A-5BE6-AB6B-33091ACB2FC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42863ED-D8F4-0C06-5459-AFF61633AAA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latin typeface="Arial (Thân)"/>
            </a:endParaRPr>
          </a:p>
        </p:txBody>
      </p:sp>
      <p:sp>
        <p:nvSpPr>
          <p:cNvPr id="3" name="AutoShape 3">
            <a:extLst>
              <a:ext uri="{FF2B5EF4-FFF2-40B4-BE49-F238E27FC236}">
                <a16:creationId xmlns:a16="http://schemas.microsoft.com/office/drawing/2014/main" id="{541A82C3-BADC-E0D8-4FBE-6136B0603015}"/>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8962B495-BDFC-CD21-AE55-8DE067C5BE4D}"/>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CB6C74B0-FB57-8842-3AB9-D9132202C7A3}"/>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B4CF3877-CDDF-568D-882C-2A323B67E712}"/>
              </a:ext>
            </a:extLst>
          </p:cNvPr>
          <p:cNvSpPr txBox="1"/>
          <p:nvPr/>
        </p:nvSpPr>
        <p:spPr>
          <a:xfrm>
            <a:off x="1099386" y="3737930"/>
            <a:ext cx="7658100" cy="5044010"/>
          </a:xfrm>
          <a:prstGeom prst="rect">
            <a:avLst/>
          </a:prstGeom>
        </p:spPr>
        <p:txBody>
          <a:bodyPr wrap="square" lIns="0" tIns="0" rIns="0" bIns="0" rtlCol="0" anchor="t">
            <a:spAutoFit/>
          </a:bodyPr>
          <a:lstStyle/>
          <a:p>
            <a:pPr lvl="0"/>
            <a:r>
              <a:rPr lang="vi-VN" sz="3600" dirty="0">
                <a:solidFill>
                  <a:schemeClr val="bg1"/>
                </a:solidFill>
                <a:latin typeface="Arial (Thân)"/>
                <a:cs typeface="Arial" panose="020B0604020202020204" pitchFamily="34" charset="0"/>
              </a:rPr>
              <a:t>Các công cụ lẩn tránh khác:</a:t>
            </a:r>
            <a:endParaRPr lang="en-US" sz="3600" dirty="0">
              <a:solidFill>
                <a:schemeClr val="bg1"/>
              </a:solidFill>
              <a:latin typeface="Arial (Thân)"/>
              <a:cs typeface="Arial" panose="020B0604020202020204" pitchFamily="34" charset="0"/>
            </a:endParaRPr>
          </a:p>
          <a:p>
            <a:pPr lvl="0"/>
            <a:endParaRPr lang="en-US" sz="2800" dirty="0">
              <a:solidFill>
                <a:schemeClr val="bg1"/>
              </a:solidFill>
              <a:latin typeface="Arial (Thân)"/>
              <a:cs typeface="Arial" panose="020B0604020202020204" pitchFamily="34" charset="0"/>
            </a:endParaRPr>
          </a:p>
          <a:p>
            <a:pPr lvl="0"/>
            <a:r>
              <a:rPr lang="vi-VN" sz="2398" dirty="0" err="1">
                <a:solidFill>
                  <a:srgbClr val="FFFFFF"/>
                </a:solidFill>
                <a:latin typeface="Arial (Thân)"/>
                <a:ea typeface="Poppins"/>
                <a:cs typeface="Arial" panose="020B0604020202020204" pitchFamily="34" charset="0"/>
                <a:sym typeface="Poppins"/>
              </a:rPr>
              <a:t>Nmap</a:t>
            </a:r>
            <a:r>
              <a:rPr lang="vi-VN" sz="2398" dirty="0">
                <a:solidFill>
                  <a:srgbClr val="FFFFFF"/>
                </a:solidFill>
                <a:latin typeface="Arial (Thân)"/>
                <a:ea typeface="Poppins"/>
                <a:cs typeface="Arial" panose="020B0604020202020204" pitchFamily="34" charset="0"/>
                <a:sym typeface="Poppins"/>
              </a:rPr>
              <a:t>: Quét cổng, dò quét lỗ hổng và hỗ trợ các </a:t>
            </a:r>
            <a:r>
              <a:rPr lang="vi-VN" sz="2398" dirty="0" err="1">
                <a:solidFill>
                  <a:srgbClr val="FFFFFF"/>
                </a:solidFill>
                <a:latin typeface="Arial (Thân)"/>
                <a:ea typeface="Poppins"/>
                <a:cs typeface="Arial" panose="020B0604020202020204" pitchFamily="34" charset="0"/>
                <a:sym typeface="Poppins"/>
              </a:rPr>
              <a:t>script</a:t>
            </a:r>
            <a:r>
              <a:rPr lang="vi-VN" sz="2398" dirty="0">
                <a:solidFill>
                  <a:srgbClr val="FFFFFF"/>
                </a:solidFill>
                <a:latin typeface="Arial (Thân)"/>
                <a:ea typeface="Poppins"/>
                <a:cs typeface="Arial" panose="020B0604020202020204" pitchFamily="34" charset="0"/>
                <a:sym typeface="Poppins"/>
              </a:rPr>
              <a:t> lẩn tránh (như </a:t>
            </a:r>
            <a:r>
              <a:rPr lang="vi-VN" sz="2398" dirty="0" err="1">
                <a:solidFill>
                  <a:srgbClr val="FFFFFF"/>
                </a:solidFill>
                <a:latin typeface="Arial (Thân)"/>
                <a:ea typeface="Poppins"/>
                <a:cs typeface="Arial" panose="020B0604020202020204" pitchFamily="34" charset="0"/>
                <a:sym typeface="Poppins"/>
              </a:rPr>
              <a:t>firewalk</a:t>
            </a:r>
            <a:r>
              <a:rPr lang="vi-VN" sz="2398" dirty="0">
                <a:solidFill>
                  <a:srgbClr val="FFFFFF"/>
                </a:solidFill>
                <a:latin typeface="Arial (Thân)"/>
                <a:ea typeface="Poppins"/>
                <a:cs typeface="Arial" panose="020B0604020202020204" pitchFamily="34" charset="0"/>
                <a:sym typeface="Poppins"/>
              </a:rPr>
              <a:t>). </a:t>
            </a:r>
          </a:p>
          <a:p>
            <a:pPr lvl="0"/>
            <a:endParaRPr lang="vi-VN" sz="2398" dirty="0">
              <a:solidFill>
                <a:srgbClr val="FFFFFF"/>
              </a:solidFill>
              <a:latin typeface="Arial (Thân)"/>
              <a:ea typeface="Poppins"/>
              <a:cs typeface="Arial" panose="020B0604020202020204" pitchFamily="34" charset="0"/>
              <a:sym typeface="Poppins"/>
            </a:endParaRPr>
          </a:p>
          <a:p>
            <a:pPr lvl="0"/>
            <a:r>
              <a:rPr lang="vi-VN" sz="2398" dirty="0" err="1">
                <a:solidFill>
                  <a:srgbClr val="FFFFFF"/>
                </a:solidFill>
                <a:latin typeface="Arial (Thân)"/>
                <a:ea typeface="Poppins"/>
                <a:cs typeface="Arial" panose="020B0604020202020204" pitchFamily="34" charset="0"/>
                <a:sym typeface="Poppins"/>
              </a:rPr>
              <a:t>Metasploit</a:t>
            </a:r>
            <a:r>
              <a:rPr lang="vi-VN" sz="2398" dirty="0">
                <a:solidFill>
                  <a:srgbClr val="FFFFFF"/>
                </a:solidFill>
                <a:latin typeface="Arial (Thân)"/>
                <a:ea typeface="Poppins"/>
                <a:cs typeface="Arial" panose="020B0604020202020204" pitchFamily="34" charset="0"/>
                <a:sym typeface="Poppins"/>
              </a:rPr>
              <a:t> &amp; </a:t>
            </a:r>
            <a:r>
              <a:rPr lang="vi-VN" sz="2398" dirty="0" err="1">
                <a:solidFill>
                  <a:srgbClr val="FFFFFF"/>
                </a:solidFill>
                <a:latin typeface="Arial (Thân)"/>
                <a:ea typeface="Poppins"/>
                <a:cs typeface="Arial" panose="020B0604020202020204" pitchFamily="34" charset="0"/>
                <a:sym typeface="Poppins"/>
              </a:rPr>
              <a:t>Msfvenom</a:t>
            </a:r>
            <a:r>
              <a:rPr lang="vi-VN" sz="2398" dirty="0">
                <a:solidFill>
                  <a:srgbClr val="FFFFFF"/>
                </a:solidFill>
                <a:latin typeface="Arial (Thân)"/>
                <a:ea typeface="Poppins"/>
                <a:cs typeface="Arial" panose="020B0604020202020204" pitchFamily="34" charset="0"/>
                <a:sym typeface="Poppins"/>
              </a:rPr>
              <a:t>: </a:t>
            </a:r>
            <a:r>
              <a:rPr lang="vi-VN" sz="2398" dirty="0" err="1">
                <a:solidFill>
                  <a:srgbClr val="FFFFFF"/>
                </a:solidFill>
                <a:latin typeface="Arial (Thân)"/>
                <a:ea typeface="Poppins"/>
                <a:cs typeface="Arial" panose="020B0604020202020204" pitchFamily="34" charset="0"/>
                <a:sym typeface="Poppins"/>
              </a:rPr>
              <a:t>Framework</a:t>
            </a:r>
            <a:r>
              <a:rPr lang="vi-VN" sz="2398" dirty="0">
                <a:solidFill>
                  <a:srgbClr val="FFFFFF"/>
                </a:solidFill>
                <a:latin typeface="Arial (Thân)"/>
                <a:ea typeface="Poppins"/>
                <a:cs typeface="Arial" panose="020B0604020202020204" pitchFamily="34" charset="0"/>
                <a:sym typeface="Poppins"/>
              </a:rPr>
              <a:t> khai thác lỗ hổng và mã hóa </a:t>
            </a:r>
            <a:r>
              <a:rPr lang="vi-VN" sz="2398" dirty="0" err="1">
                <a:solidFill>
                  <a:srgbClr val="FFFFFF"/>
                </a:solidFill>
                <a:latin typeface="Arial (Thân)"/>
                <a:ea typeface="Poppins"/>
                <a:cs typeface="Arial" panose="020B0604020202020204" pitchFamily="34" charset="0"/>
                <a:sym typeface="Poppins"/>
              </a:rPr>
              <a:t>payload</a:t>
            </a:r>
            <a:r>
              <a:rPr lang="vi-VN" sz="2398" dirty="0">
                <a:solidFill>
                  <a:srgbClr val="FFFFFF"/>
                </a:solidFill>
                <a:latin typeface="Arial (Thân)"/>
                <a:ea typeface="Poppins"/>
                <a:cs typeface="Arial" panose="020B0604020202020204" pitchFamily="34" charset="0"/>
                <a:sym typeface="Poppins"/>
              </a:rPr>
              <a:t> tránh so khớp chữ ký IDS.</a:t>
            </a:r>
          </a:p>
          <a:p>
            <a:pPr lvl="0"/>
            <a:endParaRPr lang="vi-VN" sz="2398" dirty="0">
              <a:solidFill>
                <a:srgbClr val="FFFFFF"/>
              </a:solidFill>
              <a:latin typeface="Arial (Thân)"/>
              <a:ea typeface="Poppins"/>
              <a:cs typeface="Arial" panose="020B0604020202020204" pitchFamily="34" charset="0"/>
              <a:sym typeface="Poppins"/>
            </a:endParaRPr>
          </a:p>
          <a:p>
            <a:pPr lvl="0"/>
            <a:r>
              <a:rPr lang="vi-VN" sz="2398" dirty="0" err="1">
                <a:solidFill>
                  <a:srgbClr val="FFFFFF"/>
                </a:solidFill>
                <a:latin typeface="Arial (Thân)"/>
                <a:ea typeface="Poppins"/>
                <a:cs typeface="Arial" panose="020B0604020202020204" pitchFamily="34" charset="0"/>
                <a:sym typeface="Poppins"/>
              </a:rPr>
              <a:t>Inundator</a:t>
            </a:r>
            <a:r>
              <a:rPr lang="vi-VN" sz="2398" dirty="0">
                <a:solidFill>
                  <a:srgbClr val="FFFFFF"/>
                </a:solidFill>
                <a:latin typeface="Arial (Thân)"/>
                <a:ea typeface="Poppins"/>
                <a:cs typeface="Arial" panose="020B0604020202020204" pitchFamily="34" charset="0"/>
                <a:sym typeface="Poppins"/>
              </a:rPr>
              <a:t> &amp; IDS-</a:t>
            </a:r>
            <a:r>
              <a:rPr lang="vi-VN" sz="2398" dirty="0" err="1">
                <a:solidFill>
                  <a:srgbClr val="FFFFFF"/>
                </a:solidFill>
                <a:latin typeface="Arial (Thân)"/>
                <a:ea typeface="Poppins"/>
                <a:cs typeface="Arial" panose="020B0604020202020204" pitchFamily="34" charset="0"/>
                <a:sym typeface="Poppins"/>
              </a:rPr>
              <a:t>Evasion</a:t>
            </a:r>
            <a:r>
              <a:rPr lang="vi-VN" sz="2398" dirty="0">
                <a:solidFill>
                  <a:srgbClr val="FFFFFF"/>
                </a:solidFill>
                <a:latin typeface="Arial (Thân)"/>
                <a:ea typeface="Poppins"/>
                <a:cs typeface="Arial" panose="020B0604020202020204" pitchFamily="34" charset="0"/>
                <a:sym typeface="Poppins"/>
              </a:rPr>
              <a:t>: Tự động hóa quá trình gửi lưu lượng gây tràn ngập hoặc tránh né IDS. </a:t>
            </a:r>
          </a:p>
          <a:p>
            <a:pPr lvl="0"/>
            <a:endParaRPr lang="vi-VN" sz="2398" dirty="0">
              <a:solidFill>
                <a:srgbClr val="FFFFFF"/>
              </a:solidFill>
              <a:latin typeface="Arial (Thân)"/>
              <a:ea typeface="Poppins"/>
              <a:cs typeface="Arial" panose="020B0604020202020204" pitchFamily="34" charset="0"/>
              <a:sym typeface="Poppins"/>
            </a:endParaRPr>
          </a:p>
          <a:p>
            <a:pPr lvl="0"/>
            <a:r>
              <a:rPr lang="vi-VN" sz="2398" dirty="0" err="1">
                <a:solidFill>
                  <a:srgbClr val="FFFFFF"/>
                </a:solidFill>
                <a:latin typeface="Arial (Thân)"/>
                <a:ea typeface="Poppins"/>
                <a:cs typeface="Arial" panose="020B0604020202020204" pitchFamily="34" charset="0"/>
                <a:sym typeface="Poppins"/>
              </a:rPr>
              <a:t>Hyperion</a:t>
            </a:r>
            <a:r>
              <a:rPr lang="vi-VN" sz="2398" dirty="0">
                <a:solidFill>
                  <a:srgbClr val="FFFFFF"/>
                </a:solidFill>
                <a:latin typeface="Arial (Thân)"/>
                <a:ea typeface="Poppins"/>
                <a:cs typeface="Arial" panose="020B0604020202020204" pitchFamily="34" charset="0"/>
                <a:sym typeface="Poppins"/>
              </a:rPr>
              <a:t>: Mã hóa/xáo trộn </a:t>
            </a:r>
            <a:r>
              <a:rPr lang="vi-VN" sz="2398" dirty="0" err="1">
                <a:solidFill>
                  <a:srgbClr val="FFFFFF"/>
                </a:solidFill>
                <a:latin typeface="Arial (Thân)"/>
                <a:ea typeface="Poppins"/>
                <a:cs typeface="Arial" panose="020B0604020202020204" pitchFamily="34" charset="0"/>
                <a:sym typeface="Poppins"/>
              </a:rPr>
              <a:t>file</a:t>
            </a:r>
            <a:r>
              <a:rPr lang="vi-VN" sz="2398" dirty="0">
                <a:solidFill>
                  <a:srgbClr val="FFFFFF"/>
                </a:solidFill>
                <a:latin typeface="Arial (Thân)"/>
                <a:ea typeface="Poppins"/>
                <a:cs typeface="Arial" panose="020B0604020202020204" pitchFamily="34" charset="0"/>
                <a:sym typeface="Poppins"/>
              </a:rPr>
              <a:t> thực thi (</a:t>
            </a:r>
            <a:r>
              <a:rPr lang="vi-VN" sz="2398" dirty="0" err="1">
                <a:solidFill>
                  <a:srgbClr val="FFFFFF"/>
                </a:solidFill>
                <a:latin typeface="Arial (Thân)"/>
                <a:ea typeface="Poppins"/>
                <a:cs typeface="Arial" panose="020B0604020202020204" pitchFamily="34" charset="0"/>
                <a:sym typeface="Poppins"/>
              </a:rPr>
              <a:t>crypter</a:t>
            </a:r>
            <a:r>
              <a:rPr lang="vi-VN" sz="2398" dirty="0">
                <a:solidFill>
                  <a:srgbClr val="FFFFFF"/>
                </a:solidFill>
                <a:latin typeface="Arial (Thân)"/>
                <a:ea typeface="Poppins"/>
                <a:cs typeface="Arial" panose="020B0604020202020204" pitchFamily="34" charset="0"/>
                <a:sym typeface="Poppins"/>
              </a:rPr>
              <a:t>) để qua mặt cơ chế phát hiện. </a:t>
            </a:r>
          </a:p>
        </p:txBody>
      </p:sp>
      <p:sp>
        <p:nvSpPr>
          <p:cNvPr id="11" name="Freeform 11">
            <a:extLst>
              <a:ext uri="{FF2B5EF4-FFF2-40B4-BE49-F238E27FC236}">
                <a16:creationId xmlns:a16="http://schemas.microsoft.com/office/drawing/2014/main" id="{AF2A8781-1B57-1BC6-2BF3-0F0C3A18A667}"/>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E92587C7-3E2D-1433-FC50-222EDA25BCC5}"/>
              </a:ext>
            </a:extLst>
          </p:cNvPr>
          <p:cNvSpPr txBox="1"/>
          <p:nvPr/>
        </p:nvSpPr>
        <p:spPr>
          <a:xfrm>
            <a:off x="1574843" y="1023452"/>
            <a:ext cx="2922953" cy="327654"/>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Arial (Thân)"/>
                <a:ea typeface="Poppins"/>
                <a:cs typeface="Poppins"/>
                <a:sym typeface="Poppins"/>
              </a:rPr>
              <a:t>Nhóm 9 - ATTT K22A</a:t>
            </a:r>
          </a:p>
        </p:txBody>
      </p:sp>
      <p:sp>
        <p:nvSpPr>
          <p:cNvPr id="13" name="TextBox 13">
            <a:extLst>
              <a:ext uri="{FF2B5EF4-FFF2-40B4-BE49-F238E27FC236}">
                <a16:creationId xmlns:a16="http://schemas.microsoft.com/office/drawing/2014/main" id="{D2528D96-36FF-46CA-8E3A-83B0E482D99A}"/>
              </a:ext>
            </a:extLst>
          </p:cNvPr>
          <p:cNvSpPr txBox="1"/>
          <p:nvPr/>
        </p:nvSpPr>
        <p:spPr>
          <a:xfrm>
            <a:off x="1028700" y="2427514"/>
            <a:ext cx="16230600" cy="1010148"/>
          </a:xfrm>
          <a:prstGeom prst="rect">
            <a:avLst/>
          </a:prstGeom>
        </p:spPr>
        <p:txBody>
          <a:bodyPr wrap="square" lIns="0" tIns="0" rIns="0" bIns="0" rtlCol="0" anchor="t">
            <a:spAutoFit/>
          </a:bodyPr>
          <a:lstStyle/>
          <a:p>
            <a:pPr marL="0" lvl="0" indent="0" algn="l">
              <a:lnSpc>
                <a:spcPts val="8474"/>
              </a:lnSpc>
            </a:pPr>
            <a:r>
              <a:rPr lang="en-US" sz="6600" spc="-345" dirty="0">
                <a:solidFill>
                  <a:srgbClr val="FFFFFF"/>
                </a:solidFill>
                <a:latin typeface="Arial (Thân)"/>
                <a:ea typeface="Times New Roman"/>
                <a:cs typeface="Arial" panose="020B0604020202020204" pitchFamily="34" charset="0"/>
                <a:sym typeface="Times New Roman"/>
              </a:rPr>
              <a:t>Các </a:t>
            </a:r>
            <a:r>
              <a:rPr lang="en-US" sz="6600" spc="-345" dirty="0" err="1">
                <a:solidFill>
                  <a:srgbClr val="FFFFFF"/>
                </a:solidFill>
                <a:latin typeface="Arial (Thân)"/>
                <a:ea typeface="Times New Roman"/>
                <a:cs typeface="Arial" panose="020B0604020202020204" pitchFamily="34" charset="0"/>
                <a:sym typeface="Times New Roman"/>
              </a:rPr>
              <a:t>công</a:t>
            </a:r>
            <a:r>
              <a:rPr lang="en-US" sz="6600" spc="-345" dirty="0">
                <a:solidFill>
                  <a:srgbClr val="FFFFFF"/>
                </a:solidFill>
                <a:latin typeface="Arial (Thân)"/>
                <a:ea typeface="Times New Roman"/>
                <a:cs typeface="Arial" panose="020B0604020202020204" pitchFamily="34" charset="0"/>
                <a:sym typeface="Times New Roman"/>
              </a:rPr>
              <a:t> </a:t>
            </a:r>
            <a:r>
              <a:rPr lang="en-US" sz="6600" spc="-345" dirty="0" err="1">
                <a:solidFill>
                  <a:srgbClr val="FFFFFF"/>
                </a:solidFill>
                <a:latin typeface="Arial (Thân)"/>
                <a:ea typeface="Times New Roman"/>
                <a:cs typeface="Arial" panose="020B0604020202020204" pitchFamily="34" charset="0"/>
                <a:sym typeface="Times New Roman"/>
              </a:rPr>
              <a:t>cụ</a:t>
            </a:r>
            <a:r>
              <a:rPr lang="en-US" sz="6600" spc="-345" dirty="0">
                <a:solidFill>
                  <a:srgbClr val="FFFFFF"/>
                </a:solidFill>
                <a:latin typeface="Arial (Thân)"/>
                <a:ea typeface="Times New Roman"/>
                <a:cs typeface="Arial" panose="020B0604020202020204" pitchFamily="34" charset="0"/>
                <a:sym typeface="Times New Roman"/>
              </a:rPr>
              <a:t> </a:t>
            </a:r>
            <a:r>
              <a:rPr lang="en-US" sz="6600" spc="-345" dirty="0" err="1">
                <a:solidFill>
                  <a:srgbClr val="FFFFFF"/>
                </a:solidFill>
                <a:latin typeface="Arial (Thân)"/>
                <a:ea typeface="Times New Roman"/>
                <a:cs typeface="Arial" panose="020B0604020202020204" pitchFamily="34" charset="0"/>
                <a:sym typeface="Times New Roman"/>
              </a:rPr>
              <a:t>lẩn</a:t>
            </a:r>
            <a:r>
              <a:rPr lang="en-US" sz="6600" spc="-345" dirty="0">
                <a:solidFill>
                  <a:srgbClr val="FFFFFF"/>
                </a:solidFill>
                <a:latin typeface="Arial (Thân)"/>
                <a:ea typeface="Times New Roman"/>
                <a:cs typeface="Arial" panose="020B0604020202020204" pitchFamily="34" charset="0"/>
                <a:sym typeface="Times New Roman"/>
              </a:rPr>
              <a:t> </a:t>
            </a:r>
            <a:r>
              <a:rPr lang="en-US" sz="6600" spc="-345" dirty="0" err="1">
                <a:solidFill>
                  <a:srgbClr val="FFFFFF"/>
                </a:solidFill>
                <a:latin typeface="Arial (Thân)"/>
                <a:ea typeface="Times New Roman"/>
                <a:cs typeface="Arial" panose="020B0604020202020204" pitchFamily="34" charset="0"/>
                <a:sym typeface="Times New Roman"/>
              </a:rPr>
              <a:t>tránh</a:t>
            </a:r>
            <a:r>
              <a:rPr lang="en-US" sz="6600" spc="-345" dirty="0">
                <a:solidFill>
                  <a:srgbClr val="FFFFFF"/>
                </a:solidFill>
                <a:latin typeface="Arial (Thân)"/>
                <a:ea typeface="Times New Roman"/>
                <a:cs typeface="Arial" panose="020B0604020202020204" pitchFamily="34" charset="0"/>
                <a:sym typeface="Times New Roman"/>
              </a:rPr>
              <a:t> IDS/Firewall </a:t>
            </a:r>
            <a:r>
              <a:rPr lang="en-US" sz="6600" spc="-345" dirty="0" err="1">
                <a:solidFill>
                  <a:srgbClr val="FFFFFF"/>
                </a:solidFill>
                <a:latin typeface="Arial (Thân)"/>
                <a:ea typeface="Times New Roman"/>
                <a:cs typeface="Arial" panose="020B0604020202020204" pitchFamily="34" charset="0"/>
                <a:sym typeface="Times New Roman"/>
              </a:rPr>
              <a:t>phổ</a:t>
            </a:r>
            <a:r>
              <a:rPr lang="en-US" sz="6600" spc="-345" dirty="0">
                <a:solidFill>
                  <a:srgbClr val="FFFFFF"/>
                </a:solidFill>
                <a:latin typeface="Arial (Thân)"/>
                <a:ea typeface="Times New Roman"/>
                <a:cs typeface="Arial" panose="020B0604020202020204" pitchFamily="34" charset="0"/>
                <a:sym typeface="Times New Roman"/>
              </a:rPr>
              <a:t> </a:t>
            </a:r>
            <a:r>
              <a:rPr lang="en-US" sz="6600" spc="-345" dirty="0" err="1">
                <a:solidFill>
                  <a:srgbClr val="FFFFFF"/>
                </a:solidFill>
                <a:latin typeface="Arial (Thân)"/>
                <a:ea typeface="Times New Roman"/>
                <a:cs typeface="Arial" panose="020B0604020202020204" pitchFamily="34" charset="0"/>
                <a:sym typeface="Times New Roman"/>
              </a:rPr>
              <a:t>biến</a:t>
            </a:r>
            <a:endParaRPr lang="en-US" sz="6600" spc="-345" dirty="0">
              <a:solidFill>
                <a:srgbClr val="FFFFFF"/>
              </a:solidFill>
              <a:latin typeface="Arial (Thân)"/>
              <a:ea typeface="Times New Roman"/>
              <a:cs typeface="Arial" panose="020B0604020202020204" pitchFamily="34" charset="0"/>
              <a:sym typeface="Times New Roman"/>
            </a:endParaRPr>
          </a:p>
        </p:txBody>
      </p:sp>
      <p:pic>
        <p:nvPicPr>
          <p:cNvPr id="8" name="Hình ảnh 7">
            <a:extLst>
              <a:ext uri="{FF2B5EF4-FFF2-40B4-BE49-F238E27FC236}">
                <a16:creationId xmlns:a16="http://schemas.microsoft.com/office/drawing/2014/main" id="{A53C3DB4-2CE1-3E09-9476-D6E7B057E919}"/>
              </a:ext>
            </a:extLst>
          </p:cNvPr>
          <p:cNvPicPr>
            <a:picLocks noChangeAspect="1"/>
          </p:cNvPicPr>
          <p:nvPr/>
        </p:nvPicPr>
        <p:blipFill>
          <a:blip r:embed="rId5"/>
          <a:stretch>
            <a:fillRect/>
          </a:stretch>
        </p:blipFill>
        <p:spPr>
          <a:xfrm>
            <a:off x="9337964" y="3848103"/>
            <a:ext cx="7921336" cy="5486397"/>
          </a:xfrm>
          <a:prstGeom prst="rect">
            <a:avLst/>
          </a:prstGeom>
        </p:spPr>
      </p:pic>
    </p:spTree>
    <p:extLst>
      <p:ext uri="{BB962C8B-B14F-4D97-AF65-F5344CB8AC3E}">
        <p14:creationId xmlns:p14="http://schemas.microsoft.com/office/powerpoint/2010/main" val="39701931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D5B22-B180-EDA1-B456-3C0853A85AC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17EAA28-27D2-69B1-F844-4019655B2DC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FC6E1346-757E-30CD-DD97-D1765617E3C7}"/>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A1F21AEE-01F2-3E7F-039E-9EF18619ADEB}"/>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187DCCCE-7A90-8182-CA5E-B2D1E99F1BA7}"/>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644A0E2B-6982-E86F-C88E-B964972E06E6}"/>
              </a:ext>
            </a:extLst>
          </p:cNvPr>
          <p:cNvSpPr txBox="1"/>
          <p:nvPr/>
        </p:nvSpPr>
        <p:spPr>
          <a:xfrm>
            <a:off x="1028700" y="3554673"/>
            <a:ext cx="9105900" cy="5909310"/>
          </a:xfrm>
          <a:prstGeom prst="rect">
            <a:avLst/>
          </a:prstGeom>
        </p:spPr>
        <p:txBody>
          <a:bodyPr wrap="square" lIns="0" tIns="0" rIns="0" bIns="0" rtlCol="0" anchor="t">
            <a:spAutoFit/>
          </a:bodyPr>
          <a:lstStyle/>
          <a:p>
            <a:pPr lvl="0"/>
            <a:r>
              <a:rPr lang="en-US" sz="2400" dirty="0" err="1">
                <a:solidFill>
                  <a:schemeClr val="bg1"/>
                </a:solidFill>
                <a:latin typeface="Arial" panose="020B0604020202020204" pitchFamily="34" charset="0"/>
                <a:cs typeface="Arial" panose="020B0604020202020204" pitchFamily="34" charset="0"/>
              </a:rPr>
              <a:t>Mục</a:t>
            </a:r>
            <a:r>
              <a:rPr lang="en-US" sz="2400" dirty="0">
                <a:solidFill>
                  <a:schemeClr val="bg1"/>
                </a:solidFill>
                <a:latin typeface="Arial" panose="020B0604020202020204" pitchFamily="34" charset="0"/>
                <a:cs typeface="Arial" panose="020B0604020202020204" pitchFamily="34" charset="0"/>
              </a:rPr>
              <a:t> </a:t>
            </a:r>
            <a:r>
              <a:rPr lang="en-US" sz="2400" dirty="0" err="1">
                <a:solidFill>
                  <a:schemeClr val="bg1"/>
                </a:solidFill>
                <a:latin typeface="Arial" panose="020B0604020202020204" pitchFamily="34" charset="0"/>
                <a:cs typeface="Arial" panose="020B0604020202020204" pitchFamily="34" charset="0"/>
              </a:rPr>
              <a:t>đích</a:t>
            </a:r>
            <a:r>
              <a:rPr lang="en-US" sz="2400" dirty="0">
                <a:solidFill>
                  <a:schemeClr val="bg1"/>
                </a:solidFill>
                <a:latin typeface="Arial" panose="020B0604020202020204" pitchFamily="34" charset="0"/>
                <a:cs typeface="Arial" panose="020B0604020202020204" pitchFamily="34" charset="0"/>
              </a:rPr>
              <a:t>: </a:t>
            </a:r>
            <a:r>
              <a:rPr lang="vi-VN" sz="2400" dirty="0">
                <a:solidFill>
                  <a:schemeClr val="bg1"/>
                </a:solidFill>
                <a:latin typeface="Arial" panose="020B0604020202020204" pitchFamily="34" charset="0"/>
                <a:cs typeface="Arial" panose="020B0604020202020204" pitchFamily="34" charset="0"/>
              </a:rPr>
              <a:t>Kẻ tấn công sử dụng các công cụ để tạo các gói tin và chia nhỏ (phân mảnh) chúng nhằm qua mặt cơ chế kiểm tra chữ ký của </a:t>
            </a:r>
            <a:r>
              <a:rPr lang="vi-VN" sz="2400" dirty="0" err="1">
                <a:solidFill>
                  <a:schemeClr val="bg1"/>
                </a:solidFill>
                <a:latin typeface="Arial" panose="020B0604020202020204" pitchFamily="34" charset="0"/>
                <a:cs typeface="Arial" panose="020B0604020202020204" pitchFamily="34" charset="0"/>
              </a:rPr>
              <a:t>Firewall</a:t>
            </a:r>
            <a:r>
              <a:rPr lang="vi-VN" sz="2400" dirty="0">
                <a:solidFill>
                  <a:schemeClr val="bg1"/>
                </a:solidFill>
                <a:latin typeface="Arial" panose="020B0604020202020204" pitchFamily="34" charset="0"/>
                <a:cs typeface="Arial" panose="020B0604020202020204" pitchFamily="34" charset="0"/>
              </a:rPr>
              <a:t>/IDS. </a:t>
            </a:r>
          </a:p>
          <a:p>
            <a:pPr lvl="0"/>
            <a:endParaRPr lang="en-US" sz="2400" dirty="0">
              <a:solidFill>
                <a:schemeClr val="bg1"/>
              </a:solidFill>
              <a:latin typeface="Arial" panose="020B0604020202020204" pitchFamily="34" charset="0"/>
              <a:cs typeface="Arial" panose="020B0604020202020204" pitchFamily="34" charset="0"/>
            </a:endParaRPr>
          </a:p>
          <a:p>
            <a:pPr lvl="0"/>
            <a:r>
              <a:rPr lang="vi-VN" sz="2400" dirty="0" err="1">
                <a:solidFill>
                  <a:srgbClr val="FFFFFF"/>
                </a:solidFill>
                <a:latin typeface="Arial" panose="020B0604020202020204" pitchFamily="34" charset="0"/>
                <a:ea typeface="Poppins"/>
                <a:cs typeface="Arial" panose="020B0604020202020204" pitchFamily="34" charset="0"/>
                <a:sym typeface="Poppins"/>
              </a:rPr>
              <a:t>Colasoft</a:t>
            </a:r>
            <a:r>
              <a:rPr lang="vi-VN" sz="2400" dirty="0">
                <a:solidFill>
                  <a:srgbClr val="FFFFFF"/>
                </a:solidFill>
                <a:latin typeface="Arial" panose="020B0604020202020204" pitchFamily="34" charset="0"/>
                <a:ea typeface="Poppins"/>
                <a:cs typeface="Arial" panose="020B0604020202020204" pitchFamily="34" charset="0"/>
                <a:sym typeface="Poppins"/>
              </a:rPr>
              <a:t> </a:t>
            </a:r>
            <a:r>
              <a:rPr lang="vi-VN" sz="2400" dirty="0" err="1">
                <a:solidFill>
                  <a:srgbClr val="FFFFFF"/>
                </a:solidFill>
                <a:latin typeface="Arial" panose="020B0604020202020204" pitchFamily="34" charset="0"/>
                <a:ea typeface="Poppins"/>
                <a:cs typeface="Arial" panose="020B0604020202020204" pitchFamily="34" charset="0"/>
                <a:sym typeface="Poppins"/>
              </a:rPr>
              <a:t>Packet</a:t>
            </a:r>
            <a:r>
              <a:rPr lang="vi-VN" sz="2400" dirty="0">
                <a:solidFill>
                  <a:srgbClr val="FFFFFF"/>
                </a:solidFill>
                <a:latin typeface="Arial" panose="020B0604020202020204" pitchFamily="34" charset="0"/>
                <a:ea typeface="Poppins"/>
                <a:cs typeface="Arial" panose="020B0604020202020204" pitchFamily="34" charset="0"/>
                <a:sym typeface="Poppins"/>
              </a:rPr>
              <a:t> </a:t>
            </a:r>
            <a:r>
              <a:rPr lang="vi-VN" sz="2400" dirty="0" err="1">
                <a:solidFill>
                  <a:srgbClr val="FFFFFF"/>
                </a:solidFill>
                <a:latin typeface="Arial" panose="020B0604020202020204" pitchFamily="34" charset="0"/>
                <a:ea typeface="Poppins"/>
                <a:cs typeface="Arial" panose="020B0604020202020204" pitchFamily="34" charset="0"/>
                <a:sym typeface="Poppins"/>
              </a:rPr>
              <a:t>Builder</a:t>
            </a:r>
            <a:r>
              <a:rPr lang="vi-VN" sz="2400" dirty="0">
                <a:solidFill>
                  <a:srgbClr val="FFFFFF"/>
                </a:solidFill>
                <a:latin typeface="Arial" panose="020B0604020202020204" pitchFamily="34" charset="0"/>
                <a:ea typeface="Poppins"/>
                <a:cs typeface="Arial" panose="020B0604020202020204" pitchFamily="34" charset="0"/>
                <a:sym typeface="Poppins"/>
              </a:rPr>
              <a:t>:</a:t>
            </a:r>
          </a:p>
          <a:p>
            <a:pPr lvl="0"/>
            <a:endParaRPr lang="vi-VN" sz="2400" dirty="0">
              <a:solidFill>
                <a:srgbClr val="FFFFFF"/>
              </a:solidFill>
              <a:latin typeface="Arial" panose="020B0604020202020204" pitchFamily="34" charset="0"/>
              <a:ea typeface="Poppins"/>
              <a:cs typeface="Arial" panose="020B0604020202020204" pitchFamily="34" charset="0"/>
              <a:sym typeface="Poppins"/>
            </a:endParaRPr>
          </a:p>
          <a:p>
            <a:pPr lvl="0"/>
            <a:r>
              <a:rPr lang="vi-VN" sz="2400" dirty="0">
                <a:solidFill>
                  <a:srgbClr val="FFFFFF"/>
                </a:solidFill>
                <a:latin typeface="Arial" panose="020B0604020202020204" pitchFamily="34" charset="0"/>
                <a:ea typeface="Poppins"/>
                <a:cs typeface="Arial" panose="020B0604020202020204" pitchFamily="34" charset="0"/>
                <a:sym typeface="Poppins"/>
              </a:rPr>
              <a:t>Tạo các gói tin mạng tùy chỉnh: </a:t>
            </a:r>
            <a:r>
              <a:rPr lang="vi-VN" sz="2400" dirty="0" err="1">
                <a:solidFill>
                  <a:srgbClr val="FFFFFF"/>
                </a:solidFill>
                <a:latin typeface="Arial" panose="020B0604020202020204" pitchFamily="34" charset="0"/>
                <a:ea typeface="Poppins"/>
                <a:cs typeface="Arial" panose="020B0604020202020204" pitchFamily="34" charset="0"/>
                <a:sym typeface="Poppins"/>
              </a:rPr>
              <a:t>Ethernet</a:t>
            </a:r>
            <a:r>
              <a:rPr lang="vi-VN" sz="2400" dirty="0">
                <a:solidFill>
                  <a:srgbClr val="FFFFFF"/>
                </a:solidFill>
                <a:latin typeface="Arial" panose="020B0604020202020204" pitchFamily="34" charset="0"/>
                <a:ea typeface="Poppins"/>
                <a:cs typeface="Arial" panose="020B0604020202020204" pitchFamily="34" charset="0"/>
                <a:sym typeface="Poppins"/>
              </a:rPr>
              <a:t>, ARP, IP, TCP, UDP. </a:t>
            </a:r>
          </a:p>
          <a:p>
            <a:pPr lvl="0"/>
            <a:r>
              <a:rPr lang="vi-VN" sz="2400" dirty="0">
                <a:solidFill>
                  <a:srgbClr val="FFFFFF"/>
                </a:solidFill>
                <a:latin typeface="Arial" panose="020B0604020202020204" pitchFamily="34" charset="0"/>
                <a:ea typeface="Poppins"/>
                <a:cs typeface="Arial" panose="020B0604020202020204" pitchFamily="34" charset="0"/>
                <a:sym typeface="Poppins"/>
              </a:rPr>
              <a:t>Cho phép chỉnh sửa tiêu đề và phân mảnh gói tin theo ý muốn. </a:t>
            </a:r>
          </a:p>
          <a:p>
            <a:pPr lvl="0"/>
            <a:endParaRPr lang="vi-VN" sz="2400" dirty="0">
              <a:solidFill>
                <a:srgbClr val="FFFFFF"/>
              </a:solidFill>
              <a:latin typeface="Arial" panose="020B0604020202020204" pitchFamily="34" charset="0"/>
              <a:ea typeface="Poppins"/>
              <a:cs typeface="Arial" panose="020B0604020202020204" pitchFamily="34" charset="0"/>
              <a:sym typeface="Poppins"/>
            </a:endParaRPr>
          </a:p>
          <a:p>
            <a:pPr lvl="0"/>
            <a:r>
              <a:rPr lang="vi-VN" sz="2400" dirty="0">
                <a:solidFill>
                  <a:srgbClr val="FFFFFF"/>
                </a:solidFill>
                <a:latin typeface="Arial" panose="020B0604020202020204" pitchFamily="34" charset="0"/>
                <a:ea typeface="Poppins"/>
                <a:cs typeface="Arial" panose="020B0604020202020204" pitchFamily="34" charset="0"/>
                <a:sym typeface="Poppins"/>
              </a:rPr>
              <a:t>Các công cụ tạo/chỉnh sửa gói tin phổ biến khác:</a:t>
            </a:r>
          </a:p>
          <a:p>
            <a:pPr lvl="0"/>
            <a:r>
              <a:rPr lang="vi-VN" sz="2400" dirty="0" err="1">
                <a:solidFill>
                  <a:srgbClr val="FFFFFF"/>
                </a:solidFill>
                <a:latin typeface="Arial" panose="020B0604020202020204" pitchFamily="34" charset="0"/>
                <a:ea typeface="Poppins"/>
                <a:cs typeface="Arial" panose="020B0604020202020204" pitchFamily="34" charset="0"/>
                <a:sym typeface="Poppins"/>
              </a:rPr>
              <a:t>CommView</a:t>
            </a:r>
            <a:r>
              <a:rPr lang="vi-VN" sz="2400" dirty="0">
                <a:solidFill>
                  <a:srgbClr val="FFFFFF"/>
                </a:solidFill>
                <a:latin typeface="Arial" panose="020B0604020202020204" pitchFamily="34" charset="0"/>
                <a:ea typeface="Poppins"/>
                <a:cs typeface="Arial" panose="020B0604020202020204" pitchFamily="34" charset="0"/>
                <a:sym typeface="Poppins"/>
              </a:rPr>
              <a:t> &amp; </a:t>
            </a:r>
            <a:r>
              <a:rPr lang="vi-VN" sz="2400" dirty="0" err="1">
                <a:solidFill>
                  <a:srgbClr val="FFFFFF"/>
                </a:solidFill>
                <a:latin typeface="Arial" panose="020B0604020202020204" pitchFamily="34" charset="0"/>
                <a:ea typeface="Poppins"/>
                <a:cs typeface="Arial" panose="020B0604020202020204" pitchFamily="34" charset="0"/>
                <a:sym typeface="Poppins"/>
              </a:rPr>
              <a:t>NetScanTools</a:t>
            </a:r>
            <a:r>
              <a:rPr lang="vi-VN" sz="2400" dirty="0">
                <a:solidFill>
                  <a:srgbClr val="FFFFFF"/>
                </a:solidFill>
                <a:latin typeface="Arial" panose="020B0604020202020204" pitchFamily="34" charset="0"/>
                <a:ea typeface="Poppins"/>
                <a:cs typeface="Arial" panose="020B0604020202020204" pitchFamily="34" charset="0"/>
                <a:sym typeface="Poppins"/>
              </a:rPr>
              <a:t> </a:t>
            </a:r>
            <a:r>
              <a:rPr lang="vi-VN" sz="2400" dirty="0" err="1">
                <a:solidFill>
                  <a:srgbClr val="FFFFFF"/>
                </a:solidFill>
                <a:latin typeface="Arial" panose="020B0604020202020204" pitchFamily="34" charset="0"/>
                <a:ea typeface="Poppins"/>
                <a:cs typeface="Arial" panose="020B0604020202020204" pitchFamily="34" charset="0"/>
                <a:sym typeface="Poppins"/>
              </a:rPr>
              <a:t>Pro</a:t>
            </a:r>
            <a:r>
              <a:rPr lang="vi-VN" sz="2400" dirty="0">
                <a:solidFill>
                  <a:srgbClr val="FFFFFF"/>
                </a:solidFill>
                <a:latin typeface="Arial" panose="020B0604020202020204" pitchFamily="34" charset="0"/>
                <a:ea typeface="Poppins"/>
                <a:cs typeface="Arial" panose="020B0604020202020204" pitchFamily="34" charset="0"/>
                <a:sym typeface="Poppins"/>
              </a:rPr>
              <a:t>: Quét, phân tích và khởi tạo gói tin mạng. </a:t>
            </a:r>
          </a:p>
          <a:p>
            <a:pPr lvl="0"/>
            <a:endParaRPr lang="vi-VN" sz="2400" dirty="0">
              <a:solidFill>
                <a:srgbClr val="FFFFFF"/>
              </a:solidFill>
              <a:latin typeface="Arial" panose="020B0604020202020204" pitchFamily="34" charset="0"/>
              <a:ea typeface="Poppins"/>
              <a:cs typeface="Arial" panose="020B0604020202020204" pitchFamily="34" charset="0"/>
              <a:sym typeface="Poppins"/>
            </a:endParaRPr>
          </a:p>
          <a:p>
            <a:pPr lvl="0"/>
            <a:r>
              <a:rPr lang="vi-VN" sz="2400" dirty="0" err="1">
                <a:solidFill>
                  <a:srgbClr val="FFFFFF"/>
                </a:solidFill>
                <a:latin typeface="Arial" panose="020B0604020202020204" pitchFamily="34" charset="0"/>
                <a:ea typeface="Poppins"/>
                <a:cs typeface="Arial" panose="020B0604020202020204" pitchFamily="34" charset="0"/>
                <a:sym typeface="Poppins"/>
              </a:rPr>
              <a:t>Ostinato</a:t>
            </a:r>
            <a:r>
              <a:rPr lang="vi-VN" sz="2400" dirty="0">
                <a:solidFill>
                  <a:srgbClr val="FFFFFF"/>
                </a:solidFill>
                <a:latin typeface="Arial" panose="020B0604020202020204" pitchFamily="34" charset="0"/>
                <a:ea typeface="Poppins"/>
                <a:cs typeface="Arial" panose="020B0604020202020204" pitchFamily="34" charset="0"/>
                <a:sym typeface="Poppins"/>
              </a:rPr>
              <a:t> &amp; WAN </a:t>
            </a:r>
            <a:r>
              <a:rPr lang="vi-VN" sz="2400" dirty="0" err="1">
                <a:solidFill>
                  <a:srgbClr val="FFFFFF"/>
                </a:solidFill>
                <a:latin typeface="Arial" panose="020B0604020202020204" pitchFamily="34" charset="0"/>
                <a:ea typeface="Poppins"/>
                <a:cs typeface="Arial" panose="020B0604020202020204" pitchFamily="34" charset="0"/>
                <a:sym typeface="Poppins"/>
              </a:rPr>
              <a:t>Killer</a:t>
            </a:r>
            <a:r>
              <a:rPr lang="vi-VN" sz="2400" dirty="0">
                <a:solidFill>
                  <a:srgbClr val="FFFFFF"/>
                </a:solidFill>
                <a:latin typeface="Arial" panose="020B0604020202020204" pitchFamily="34" charset="0"/>
                <a:ea typeface="Poppins"/>
                <a:cs typeface="Arial" panose="020B0604020202020204" pitchFamily="34" charset="0"/>
                <a:sym typeface="Poppins"/>
              </a:rPr>
              <a:t>: Trình tạo lưu lượng mạng dung lượng lớn. </a:t>
            </a:r>
          </a:p>
          <a:p>
            <a:pPr lvl="0"/>
            <a:r>
              <a:rPr lang="vi-VN" sz="2400" dirty="0" err="1">
                <a:solidFill>
                  <a:srgbClr val="FFFFFF"/>
                </a:solidFill>
                <a:latin typeface="Arial" panose="020B0604020202020204" pitchFamily="34" charset="0"/>
                <a:ea typeface="Poppins"/>
                <a:cs typeface="Arial" panose="020B0604020202020204" pitchFamily="34" charset="0"/>
                <a:sym typeface="Poppins"/>
              </a:rPr>
              <a:t>WireEdit</a:t>
            </a:r>
            <a:r>
              <a:rPr lang="vi-VN" sz="2400" dirty="0">
                <a:solidFill>
                  <a:srgbClr val="FFFFFF"/>
                </a:solidFill>
                <a:latin typeface="Arial" panose="020B0604020202020204" pitchFamily="34" charset="0"/>
                <a:ea typeface="Poppins"/>
                <a:cs typeface="Arial" panose="020B0604020202020204" pitchFamily="34" charset="0"/>
                <a:sym typeface="Poppins"/>
              </a:rPr>
              <a:t>: Công cụ chỉnh sửa trực tiếp dữ liệu gói tin trong tệp </a:t>
            </a:r>
            <a:r>
              <a:rPr lang="vi-VN" sz="2400" dirty="0" err="1">
                <a:solidFill>
                  <a:srgbClr val="FFFFFF"/>
                </a:solidFill>
                <a:latin typeface="Arial" panose="020B0604020202020204" pitchFamily="34" charset="0"/>
                <a:ea typeface="Poppins"/>
                <a:cs typeface="Arial" panose="020B0604020202020204" pitchFamily="34" charset="0"/>
                <a:sym typeface="Poppins"/>
              </a:rPr>
              <a:t>pcap</a:t>
            </a:r>
            <a:r>
              <a:rPr lang="vi-VN" sz="2400" dirty="0">
                <a:solidFill>
                  <a:srgbClr val="FFFFFF"/>
                </a:solidFill>
                <a:latin typeface="Arial" panose="020B0604020202020204" pitchFamily="34" charset="0"/>
                <a:ea typeface="Poppins"/>
                <a:cs typeface="Arial" panose="020B0604020202020204" pitchFamily="34" charset="0"/>
                <a:sym typeface="Poppins"/>
              </a:rPr>
              <a:t>.</a:t>
            </a:r>
          </a:p>
        </p:txBody>
      </p:sp>
      <p:sp>
        <p:nvSpPr>
          <p:cNvPr id="11" name="Freeform 11">
            <a:extLst>
              <a:ext uri="{FF2B5EF4-FFF2-40B4-BE49-F238E27FC236}">
                <a16:creationId xmlns:a16="http://schemas.microsoft.com/office/drawing/2014/main" id="{69BA810C-F98B-5725-CA04-8CF938216647}"/>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262341F3-BC1E-B9EC-B51A-DEC6CF299464}"/>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5F4EC0AA-5A47-E6B2-7622-55A0706E386E}"/>
              </a:ext>
            </a:extLst>
          </p:cNvPr>
          <p:cNvSpPr txBox="1"/>
          <p:nvPr/>
        </p:nvSpPr>
        <p:spPr>
          <a:xfrm>
            <a:off x="1028700" y="2253942"/>
            <a:ext cx="8343900" cy="1010148"/>
          </a:xfrm>
          <a:prstGeom prst="rect">
            <a:avLst/>
          </a:prstGeom>
        </p:spPr>
        <p:txBody>
          <a:bodyPr wrap="square" lIns="0" tIns="0" rIns="0" bIns="0" rtlCol="0" anchor="t">
            <a:spAutoFit/>
          </a:bodyPr>
          <a:lstStyle/>
          <a:p>
            <a:pPr marL="0" lvl="0" indent="0" algn="l">
              <a:lnSpc>
                <a:spcPts val="8474"/>
              </a:lnSpc>
            </a:pP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Công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cụ</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tạo</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mảnh</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a:t>
            </a:r>
            <a:r>
              <a:rPr lang="en-US" sz="6600" spc="-345" dirty="0" err="1">
                <a:solidFill>
                  <a:srgbClr val="FFFFFF"/>
                </a:solidFill>
                <a:latin typeface="Arial" panose="020B0604020202020204" pitchFamily="34" charset="0"/>
                <a:ea typeface="Times New Roman"/>
                <a:cs typeface="Arial" panose="020B0604020202020204" pitchFamily="34" charset="0"/>
                <a:sym typeface="Times New Roman"/>
              </a:rPr>
              <a:t>gói</a:t>
            </a:r>
            <a:r>
              <a:rPr lang="en-US" sz="6600" spc="-345" dirty="0">
                <a:solidFill>
                  <a:srgbClr val="FFFFFF"/>
                </a:solidFill>
                <a:latin typeface="Arial" panose="020B0604020202020204" pitchFamily="34" charset="0"/>
                <a:ea typeface="Times New Roman"/>
                <a:cs typeface="Arial" panose="020B0604020202020204" pitchFamily="34" charset="0"/>
                <a:sym typeface="Times New Roman"/>
              </a:rPr>
              <a:t> tin</a:t>
            </a:r>
          </a:p>
        </p:txBody>
      </p:sp>
      <p:pic>
        <p:nvPicPr>
          <p:cNvPr id="7" name="Picture 6" descr="Packet Builder for Network Engineer - Colasoft">
            <a:extLst>
              <a:ext uri="{FF2B5EF4-FFF2-40B4-BE49-F238E27FC236}">
                <a16:creationId xmlns:a16="http://schemas.microsoft.com/office/drawing/2014/main" id="{01821805-4A51-7535-1FFC-9252B259E84F}"/>
              </a:ext>
            </a:extLst>
          </p:cNvPr>
          <p:cNvPicPr>
            <a:picLocks noChangeAspect="1"/>
          </p:cNvPicPr>
          <p:nvPr/>
        </p:nvPicPr>
        <p:blipFill>
          <a:blip r:embed="rId5"/>
          <a:stretch>
            <a:fillRect/>
          </a:stretch>
        </p:blipFill>
        <p:spPr>
          <a:xfrm>
            <a:off x="10401300" y="3554673"/>
            <a:ext cx="6858000" cy="6090274"/>
          </a:xfrm>
          <a:prstGeom prst="rect">
            <a:avLst/>
          </a:prstGeom>
        </p:spPr>
      </p:pic>
    </p:spTree>
    <p:extLst>
      <p:ext uri="{BB962C8B-B14F-4D97-AF65-F5344CB8AC3E}">
        <p14:creationId xmlns:p14="http://schemas.microsoft.com/office/powerpoint/2010/main" val="5406268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E4A1E-4E79-29D5-2629-38A027A78E3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0CF0DD5-5D76-14B9-F1F1-B619CD1D87D6}"/>
              </a:ext>
            </a:extLst>
          </p:cNvPr>
          <p:cNvSpPr/>
          <p:nvPr/>
        </p:nvSpPr>
        <p:spPr>
          <a:xfrm>
            <a:off x="0" y="-11942"/>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TextBox 3">
            <a:extLst>
              <a:ext uri="{FF2B5EF4-FFF2-40B4-BE49-F238E27FC236}">
                <a16:creationId xmlns:a16="http://schemas.microsoft.com/office/drawing/2014/main" id="{07EE177E-753F-39D1-E430-3190AF78F227}"/>
              </a:ext>
            </a:extLst>
          </p:cNvPr>
          <p:cNvSpPr txBox="1"/>
          <p:nvPr/>
        </p:nvSpPr>
        <p:spPr>
          <a:xfrm>
            <a:off x="1784976" y="5000179"/>
            <a:ext cx="14718047" cy="2205732"/>
          </a:xfrm>
          <a:prstGeom prst="rect">
            <a:avLst/>
          </a:prstGeom>
        </p:spPr>
        <p:txBody>
          <a:bodyPr wrap="square" lIns="0" tIns="0" rIns="0" bIns="0" rtlCol="0" anchor="t">
            <a:spAutoFit/>
          </a:bodyPr>
          <a:lstStyle/>
          <a:p>
            <a:pPr marL="0" lvl="0" indent="0" algn="ctr">
              <a:lnSpc>
                <a:spcPts val="8568"/>
              </a:lnSpc>
            </a:pPr>
            <a:r>
              <a:rPr lang="en-US" sz="8159" spc="-359" dirty="0">
                <a:solidFill>
                  <a:srgbClr val="FFFFFF"/>
                </a:solidFill>
                <a:latin typeface="Arial" panose="020B0604020202020204" pitchFamily="34" charset="0"/>
                <a:ea typeface="Times New Roman"/>
                <a:cs typeface="Arial" panose="020B0604020202020204" pitchFamily="34" charset="0"/>
                <a:sym typeface="Times New Roman"/>
              </a:rPr>
              <a:t>CÁC BIỆN PHÁP ĐỐI PHÓ VỚI LẨN TRÁNH IDS/FIREWALL</a:t>
            </a:r>
          </a:p>
        </p:txBody>
      </p:sp>
      <p:sp>
        <p:nvSpPr>
          <p:cNvPr id="5" name="Freeform 5">
            <a:extLst>
              <a:ext uri="{FF2B5EF4-FFF2-40B4-BE49-F238E27FC236}">
                <a16:creationId xmlns:a16="http://schemas.microsoft.com/office/drawing/2014/main" id="{140E70FE-37AE-D99C-3004-B547E39E6179}"/>
              </a:ext>
            </a:extLst>
          </p:cNvPr>
          <p:cNvSpPr/>
          <p:nvPr/>
        </p:nvSpPr>
        <p:spPr>
          <a:xfrm>
            <a:off x="-1340885" y="5505450"/>
            <a:ext cx="5838682" cy="5855316"/>
          </a:xfrm>
          <a:custGeom>
            <a:avLst/>
            <a:gdLst/>
            <a:ahLst/>
            <a:cxnLst/>
            <a:rect l="l" t="t" r="r" b="b"/>
            <a:pathLst>
              <a:path w="5838682" h="5855316">
                <a:moveTo>
                  <a:pt x="0" y="0"/>
                </a:moveTo>
                <a:lnTo>
                  <a:pt x="5838681" y="0"/>
                </a:lnTo>
                <a:lnTo>
                  <a:pt x="5838681" y="5855316"/>
                </a:lnTo>
                <a:lnTo>
                  <a:pt x="0" y="5855316"/>
                </a:lnTo>
                <a:lnTo>
                  <a:pt x="0"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211A20C9-D1F4-608E-F2C5-39C36EFA7B56}"/>
              </a:ext>
            </a:extLst>
          </p:cNvPr>
          <p:cNvSpPr/>
          <p:nvPr/>
        </p:nvSpPr>
        <p:spPr>
          <a:xfrm flipH="1">
            <a:off x="13558746" y="5505450"/>
            <a:ext cx="5838682" cy="5855316"/>
          </a:xfrm>
          <a:custGeom>
            <a:avLst/>
            <a:gdLst/>
            <a:ahLst/>
            <a:cxnLst/>
            <a:rect l="l" t="t" r="r" b="b"/>
            <a:pathLst>
              <a:path w="5838682" h="5855316">
                <a:moveTo>
                  <a:pt x="5838681" y="0"/>
                </a:moveTo>
                <a:lnTo>
                  <a:pt x="0" y="0"/>
                </a:lnTo>
                <a:lnTo>
                  <a:pt x="0" y="5855316"/>
                </a:lnTo>
                <a:lnTo>
                  <a:pt x="5838681" y="5855316"/>
                </a:lnTo>
                <a:lnTo>
                  <a:pt x="5838681"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7" name="AutoShape 7">
            <a:extLst>
              <a:ext uri="{FF2B5EF4-FFF2-40B4-BE49-F238E27FC236}">
                <a16:creationId xmlns:a16="http://schemas.microsoft.com/office/drawing/2014/main" id="{3A1A5EBE-6787-C860-BFC5-23E2ACA6C715}"/>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8" name="Freeform 8">
            <a:extLst>
              <a:ext uri="{FF2B5EF4-FFF2-40B4-BE49-F238E27FC236}">
                <a16:creationId xmlns:a16="http://schemas.microsoft.com/office/drawing/2014/main" id="{A9A6D782-BE62-8C05-9444-6754A8103214}"/>
              </a:ext>
            </a:extLst>
          </p:cNvPr>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A317B4C5-6EDA-07C8-8D21-2693BCD55E91}"/>
              </a:ext>
            </a:extLst>
          </p:cNvPr>
          <p:cNvSpPr txBox="1"/>
          <p:nvPr/>
        </p:nvSpPr>
        <p:spPr>
          <a:xfrm>
            <a:off x="1574843" y="1023452"/>
            <a:ext cx="2922953" cy="327654"/>
          </a:xfrm>
          <a:prstGeom prst="rect">
            <a:avLst/>
          </a:prstGeom>
        </p:spPr>
        <p:txBody>
          <a:bodyPr lIns="0" tIns="0" rIns="0" bIns="0" rtlCol="0" anchor="t">
            <a:spAutoFit/>
          </a:bodyPr>
          <a:lstStyle/>
          <a:p>
            <a:pPr marL="0" lvl="0" indent="0" algn="l">
              <a:lnSpc>
                <a:spcPts val="2798"/>
              </a:lnSpc>
            </a:pPr>
            <a:r>
              <a:rPr lang="en-US" sz="1998" err="1">
                <a:solidFill>
                  <a:srgbClr val="FFFFFF"/>
                </a:solidFill>
                <a:latin typeface="Arial" panose="020B0604020202020204" pitchFamily="34" charset="0"/>
                <a:ea typeface="Poppins"/>
                <a:cs typeface="Arial" panose="020B0604020202020204" pitchFamily="34" charset="0"/>
                <a:sym typeface="Poppins"/>
              </a:rPr>
              <a:t>Nhóm</a:t>
            </a:r>
            <a:r>
              <a:rPr lang="en-US" sz="1998">
                <a:solidFill>
                  <a:srgbClr val="FFFFFF"/>
                </a:solidFill>
                <a:latin typeface="Arial" panose="020B0604020202020204" pitchFamily="34" charset="0"/>
                <a:ea typeface="Poppins"/>
                <a:cs typeface="Arial" panose="020B0604020202020204" pitchFamily="34" charset="0"/>
                <a:sym typeface="Poppins"/>
              </a:rPr>
              <a:t> 9 - ATTT K22A</a:t>
            </a:r>
          </a:p>
        </p:txBody>
      </p:sp>
    </p:spTree>
    <p:extLst>
      <p:ext uri="{BB962C8B-B14F-4D97-AF65-F5344CB8AC3E}">
        <p14:creationId xmlns:p14="http://schemas.microsoft.com/office/powerpoint/2010/main" val="3691561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56947-75B8-3C5D-6C55-67354651A1F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3D5F7A0-B9EA-4542-06AA-876384990369}"/>
              </a:ext>
            </a:extLst>
          </p:cNvPr>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114CAAB2-51FA-E05F-F70A-9507A794F3E8}"/>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2367FD00-270C-AE6C-1ED4-1D8FC3D45FE0}"/>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214597FF-476D-E423-925D-E3E5B24662C4}"/>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75C42EB5-D1C8-40C0-77E7-98A6F3CE65A2}"/>
              </a:ext>
            </a:extLst>
          </p:cNvPr>
          <p:cNvSpPr txBox="1"/>
          <p:nvPr/>
        </p:nvSpPr>
        <p:spPr>
          <a:xfrm>
            <a:off x="1028700" y="7167182"/>
            <a:ext cx="7358743" cy="1845057"/>
          </a:xfrm>
          <a:prstGeom prst="rect">
            <a:avLst/>
          </a:prstGeom>
        </p:spPr>
        <p:txBody>
          <a:bodyPr lIns="0" tIns="0" rIns="0" bIns="0" rtlCol="0" anchor="t">
            <a:spAutoFit/>
          </a:bodyPr>
          <a:lstStyle/>
          <a:p>
            <a:pPr lvl="0"/>
            <a:r>
              <a:rPr lang="en-US" sz="2398" dirty="0">
                <a:solidFill>
                  <a:srgbClr val="FFFFFF"/>
                </a:solidFill>
                <a:latin typeface="Arial" panose="020B0604020202020204" pitchFamily="34" charset="0"/>
                <a:ea typeface="Poppins"/>
                <a:cs typeface="Arial" panose="020B0604020202020204" pitchFamily="34" charset="0"/>
                <a:sym typeface="Poppins"/>
              </a:rPr>
              <a:t>- </a:t>
            </a:r>
            <a:r>
              <a:rPr lang="vi-VN" sz="2398" dirty="0">
                <a:solidFill>
                  <a:srgbClr val="FFFFFF"/>
                </a:solidFill>
                <a:latin typeface="Arial" panose="020B0604020202020204" pitchFamily="34" charset="0"/>
                <a:ea typeface="Poppins"/>
                <a:cs typeface="Arial" panose="020B0604020202020204" pitchFamily="34" charset="0"/>
                <a:sym typeface="Poppins"/>
              </a:rPr>
              <a:t>Sử dụng giải pháp chuẩn hóa lưu lượng (</a:t>
            </a:r>
            <a:r>
              <a:rPr lang="vi-VN" sz="2398" dirty="0" err="1">
                <a:solidFill>
                  <a:srgbClr val="FFFFFF"/>
                </a:solidFill>
                <a:latin typeface="Arial" panose="020B0604020202020204" pitchFamily="34" charset="0"/>
                <a:ea typeface="Poppins"/>
                <a:cs typeface="Arial" panose="020B0604020202020204" pitchFamily="34" charset="0"/>
                <a:sym typeface="Poppins"/>
              </a:rPr>
              <a:t>Traffic</a:t>
            </a:r>
            <a:r>
              <a:rPr lang="vi-VN" sz="2398" dirty="0">
                <a:solidFill>
                  <a:srgbClr val="FFFFFF"/>
                </a:solidFill>
                <a:latin typeface="Arial" panose="020B0604020202020204" pitchFamily="34" charset="0"/>
                <a:ea typeface="Poppins"/>
                <a:cs typeface="Arial" panose="020B0604020202020204" pitchFamily="34" charset="0"/>
                <a:sym typeface="Poppins"/>
              </a:rPr>
              <a:t> </a:t>
            </a:r>
            <a:r>
              <a:rPr lang="vi-VN" sz="2398" dirty="0" err="1">
                <a:solidFill>
                  <a:srgbClr val="FFFFFF"/>
                </a:solidFill>
                <a:latin typeface="Arial" panose="020B0604020202020204" pitchFamily="34" charset="0"/>
                <a:ea typeface="Poppins"/>
                <a:cs typeface="Arial" panose="020B0604020202020204" pitchFamily="34" charset="0"/>
                <a:sym typeface="Poppins"/>
              </a:rPr>
              <a:t>Normalizer</a:t>
            </a:r>
            <a:r>
              <a:rPr lang="vi-VN" sz="2398" dirty="0">
                <a:solidFill>
                  <a:srgbClr val="FFFFFF"/>
                </a:solidFill>
                <a:latin typeface="Arial" panose="020B0604020202020204" pitchFamily="34" charset="0"/>
                <a:ea typeface="Poppins"/>
                <a:cs typeface="Arial" panose="020B0604020202020204" pitchFamily="34" charset="0"/>
                <a:sym typeface="Poppins"/>
              </a:rPr>
              <a:t>) trước khi dữ liệu tới IDS. </a:t>
            </a:r>
          </a:p>
          <a:p>
            <a:pPr lvl="0"/>
            <a:r>
              <a:rPr lang="en-US" sz="2398" dirty="0">
                <a:solidFill>
                  <a:srgbClr val="FFFFFF"/>
                </a:solidFill>
                <a:latin typeface="Arial" panose="020B0604020202020204" pitchFamily="34" charset="0"/>
                <a:ea typeface="Poppins"/>
                <a:cs typeface="Arial" panose="020B0604020202020204" pitchFamily="34" charset="0"/>
                <a:sym typeface="Poppins"/>
              </a:rPr>
              <a:t>- </a:t>
            </a:r>
            <a:r>
              <a:rPr lang="vi-VN" sz="2398" dirty="0">
                <a:solidFill>
                  <a:srgbClr val="FFFFFF"/>
                </a:solidFill>
                <a:latin typeface="Arial" panose="020B0604020202020204" pitchFamily="34" charset="0"/>
                <a:ea typeface="Poppins"/>
                <a:cs typeface="Arial" panose="020B0604020202020204" pitchFamily="34" charset="0"/>
                <a:sym typeface="Poppins"/>
              </a:rPr>
              <a:t>Bắt buộc IDS ghép nối chính xác các gói phân mảnh theo đúng thứ tự và thời gian. </a:t>
            </a:r>
          </a:p>
          <a:p>
            <a:pPr marL="342900" lvl="0" indent="-342900">
              <a:buFontTx/>
              <a:buChar char="-"/>
            </a:pPr>
            <a:endParaRPr lang="vi-VN" sz="2398" dirty="0">
              <a:solidFill>
                <a:srgbClr val="FFFFFF"/>
              </a:solidFill>
              <a:latin typeface="Arial" panose="020B0604020202020204" pitchFamily="34" charset="0"/>
              <a:ea typeface="Poppins"/>
              <a:cs typeface="Arial" panose="020B0604020202020204" pitchFamily="34" charset="0"/>
              <a:sym typeface="Poppins"/>
            </a:endParaRPr>
          </a:p>
        </p:txBody>
      </p:sp>
      <p:sp>
        <p:nvSpPr>
          <p:cNvPr id="11" name="Freeform 11">
            <a:extLst>
              <a:ext uri="{FF2B5EF4-FFF2-40B4-BE49-F238E27FC236}">
                <a16:creationId xmlns:a16="http://schemas.microsoft.com/office/drawing/2014/main" id="{8D4A58B6-19CE-AE79-F608-E517CFA24EB4}"/>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E49F4813-FE35-91C5-C45C-7AFABEBEFD43}"/>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CFCAA368-E641-576F-D45E-7545AB02CCB6}"/>
              </a:ext>
            </a:extLst>
          </p:cNvPr>
          <p:cNvSpPr txBox="1"/>
          <p:nvPr/>
        </p:nvSpPr>
        <p:spPr>
          <a:xfrm>
            <a:off x="1028700" y="2427514"/>
            <a:ext cx="9410700" cy="1010148"/>
          </a:xfrm>
          <a:prstGeom prst="rect">
            <a:avLst/>
          </a:prstGeom>
        </p:spPr>
        <p:txBody>
          <a:bodyPr wrap="square" lIns="0" tIns="0" rIns="0" bIns="0" rtlCol="0" anchor="t">
            <a:spAutoFit/>
          </a:bodyPr>
          <a:lstStyle/>
          <a:p>
            <a:pPr marL="0" lvl="0" indent="0" algn="l">
              <a:lnSpc>
                <a:spcPts val="8474"/>
              </a:lnSpc>
            </a:pPr>
            <a:r>
              <a:rPr lang="en-US" sz="6600" spc="-345">
                <a:solidFill>
                  <a:srgbClr val="FFFFFF"/>
                </a:solidFill>
                <a:latin typeface="Arial" panose="020B0604020202020204" pitchFamily="34" charset="0"/>
                <a:ea typeface="Times New Roman"/>
                <a:cs typeface="Arial" panose="020B0604020202020204" pitchFamily="34" charset="0"/>
                <a:sym typeface="Times New Roman"/>
              </a:rPr>
              <a:t>Phòng chống lẩn tránh IDS</a:t>
            </a:r>
          </a:p>
        </p:txBody>
      </p:sp>
      <p:sp>
        <p:nvSpPr>
          <p:cNvPr id="8" name="TextBox 10">
            <a:extLst>
              <a:ext uri="{FF2B5EF4-FFF2-40B4-BE49-F238E27FC236}">
                <a16:creationId xmlns:a16="http://schemas.microsoft.com/office/drawing/2014/main" id="{1D320D01-4BD9-886E-4F3C-ACB1DC8B110F}"/>
              </a:ext>
            </a:extLst>
          </p:cNvPr>
          <p:cNvSpPr txBox="1"/>
          <p:nvPr/>
        </p:nvSpPr>
        <p:spPr>
          <a:xfrm>
            <a:off x="9372600" y="7167182"/>
            <a:ext cx="7358743" cy="2931956"/>
          </a:xfrm>
          <a:prstGeom prst="rect">
            <a:avLst/>
          </a:prstGeom>
        </p:spPr>
        <p:txBody>
          <a:bodyPr lIns="0" tIns="0" rIns="0" bIns="0" rtlCol="0" anchor="t">
            <a:spAutoFit/>
          </a:bodyPr>
          <a:lstStyle/>
          <a:p>
            <a:pPr lvl="0"/>
            <a:r>
              <a:rPr lang="en-US" sz="2398" dirty="0">
                <a:solidFill>
                  <a:srgbClr val="FFFFFF"/>
                </a:solidFill>
                <a:latin typeface="Arial" panose="020B0604020202020204" pitchFamily="34" charset="0"/>
                <a:ea typeface="Poppins"/>
                <a:cs typeface="Arial" panose="020B0604020202020204" pitchFamily="34" charset="0"/>
                <a:sym typeface="Poppins"/>
              </a:rPr>
              <a:t>- </a:t>
            </a:r>
            <a:r>
              <a:rPr lang="vi-VN" sz="2398" dirty="0">
                <a:solidFill>
                  <a:srgbClr val="FFFFFF"/>
                </a:solidFill>
                <a:ea typeface="Poppins"/>
                <a:cs typeface="Arial" panose="020B0604020202020204" pitchFamily="34" charset="0"/>
                <a:sym typeface="Poppins"/>
              </a:rPr>
              <a:t>Thay đổi/Chặn các gói ICMP TTL hết hạn ở biên; điều chỉnh TTL đồng nhất. </a:t>
            </a:r>
          </a:p>
          <a:p>
            <a:pPr lvl="0"/>
            <a:r>
              <a:rPr lang="en-US" sz="2398" dirty="0">
                <a:solidFill>
                  <a:srgbClr val="FFFFFF"/>
                </a:solidFill>
                <a:latin typeface="Arial" panose="020B0604020202020204" pitchFamily="34" charset="0"/>
                <a:ea typeface="Poppins"/>
                <a:cs typeface="Arial" panose="020B0604020202020204" pitchFamily="34" charset="0"/>
                <a:sym typeface="Poppins"/>
              </a:rPr>
              <a:t>- </a:t>
            </a:r>
            <a:r>
              <a:rPr lang="vi-VN" sz="2398" dirty="0">
                <a:solidFill>
                  <a:srgbClr val="FFFFFF"/>
                </a:solidFill>
                <a:ea typeface="Poppins"/>
                <a:cs typeface="Arial" panose="020B0604020202020204" pitchFamily="34" charset="0"/>
                <a:sym typeface="Poppins"/>
              </a:rPr>
              <a:t>Nhận diện </a:t>
            </a:r>
            <a:r>
              <a:rPr lang="vi-VN" sz="2398" dirty="0" err="1">
                <a:solidFill>
                  <a:srgbClr val="FFFFFF"/>
                </a:solidFill>
                <a:ea typeface="Poppins"/>
                <a:cs typeface="Arial" panose="020B0604020202020204" pitchFamily="34" charset="0"/>
                <a:sym typeface="Poppins"/>
              </a:rPr>
              <a:t>pattern</a:t>
            </a:r>
            <a:r>
              <a:rPr lang="vi-VN" sz="2398" dirty="0">
                <a:solidFill>
                  <a:srgbClr val="FFFFFF"/>
                </a:solidFill>
                <a:ea typeface="Poppins"/>
                <a:cs typeface="Arial" panose="020B0604020202020204" pitchFamily="34" charset="0"/>
                <a:sym typeface="Poppins"/>
              </a:rPr>
              <a:t> NOP khác 0𝑥90để chặn </a:t>
            </a:r>
            <a:r>
              <a:rPr lang="vi-VN" sz="2398" dirty="0" err="1">
                <a:solidFill>
                  <a:srgbClr val="FFFFFF"/>
                </a:solidFill>
                <a:ea typeface="Poppins"/>
                <a:cs typeface="Arial" panose="020B0604020202020204" pitchFamily="34" charset="0"/>
                <a:sym typeface="Poppins"/>
              </a:rPr>
              <a:t>Shellcode</a:t>
            </a:r>
            <a:r>
              <a:rPr lang="vi-VN" sz="2398" dirty="0">
                <a:solidFill>
                  <a:srgbClr val="FFFFFF"/>
                </a:solidFill>
                <a:ea typeface="Poppins"/>
                <a:cs typeface="Arial" panose="020B0604020202020204" pitchFamily="34" charset="0"/>
                <a:sym typeface="Poppins"/>
              </a:rPr>
              <a:t> đa hình. </a:t>
            </a:r>
          </a:p>
          <a:p>
            <a:pPr lvl="0"/>
            <a:r>
              <a:rPr lang="en-US" sz="2398" dirty="0">
                <a:solidFill>
                  <a:srgbClr val="FFFFFF"/>
                </a:solidFill>
                <a:latin typeface="Arial" panose="020B0604020202020204" pitchFamily="34" charset="0"/>
                <a:ea typeface="Poppins"/>
                <a:cs typeface="Arial" panose="020B0604020202020204" pitchFamily="34" charset="0"/>
                <a:sym typeface="Poppins"/>
              </a:rPr>
              <a:t>- </a:t>
            </a:r>
            <a:r>
              <a:rPr lang="vi-VN" sz="2398" dirty="0">
                <a:solidFill>
                  <a:srgbClr val="FFFFFF"/>
                </a:solidFill>
                <a:ea typeface="Poppins"/>
                <a:cs typeface="Arial" panose="020B0604020202020204" pitchFamily="34" charset="0"/>
                <a:sym typeface="Poppins"/>
              </a:rPr>
              <a:t>Kết hợp phát hiện dựa trên chữ ký (</a:t>
            </a:r>
            <a:r>
              <a:rPr lang="vi-VN" sz="2398" dirty="0" err="1">
                <a:solidFill>
                  <a:srgbClr val="FFFFFF"/>
                </a:solidFill>
                <a:ea typeface="Poppins"/>
                <a:cs typeface="Arial" panose="020B0604020202020204" pitchFamily="34" charset="0"/>
                <a:sym typeface="Poppins"/>
              </a:rPr>
              <a:t>Signature</a:t>
            </a:r>
            <a:r>
              <a:rPr lang="vi-VN" sz="2398" dirty="0">
                <a:solidFill>
                  <a:srgbClr val="FFFFFF"/>
                </a:solidFill>
                <a:ea typeface="Poppins"/>
                <a:cs typeface="Arial" panose="020B0604020202020204" pitchFamily="34" charset="0"/>
                <a:sym typeface="Poppins"/>
              </a:rPr>
              <a:t>) với phân tích hành vi/thống kê (</a:t>
            </a:r>
            <a:r>
              <a:rPr lang="vi-VN" sz="2398" dirty="0" err="1">
                <a:solidFill>
                  <a:srgbClr val="FFFFFF"/>
                </a:solidFill>
                <a:ea typeface="Poppins"/>
                <a:cs typeface="Arial" panose="020B0604020202020204" pitchFamily="34" charset="0"/>
                <a:sym typeface="Poppins"/>
              </a:rPr>
              <a:t>Anomaly</a:t>
            </a:r>
            <a:r>
              <a:rPr lang="vi-VN" sz="2398" dirty="0">
                <a:solidFill>
                  <a:srgbClr val="FFFFFF"/>
                </a:solidFill>
                <a:ea typeface="Poppins"/>
                <a:cs typeface="Arial" panose="020B0604020202020204" pitchFamily="34" charset="0"/>
                <a:sym typeface="Poppins"/>
              </a:rPr>
              <a:t>) để chống </a:t>
            </a:r>
            <a:r>
              <a:rPr lang="vi-VN" sz="2398" dirty="0" err="1">
                <a:solidFill>
                  <a:srgbClr val="FFFFFF"/>
                </a:solidFill>
                <a:ea typeface="Poppins"/>
                <a:cs typeface="Arial" panose="020B0604020202020204" pitchFamily="34" charset="0"/>
                <a:sym typeface="Poppins"/>
              </a:rPr>
              <a:t>Zero</a:t>
            </a:r>
            <a:r>
              <a:rPr lang="vi-VN" sz="2398" dirty="0">
                <a:solidFill>
                  <a:srgbClr val="FFFFFF"/>
                </a:solidFill>
                <a:ea typeface="Poppins"/>
                <a:cs typeface="Arial" panose="020B0604020202020204" pitchFamily="34" charset="0"/>
                <a:sym typeface="Poppins"/>
              </a:rPr>
              <a:t>-day. </a:t>
            </a:r>
          </a:p>
          <a:p>
            <a:pPr marL="0" lvl="0" indent="0" algn="l">
              <a:lnSpc>
                <a:spcPts val="2901"/>
              </a:lnSpc>
            </a:pPr>
            <a:endParaRPr lang="vi-VN" sz="2398" dirty="0">
              <a:solidFill>
                <a:srgbClr val="FFFFFF"/>
              </a:solidFill>
              <a:latin typeface="Arial" panose="020B0604020202020204" pitchFamily="34" charset="0"/>
              <a:ea typeface="Poppins"/>
              <a:cs typeface="Arial" panose="020B0604020202020204" pitchFamily="34" charset="0"/>
              <a:sym typeface="Poppins"/>
            </a:endParaRPr>
          </a:p>
        </p:txBody>
      </p:sp>
      <p:sp>
        <p:nvSpPr>
          <p:cNvPr id="14" name="TextBox 13">
            <a:extLst>
              <a:ext uri="{FF2B5EF4-FFF2-40B4-BE49-F238E27FC236}">
                <a16:creationId xmlns:a16="http://schemas.microsoft.com/office/drawing/2014/main" id="{88FDE23C-D70C-33D9-3D3E-F3C66C7D49BC}"/>
              </a:ext>
            </a:extLst>
          </p:cNvPr>
          <p:cNvSpPr txBox="1"/>
          <p:nvPr/>
        </p:nvSpPr>
        <p:spPr>
          <a:xfrm>
            <a:off x="1028700" y="5159121"/>
            <a:ext cx="8343900" cy="934295"/>
          </a:xfrm>
          <a:prstGeom prst="rect">
            <a:avLst/>
          </a:prstGeom>
        </p:spPr>
        <p:txBody>
          <a:bodyPr wrap="square" lIns="0" tIns="0" rIns="0" bIns="0" rtlCol="0" anchor="t">
            <a:spAutoFit/>
          </a:bodyPr>
          <a:lstStyle/>
          <a:p>
            <a:pPr marL="0" lvl="0" indent="0" algn="l">
              <a:lnSpc>
                <a:spcPts val="8474"/>
              </a:lnSpc>
            </a:pPr>
            <a:r>
              <a:rPr lang="vi-VN" sz="4000" spc="-345">
                <a:solidFill>
                  <a:srgbClr val="FFFFFF"/>
                </a:solidFill>
                <a:latin typeface="Arial" panose="020B0604020202020204" pitchFamily="34" charset="0"/>
                <a:ea typeface="Times New Roman"/>
                <a:cs typeface="Arial" panose="020B0604020202020204" pitchFamily="34" charset="0"/>
                <a:sym typeface="Times New Roman"/>
              </a:rPr>
              <a:t>Tối ưu hóa và chuẩn hóa lưu lượng</a:t>
            </a:r>
            <a:endParaRPr lang="en-US" sz="4000" spc="-345">
              <a:solidFill>
                <a:srgbClr val="FFFFFF"/>
              </a:solidFill>
              <a:latin typeface="Arial" panose="020B0604020202020204" pitchFamily="34" charset="0"/>
              <a:ea typeface="Times New Roman"/>
              <a:cs typeface="Arial" panose="020B0604020202020204" pitchFamily="34" charset="0"/>
              <a:sym typeface="Times New Roman"/>
            </a:endParaRPr>
          </a:p>
        </p:txBody>
      </p:sp>
      <p:sp>
        <p:nvSpPr>
          <p:cNvPr id="16" name="TextBox 13">
            <a:extLst>
              <a:ext uri="{FF2B5EF4-FFF2-40B4-BE49-F238E27FC236}">
                <a16:creationId xmlns:a16="http://schemas.microsoft.com/office/drawing/2014/main" id="{94460D06-F387-A7C3-9648-61E2CAF905AD}"/>
              </a:ext>
            </a:extLst>
          </p:cNvPr>
          <p:cNvSpPr txBox="1"/>
          <p:nvPr/>
        </p:nvSpPr>
        <p:spPr>
          <a:xfrm>
            <a:off x="9372600" y="5159121"/>
            <a:ext cx="5372100" cy="934295"/>
          </a:xfrm>
          <a:prstGeom prst="rect">
            <a:avLst/>
          </a:prstGeom>
        </p:spPr>
        <p:txBody>
          <a:bodyPr wrap="square" lIns="0" tIns="0" rIns="0" bIns="0" rtlCol="0" anchor="t">
            <a:spAutoFit/>
          </a:bodyPr>
          <a:lstStyle/>
          <a:p>
            <a:pPr marL="0" lvl="0" indent="0" algn="l">
              <a:lnSpc>
                <a:spcPts val="8474"/>
              </a:lnSpc>
            </a:pPr>
            <a:r>
              <a:rPr lang="en-US" sz="4000" spc="-345">
                <a:solidFill>
                  <a:srgbClr val="FFFFFF"/>
                </a:solidFill>
                <a:latin typeface="Arial" panose="020B0604020202020204" pitchFamily="34" charset="0"/>
                <a:ea typeface="Times New Roman"/>
                <a:cs typeface="Arial" panose="020B0604020202020204" pitchFamily="34" charset="0"/>
                <a:sym typeface="Times New Roman"/>
              </a:rPr>
              <a:t>Củng cố cấu hình hệ thống</a:t>
            </a:r>
          </a:p>
        </p:txBody>
      </p:sp>
    </p:spTree>
    <p:extLst>
      <p:ext uri="{BB962C8B-B14F-4D97-AF65-F5344CB8AC3E}">
        <p14:creationId xmlns:p14="http://schemas.microsoft.com/office/powerpoint/2010/main" val="7206917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76C25-C68A-AE45-4121-B32BF4AC5E7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7A784B2-BECF-E996-E13A-BE42DA7C91E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a:extLst>
              <a:ext uri="{FF2B5EF4-FFF2-40B4-BE49-F238E27FC236}">
                <a16:creationId xmlns:a16="http://schemas.microsoft.com/office/drawing/2014/main" id="{20EF25FE-923F-2C66-3B83-0B5A71D3B969}"/>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a:extLst>
              <a:ext uri="{FF2B5EF4-FFF2-40B4-BE49-F238E27FC236}">
                <a16:creationId xmlns:a16="http://schemas.microsoft.com/office/drawing/2014/main" id="{FEA0EF01-5E34-A649-CFCE-47C6DB42752C}"/>
              </a:ext>
            </a:extLst>
          </p:cNvPr>
          <p:cNvSpPr/>
          <p:nvPr/>
        </p:nvSpPr>
        <p:spPr>
          <a:xfrm>
            <a:off x="1032248" y="973957"/>
            <a:ext cx="404064" cy="539073"/>
          </a:xfrm>
          <a:custGeom>
            <a:avLst/>
            <a:gdLst/>
            <a:ahLst/>
            <a:cxnLst/>
            <a:rect l="l" t="t" r="r" b="b"/>
            <a:pathLst>
              <a:path w="404064" h="539073">
                <a:moveTo>
                  <a:pt x="0" y="0"/>
                </a:moveTo>
                <a:lnTo>
                  <a:pt x="404064" y="0"/>
                </a:lnTo>
                <a:lnTo>
                  <a:pt x="404064" y="539073"/>
                </a:lnTo>
                <a:lnTo>
                  <a:pt x="0" y="539073"/>
                </a:lnTo>
                <a:lnTo>
                  <a:pt x="0" y="0"/>
                </a:lnTo>
                <a:close/>
              </a:path>
            </a:pathLst>
          </a:custGeom>
          <a:blipFill>
            <a:blip r:embed="rId3"/>
            <a:stretch>
              <a:fillRect/>
            </a:stretch>
          </a:blipFill>
        </p:spPr>
      </p:sp>
      <p:sp>
        <p:nvSpPr>
          <p:cNvPr id="5" name="Freeform 5">
            <a:extLst>
              <a:ext uri="{FF2B5EF4-FFF2-40B4-BE49-F238E27FC236}">
                <a16:creationId xmlns:a16="http://schemas.microsoft.com/office/drawing/2014/main" id="{2493DC71-FE17-658E-4880-533B8251FE4C}"/>
              </a:ext>
            </a:extLst>
          </p:cNvPr>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60DC9C1C-CEA8-88C5-E486-D4DBA496FE8C}"/>
              </a:ext>
            </a:extLst>
          </p:cNvPr>
          <p:cNvSpPr txBox="1"/>
          <p:nvPr/>
        </p:nvSpPr>
        <p:spPr>
          <a:xfrm>
            <a:off x="1028700" y="7167182"/>
            <a:ext cx="7358743" cy="1845057"/>
          </a:xfrm>
          <a:prstGeom prst="rect">
            <a:avLst/>
          </a:prstGeom>
        </p:spPr>
        <p:txBody>
          <a:bodyPr lIns="0" tIns="0" rIns="0" bIns="0" rtlCol="0" anchor="t">
            <a:spAutoFit/>
          </a:bodyPr>
          <a:lstStyle/>
          <a:p>
            <a:pPr lvl="0"/>
            <a:r>
              <a:rPr lang="en-US" sz="2398" dirty="0">
                <a:solidFill>
                  <a:srgbClr val="FFFFFF"/>
                </a:solidFill>
                <a:latin typeface="Arial" panose="020B0604020202020204" pitchFamily="34" charset="0"/>
                <a:ea typeface="Poppins"/>
                <a:cs typeface="Arial" panose="020B0604020202020204" pitchFamily="34" charset="0"/>
                <a:sym typeface="Poppins"/>
              </a:rPr>
              <a:t>- </a:t>
            </a:r>
            <a:r>
              <a:rPr lang="vi-VN" sz="2398" dirty="0" err="1">
                <a:solidFill>
                  <a:srgbClr val="FFFFFF"/>
                </a:solidFill>
                <a:latin typeface="Arial" panose="020B0604020202020204" pitchFamily="34" charset="0"/>
                <a:ea typeface="Poppins"/>
                <a:cs typeface="Arial" panose="020B0604020202020204" pitchFamily="34" charset="0"/>
                <a:sym typeface="Poppins"/>
              </a:rPr>
              <a:t>Default</a:t>
            </a:r>
            <a:r>
              <a:rPr lang="vi-VN" sz="2398" dirty="0">
                <a:solidFill>
                  <a:srgbClr val="FFFFFF"/>
                </a:solidFill>
                <a:latin typeface="Arial" panose="020B0604020202020204" pitchFamily="34" charset="0"/>
                <a:ea typeface="Poppins"/>
                <a:cs typeface="Arial" panose="020B0604020202020204" pitchFamily="34" charset="0"/>
                <a:sym typeface="Poppins"/>
              </a:rPr>
              <a:t> </a:t>
            </a:r>
            <a:r>
              <a:rPr lang="vi-VN" sz="2398" dirty="0" err="1">
                <a:solidFill>
                  <a:srgbClr val="FFFFFF"/>
                </a:solidFill>
                <a:latin typeface="Arial" panose="020B0604020202020204" pitchFamily="34" charset="0"/>
                <a:ea typeface="Poppins"/>
                <a:cs typeface="Arial" panose="020B0604020202020204" pitchFamily="34" charset="0"/>
                <a:sym typeface="Poppins"/>
              </a:rPr>
              <a:t>Deny</a:t>
            </a:r>
            <a:r>
              <a:rPr lang="vi-VN" sz="2398" dirty="0">
                <a:solidFill>
                  <a:srgbClr val="FFFFFF"/>
                </a:solidFill>
                <a:latin typeface="Arial" panose="020B0604020202020204" pitchFamily="34" charset="0"/>
                <a:ea typeface="Poppins"/>
                <a:cs typeface="Arial" panose="020B0604020202020204" pitchFamily="34" charset="0"/>
                <a:sym typeface="Poppins"/>
              </a:rPr>
              <a:t>: Từ chối tất cả lưu lượng theo mặc định, chỉ mở các dịch vụ tối cần thiết. </a:t>
            </a:r>
          </a:p>
          <a:p>
            <a:pPr lvl="0"/>
            <a:r>
              <a:rPr lang="en-US" sz="2398" dirty="0">
                <a:solidFill>
                  <a:srgbClr val="FFFFFF"/>
                </a:solidFill>
                <a:latin typeface="Arial" panose="020B0604020202020204" pitchFamily="34" charset="0"/>
                <a:ea typeface="Poppins"/>
                <a:cs typeface="Arial" panose="020B0604020202020204" pitchFamily="34" charset="0"/>
                <a:sym typeface="Poppins"/>
              </a:rPr>
              <a:t>- </a:t>
            </a:r>
            <a:r>
              <a:rPr lang="vi-VN" sz="2398" dirty="0">
                <a:solidFill>
                  <a:srgbClr val="FFFFFF"/>
                </a:solidFill>
                <a:latin typeface="Arial" panose="020B0604020202020204" pitchFamily="34" charset="0"/>
                <a:ea typeface="Poppins"/>
                <a:cs typeface="Arial" panose="020B0604020202020204" pitchFamily="34" charset="0"/>
                <a:sym typeface="Poppins"/>
              </a:rPr>
              <a:t>Thiết lập lọc địa chỉ IP nguồn/đích và số cổng chặt chẽ; chặn kết nối FTP không dùng đến. </a:t>
            </a:r>
          </a:p>
          <a:p>
            <a:pPr marL="342900" lvl="0" indent="-342900">
              <a:buFontTx/>
              <a:buChar char="-"/>
            </a:pPr>
            <a:endParaRPr lang="vi-VN" sz="2398" dirty="0">
              <a:solidFill>
                <a:srgbClr val="FFFFFF"/>
              </a:solidFill>
              <a:latin typeface="Arial" panose="020B0604020202020204" pitchFamily="34" charset="0"/>
              <a:ea typeface="Poppins"/>
              <a:cs typeface="Arial" panose="020B0604020202020204" pitchFamily="34" charset="0"/>
              <a:sym typeface="Poppins"/>
            </a:endParaRPr>
          </a:p>
        </p:txBody>
      </p:sp>
      <p:sp>
        <p:nvSpPr>
          <p:cNvPr id="11" name="Freeform 11">
            <a:extLst>
              <a:ext uri="{FF2B5EF4-FFF2-40B4-BE49-F238E27FC236}">
                <a16:creationId xmlns:a16="http://schemas.microsoft.com/office/drawing/2014/main" id="{CEF8CDE0-58DF-FFBB-E427-386708C07AAF}"/>
              </a:ext>
            </a:extLst>
          </p:cNvPr>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12" name="TextBox 12">
            <a:extLst>
              <a:ext uri="{FF2B5EF4-FFF2-40B4-BE49-F238E27FC236}">
                <a16:creationId xmlns:a16="http://schemas.microsoft.com/office/drawing/2014/main" id="{A99C0D44-FFCE-9368-0FB7-11FD24DB8658}"/>
              </a:ext>
            </a:extLst>
          </p:cNvPr>
          <p:cNvSpPr txBox="1"/>
          <p:nvPr/>
        </p:nvSpPr>
        <p:spPr>
          <a:xfrm>
            <a:off x="1574843" y="1023452"/>
            <a:ext cx="2922953" cy="341055"/>
          </a:xfrm>
          <a:prstGeom prst="rect">
            <a:avLst/>
          </a:prstGeom>
        </p:spPr>
        <p:txBody>
          <a:bodyPr lIns="0" tIns="0" rIns="0" bIns="0" rtlCol="0" anchor="t">
            <a:spAutoFit/>
          </a:bodyPr>
          <a:lstStyle/>
          <a:p>
            <a:pPr marL="0" lvl="0" indent="0" algn="l">
              <a:lnSpc>
                <a:spcPts val="2798"/>
              </a:lnSpc>
            </a:pPr>
            <a:r>
              <a:rPr lang="en-US" sz="1998">
                <a:solidFill>
                  <a:srgbClr val="FFFFFF"/>
                </a:solidFill>
                <a:latin typeface="Poppins"/>
                <a:ea typeface="Poppins"/>
                <a:cs typeface="Poppins"/>
                <a:sym typeface="Poppins"/>
              </a:rPr>
              <a:t>Nhóm 9 - ATTT K22A</a:t>
            </a:r>
          </a:p>
        </p:txBody>
      </p:sp>
      <p:sp>
        <p:nvSpPr>
          <p:cNvPr id="13" name="TextBox 13">
            <a:extLst>
              <a:ext uri="{FF2B5EF4-FFF2-40B4-BE49-F238E27FC236}">
                <a16:creationId xmlns:a16="http://schemas.microsoft.com/office/drawing/2014/main" id="{8C21801B-4C80-A0AB-AC23-216949F4E7F4}"/>
              </a:ext>
            </a:extLst>
          </p:cNvPr>
          <p:cNvSpPr txBox="1"/>
          <p:nvPr/>
        </p:nvSpPr>
        <p:spPr>
          <a:xfrm>
            <a:off x="1028700" y="2427514"/>
            <a:ext cx="11849100" cy="1010148"/>
          </a:xfrm>
          <a:prstGeom prst="rect">
            <a:avLst/>
          </a:prstGeom>
        </p:spPr>
        <p:txBody>
          <a:bodyPr wrap="square" lIns="0" tIns="0" rIns="0" bIns="0" rtlCol="0" anchor="t">
            <a:spAutoFit/>
          </a:bodyPr>
          <a:lstStyle/>
          <a:p>
            <a:pPr marL="0" lvl="0" indent="0" algn="l">
              <a:lnSpc>
                <a:spcPts val="8474"/>
              </a:lnSpc>
            </a:pPr>
            <a:r>
              <a:rPr lang="vi-VN" sz="6600" spc="-345">
                <a:solidFill>
                  <a:srgbClr val="FFFFFF"/>
                </a:solidFill>
                <a:latin typeface="Arial" panose="020B0604020202020204" pitchFamily="34" charset="0"/>
                <a:ea typeface="Times New Roman"/>
                <a:cs typeface="Arial" panose="020B0604020202020204" pitchFamily="34" charset="0"/>
                <a:sym typeface="Times New Roman"/>
              </a:rPr>
              <a:t>Phòng chống Vượt qua Tường lửa</a:t>
            </a:r>
            <a:endParaRPr lang="en-US" sz="6600" spc="-345">
              <a:solidFill>
                <a:srgbClr val="FFFFFF"/>
              </a:solidFill>
              <a:latin typeface="Arial" panose="020B0604020202020204" pitchFamily="34" charset="0"/>
              <a:ea typeface="Times New Roman"/>
              <a:cs typeface="Arial" panose="020B0604020202020204" pitchFamily="34" charset="0"/>
              <a:sym typeface="Times New Roman"/>
            </a:endParaRPr>
          </a:p>
        </p:txBody>
      </p:sp>
      <p:sp>
        <p:nvSpPr>
          <p:cNvPr id="8" name="TextBox 10">
            <a:extLst>
              <a:ext uri="{FF2B5EF4-FFF2-40B4-BE49-F238E27FC236}">
                <a16:creationId xmlns:a16="http://schemas.microsoft.com/office/drawing/2014/main" id="{7537C9B0-4F50-49F5-E8B6-8F935525F75D}"/>
              </a:ext>
            </a:extLst>
          </p:cNvPr>
          <p:cNvSpPr txBox="1"/>
          <p:nvPr/>
        </p:nvSpPr>
        <p:spPr>
          <a:xfrm>
            <a:off x="9372600" y="7167182"/>
            <a:ext cx="7358743" cy="2562946"/>
          </a:xfrm>
          <a:prstGeom prst="rect">
            <a:avLst/>
          </a:prstGeom>
        </p:spPr>
        <p:txBody>
          <a:bodyPr lIns="0" tIns="0" rIns="0" bIns="0" rtlCol="0" anchor="t">
            <a:spAutoFit/>
          </a:bodyPr>
          <a:lstStyle/>
          <a:p>
            <a:pPr lvl="0"/>
            <a:r>
              <a:rPr lang="en-US" sz="2398">
                <a:solidFill>
                  <a:srgbClr val="FFFFFF"/>
                </a:solidFill>
                <a:latin typeface="Arial" panose="020B0604020202020204" pitchFamily="34" charset="0"/>
                <a:ea typeface="Poppins"/>
                <a:cs typeface="Arial" panose="020B0604020202020204" pitchFamily="34" charset="0"/>
                <a:sym typeface="Poppins"/>
              </a:rPr>
              <a:t>- </a:t>
            </a:r>
            <a:r>
              <a:rPr lang="vi-VN" sz="2398">
                <a:solidFill>
                  <a:srgbClr val="FFFFFF"/>
                </a:solidFill>
                <a:latin typeface="Arial" panose="020B0604020202020204" pitchFamily="34" charset="0"/>
                <a:ea typeface="Poppins"/>
                <a:cs typeface="Arial" panose="020B0604020202020204" pitchFamily="34" charset="0"/>
                <a:sym typeface="Poppins"/>
              </a:rPr>
              <a:t>Bật tính năng kiểm tra lưu lượng mã hóa HTTPS/TLS và App-ID để chặn ứng dụng ẩn danh. </a:t>
            </a:r>
          </a:p>
          <a:p>
            <a:pPr lvl="0"/>
            <a:r>
              <a:rPr lang="en-US" sz="2398">
                <a:solidFill>
                  <a:srgbClr val="FFFFFF"/>
                </a:solidFill>
                <a:latin typeface="Arial" panose="020B0604020202020204" pitchFamily="34" charset="0"/>
                <a:ea typeface="Poppins"/>
                <a:cs typeface="Arial" panose="020B0604020202020204" pitchFamily="34" charset="0"/>
                <a:sym typeface="Poppins"/>
              </a:rPr>
              <a:t>- </a:t>
            </a:r>
            <a:r>
              <a:rPr lang="vi-VN" sz="2398">
                <a:solidFill>
                  <a:srgbClr val="FFFFFF"/>
                </a:solidFill>
                <a:latin typeface="Arial" panose="020B0604020202020204" pitchFamily="34" charset="0"/>
                <a:ea typeface="Poppins"/>
                <a:cs typeface="Arial" panose="020B0604020202020204" pitchFamily="34" charset="0"/>
                <a:sym typeface="Poppins"/>
              </a:rPr>
              <a:t>Đẩy Log ra máy chủ Syslog từ xa và kiểm tra log định kỳ. </a:t>
            </a:r>
          </a:p>
          <a:p>
            <a:pPr lvl="0"/>
            <a:r>
              <a:rPr lang="en-US" sz="2398">
                <a:solidFill>
                  <a:srgbClr val="FFFFFF"/>
                </a:solidFill>
                <a:latin typeface="Arial" panose="020B0604020202020204" pitchFamily="34" charset="0"/>
                <a:ea typeface="Poppins"/>
                <a:cs typeface="Arial" panose="020B0604020202020204" pitchFamily="34" charset="0"/>
                <a:sym typeface="Poppins"/>
              </a:rPr>
              <a:t>- </a:t>
            </a:r>
            <a:r>
              <a:rPr lang="vi-VN" sz="2398">
                <a:solidFill>
                  <a:srgbClr val="FFFFFF"/>
                </a:solidFill>
                <a:latin typeface="Arial" panose="020B0604020202020204" pitchFamily="34" charset="0"/>
                <a:ea typeface="Poppins"/>
                <a:cs typeface="Arial" panose="020B0604020202020204" pitchFamily="34" charset="0"/>
                <a:sym typeface="Poppins"/>
              </a:rPr>
              <a:t>Sao lưu cấu hình, kiểm soát truy cập vật lý và thường xuyên quét đánh giá lỗ hổng quy tắc Firewall. </a:t>
            </a:r>
          </a:p>
          <a:p>
            <a:pPr marL="0" lvl="0" indent="0" algn="l">
              <a:lnSpc>
                <a:spcPts val="2901"/>
              </a:lnSpc>
            </a:pPr>
            <a:endParaRPr lang="vi-VN" sz="2398">
              <a:solidFill>
                <a:srgbClr val="FFFFFF"/>
              </a:solidFill>
              <a:latin typeface="Arial" panose="020B0604020202020204" pitchFamily="34" charset="0"/>
              <a:ea typeface="Poppins"/>
              <a:cs typeface="Arial" panose="020B0604020202020204" pitchFamily="34" charset="0"/>
              <a:sym typeface="Poppins"/>
            </a:endParaRPr>
          </a:p>
        </p:txBody>
      </p:sp>
      <p:sp>
        <p:nvSpPr>
          <p:cNvPr id="14" name="TextBox 13">
            <a:extLst>
              <a:ext uri="{FF2B5EF4-FFF2-40B4-BE49-F238E27FC236}">
                <a16:creationId xmlns:a16="http://schemas.microsoft.com/office/drawing/2014/main" id="{93A550EF-38A3-A683-73CF-6FB250C8DB96}"/>
              </a:ext>
            </a:extLst>
          </p:cNvPr>
          <p:cNvSpPr txBox="1"/>
          <p:nvPr/>
        </p:nvSpPr>
        <p:spPr>
          <a:xfrm>
            <a:off x="1028700" y="5159121"/>
            <a:ext cx="8343900" cy="934295"/>
          </a:xfrm>
          <a:prstGeom prst="rect">
            <a:avLst/>
          </a:prstGeom>
        </p:spPr>
        <p:txBody>
          <a:bodyPr wrap="square" lIns="0" tIns="0" rIns="0" bIns="0" rtlCol="0" anchor="t">
            <a:spAutoFit/>
          </a:bodyPr>
          <a:lstStyle/>
          <a:p>
            <a:pPr marL="0" lvl="0" indent="0" algn="l">
              <a:lnSpc>
                <a:spcPts val="8474"/>
              </a:lnSpc>
            </a:pPr>
            <a:r>
              <a:rPr lang="vi-VN" sz="4000" spc="-345">
                <a:solidFill>
                  <a:srgbClr val="FFFFFF"/>
                </a:solidFill>
                <a:latin typeface="Arial" panose="020B0604020202020204" pitchFamily="34" charset="0"/>
                <a:ea typeface="Times New Roman"/>
                <a:cs typeface="Arial" panose="020B0604020202020204" pitchFamily="34" charset="0"/>
                <a:sym typeface="Times New Roman"/>
              </a:rPr>
              <a:t>Nguyên tắc cấu hình Tường lửa:</a:t>
            </a:r>
            <a:endParaRPr lang="en-US" sz="4000" spc="-345">
              <a:solidFill>
                <a:srgbClr val="FFFFFF"/>
              </a:solidFill>
              <a:latin typeface="Arial" panose="020B0604020202020204" pitchFamily="34" charset="0"/>
              <a:ea typeface="Times New Roman"/>
              <a:cs typeface="Arial" panose="020B0604020202020204" pitchFamily="34" charset="0"/>
              <a:sym typeface="Times New Roman"/>
            </a:endParaRPr>
          </a:p>
        </p:txBody>
      </p:sp>
      <p:sp>
        <p:nvSpPr>
          <p:cNvPr id="16" name="TextBox 13">
            <a:extLst>
              <a:ext uri="{FF2B5EF4-FFF2-40B4-BE49-F238E27FC236}">
                <a16:creationId xmlns:a16="http://schemas.microsoft.com/office/drawing/2014/main" id="{430CFD66-3E84-6F19-962B-83A226FCA648}"/>
              </a:ext>
            </a:extLst>
          </p:cNvPr>
          <p:cNvSpPr txBox="1"/>
          <p:nvPr/>
        </p:nvSpPr>
        <p:spPr>
          <a:xfrm>
            <a:off x="9372600" y="5159121"/>
            <a:ext cx="5372100" cy="934295"/>
          </a:xfrm>
          <a:prstGeom prst="rect">
            <a:avLst/>
          </a:prstGeom>
        </p:spPr>
        <p:txBody>
          <a:bodyPr wrap="square" lIns="0" tIns="0" rIns="0" bIns="0" rtlCol="0" anchor="t">
            <a:spAutoFit/>
          </a:bodyPr>
          <a:lstStyle/>
          <a:p>
            <a:pPr marL="0" lvl="0" indent="0" algn="l">
              <a:lnSpc>
                <a:spcPts val="8474"/>
              </a:lnSpc>
            </a:pPr>
            <a:r>
              <a:rPr lang="en-US" sz="4000" spc="-345">
                <a:solidFill>
                  <a:srgbClr val="FFFFFF"/>
                </a:solidFill>
                <a:latin typeface="Arial" panose="020B0604020202020204" pitchFamily="34" charset="0"/>
                <a:ea typeface="Times New Roman"/>
                <a:cs typeface="Arial" panose="020B0604020202020204" pitchFamily="34" charset="0"/>
                <a:sym typeface="Times New Roman"/>
              </a:rPr>
              <a:t>Giám sát &amp; Kiểm tra định kỳ:</a:t>
            </a:r>
          </a:p>
        </p:txBody>
      </p:sp>
    </p:spTree>
    <p:extLst>
      <p:ext uri="{BB962C8B-B14F-4D97-AF65-F5344CB8AC3E}">
        <p14:creationId xmlns:p14="http://schemas.microsoft.com/office/powerpoint/2010/main" val="30317892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9492B-DB23-B509-951B-902D8526308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82BCFB9-8A68-0BF5-5540-7A0A350F7E3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TextBox 3">
            <a:extLst>
              <a:ext uri="{FF2B5EF4-FFF2-40B4-BE49-F238E27FC236}">
                <a16:creationId xmlns:a16="http://schemas.microsoft.com/office/drawing/2014/main" id="{5F42370C-A1A9-B4DB-EC4C-BAB1C0842482}"/>
              </a:ext>
            </a:extLst>
          </p:cNvPr>
          <p:cNvSpPr txBox="1"/>
          <p:nvPr/>
        </p:nvSpPr>
        <p:spPr>
          <a:xfrm>
            <a:off x="1784976" y="5000179"/>
            <a:ext cx="14718047" cy="2205732"/>
          </a:xfrm>
          <a:prstGeom prst="rect">
            <a:avLst/>
          </a:prstGeom>
        </p:spPr>
        <p:txBody>
          <a:bodyPr wrap="square" lIns="0" tIns="0" rIns="0" bIns="0" rtlCol="0" anchor="t">
            <a:spAutoFit/>
          </a:bodyPr>
          <a:lstStyle/>
          <a:p>
            <a:pPr marL="0" lvl="0" indent="0" algn="ctr">
              <a:lnSpc>
                <a:spcPts val="8568"/>
              </a:lnSpc>
            </a:pPr>
            <a:r>
              <a:rPr lang="en-US" sz="8159" spc="-359" dirty="0">
                <a:solidFill>
                  <a:srgbClr val="FFFFFF"/>
                </a:solidFill>
                <a:latin typeface="Arial" panose="020B0604020202020204" pitchFamily="34" charset="0"/>
                <a:ea typeface="Times New Roman"/>
                <a:cs typeface="Arial" panose="020B0604020202020204" pitchFamily="34" charset="0"/>
                <a:sym typeface="Times New Roman"/>
              </a:rPr>
              <a:t>LAB DEMO:</a:t>
            </a:r>
            <a:br>
              <a:rPr lang="en-US" sz="8159" spc="-359" dirty="0">
                <a:solidFill>
                  <a:srgbClr val="FFFFFF"/>
                </a:solidFill>
                <a:latin typeface="Arial" panose="020B0604020202020204" pitchFamily="34" charset="0"/>
                <a:ea typeface="Times New Roman"/>
                <a:cs typeface="Arial" panose="020B0604020202020204" pitchFamily="34" charset="0"/>
                <a:sym typeface="Times New Roman"/>
              </a:rPr>
            </a:br>
            <a:r>
              <a:rPr lang="en-US" sz="8159" spc="-359" dirty="0" err="1">
                <a:solidFill>
                  <a:srgbClr val="FFFFFF"/>
                </a:solidFill>
                <a:latin typeface="Arial" panose="020B0604020202020204" pitchFamily="34" charset="0"/>
                <a:ea typeface="Times New Roman"/>
                <a:cs typeface="Arial" panose="020B0604020202020204" pitchFamily="34" charset="0"/>
                <a:sym typeface="Times New Roman"/>
              </a:rPr>
              <a:t>ModSecurity</a:t>
            </a:r>
            <a:r>
              <a:rPr lang="en-US" sz="8159" spc="-359" dirty="0">
                <a:solidFill>
                  <a:srgbClr val="FFFFFF"/>
                </a:solidFill>
                <a:latin typeface="Arial" panose="020B0604020202020204" pitchFamily="34" charset="0"/>
                <a:ea typeface="Times New Roman"/>
                <a:cs typeface="Arial" panose="020B0604020202020204" pitchFamily="34" charset="0"/>
                <a:sym typeface="Times New Roman"/>
              </a:rPr>
              <a:t> </a:t>
            </a:r>
            <a:r>
              <a:rPr lang="en-US" sz="8159" spc="-359" dirty="0" err="1">
                <a:solidFill>
                  <a:srgbClr val="FFFFFF"/>
                </a:solidFill>
                <a:latin typeface="Arial" panose="020B0604020202020204" pitchFamily="34" charset="0"/>
                <a:ea typeface="Times New Roman"/>
                <a:cs typeface="Arial" panose="020B0604020202020204" pitchFamily="34" charset="0"/>
                <a:sym typeface="Times New Roman"/>
              </a:rPr>
              <a:t>trên</a:t>
            </a:r>
            <a:r>
              <a:rPr lang="en-US" sz="8159" spc="-359" dirty="0">
                <a:solidFill>
                  <a:srgbClr val="FFFFFF"/>
                </a:solidFill>
                <a:latin typeface="Arial" panose="020B0604020202020204" pitchFamily="34" charset="0"/>
                <a:ea typeface="Times New Roman"/>
                <a:cs typeface="Arial" panose="020B0604020202020204" pitchFamily="34" charset="0"/>
                <a:sym typeface="Times New Roman"/>
              </a:rPr>
              <a:t> Ubuntu 24.04</a:t>
            </a:r>
          </a:p>
        </p:txBody>
      </p:sp>
      <p:sp>
        <p:nvSpPr>
          <p:cNvPr id="5" name="Freeform 5">
            <a:extLst>
              <a:ext uri="{FF2B5EF4-FFF2-40B4-BE49-F238E27FC236}">
                <a16:creationId xmlns:a16="http://schemas.microsoft.com/office/drawing/2014/main" id="{1349094A-201B-D4F7-B2BD-5A2E9B74A16A}"/>
              </a:ext>
            </a:extLst>
          </p:cNvPr>
          <p:cNvSpPr/>
          <p:nvPr/>
        </p:nvSpPr>
        <p:spPr>
          <a:xfrm>
            <a:off x="-1340885" y="5505450"/>
            <a:ext cx="5838682" cy="5855316"/>
          </a:xfrm>
          <a:custGeom>
            <a:avLst/>
            <a:gdLst/>
            <a:ahLst/>
            <a:cxnLst/>
            <a:rect l="l" t="t" r="r" b="b"/>
            <a:pathLst>
              <a:path w="5838682" h="5855316">
                <a:moveTo>
                  <a:pt x="0" y="0"/>
                </a:moveTo>
                <a:lnTo>
                  <a:pt x="5838681" y="0"/>
                </a:lnTo>
                <a:lnTo>
                  <a:pt x="5838681" y="5855316"/>
                </a:lnTo>
                <a:lnTo>
                  <a:pt x="0" y="5855316"/>
                </a:lnTo>
                <a:lnTo>
                  <a:pt x="0"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5D38623D-CA3F-3497-6EFA-45223381C201}"/>
              </a:ext>
            </a:extLst>
          </p:cNvPr>
          <p:cNvSpPr/>
          <p:nvPr/>
        </p:nvSpPr>
        <p:spPr>
          <a:xfrm flipH="1">
            <a:off x="13558746" y="5505450"/>
            <a:ext cx="5838682" cy="5855316"/>
          </a:xfrm>
          <a:custGeom>
            <a:avLst/>
            <a:gdLst/>
            <a:ahLst/>
            <a:cxnLst/>
            <a:rect l="l" t="t" r="r" b="b"/>
            <a:pathLst>
              <a:path w="5838682" h="5855316">
                <a:moveTo>
                  <a:pt x="5838681" y="0"/>
                </a:moveTo>
                <a:lnTo>
                  <a:pt x="0" y="0"/>
                </a:lnTo>
                <a:lnTo>
                  <a:pt x="0" y="5855316"/>
                </a:lnTo>
                <a:lnTo>
                  <a:pt x="5838681" y="5855316"/>
                </a:lnTo>
                <a:lnTo>
                  <a:pt x="5838681"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7" name="AutoShape 7">
            <a:extLst>
              <a:ext uri="{FF2B5EF4-FFF2-40B4-BE49-F238E27FC236}">
                <a16:creationId xmlns:a16="http://schemas.microsoft.com/office/drawing/2014/main" id="{804A8011-AC99-6ECE-79BB-73D227E70864}"/>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8" name="Freeform 8">
            <a:extLst>
              <a:ext uri="{FF2B5EF4-FFF2-40B4-BE49-F238E27FC236}">
                <a16:creationId xmlns:a16="http://schemas.microsoft.com/office/drawing/2014/main" id="{A0D3E70C-315D-AD33-B7F2-4CF06CC0AE00}"/>
              </a:ext>
            </a:extLst>
          </p:cNvPr>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A4DE7976-20B0-518D-0C3E-EEF4BC4BA65A}"/>
              </a:ext>
            </a:extLst>
          </p:cNvPr>
          <p:cNvSpPr txBox="1"/>
          <p:nvPr/>
        </p:nvSpPr>
        <p:spPr>
          <a:xfrm>
            <a:off x="1574843" y="1023452"/>
            <a:ext cx="2922953" cy="327654"/>
          </a:xfrm>
          <a:prstGeom prst="rect">
            <a:avLst/>
          </a:prstGeom>
        </p:spPr>
        <p:txBody>
          <a:bodyPr lIns="0" tIns="0" rIns="0" bIns="0" rtlCol="0" anchor="t">
            <a:spAutoFit/>
          </a:bodyPr>
          <a:lstStyle/>
          <a:p>
            <a:pPr marL="0" lvl="0" indent="0" algn="l">
              <a:lnSpc>
                <a:spcPts val="2798"/>
              </a:lnSpc>
            </a:pPr>
            <a:r>
              <a:rPr lang="en-US" sz="1998" err="1">
                <a:solidFill>
                  <a:srgbClr val="FFFFFF"/>
                </a:solidFill>
                <a:latin typeface="Arial" panose="020B0604020202020204" pitchFamily="34" charset="0"/>
                <a:ea typeface="Poppins"/>
                <a:cs typeface="Arial" panose="020B0604020202020204" pitchFamily="34" charset="0"/>
                <a:sym typeface="Poppins"/>
              </a:rPr>
              <a:t>Nhóm</a:t>
            </a:r>
            <a:r>
              <a:rPr lang="en-US" sz="1998">
                <a:solidFill>
                  <a:srgbClr val="FFFFFF"/>
                </a:solidFill>
                <a:latin typeface="Arial" panose="020B0604020202020204" pitchFamily="34" charset="0"/>
                <a:ea typeface="Poppins"/>
                <a:cs typeface="Arial" panose="020B0604020202020204" pitchFamily="34" charset="0"/>
                <a:sym typeface="Poppins"/>
              </a:rPr>
              <a:t> 9 - ATTT K22A</a:t>
            </a:r>
          </a:p>
        </p:txBody>
      </p:sp>
    </p:spTree>
    <p:extLst>
      <p:ext uri="{BB962C8B-B14F-4D97-AF65-F5344CB8AC3E}">
        <p14:creationId xmlns:p14="http://schemas.microsoft.com/office/powerpoint/2010/main" val="5718150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4CD55-A2BD-215A-FB60-5E6A538592E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CB08DD3-F2E9-C01D-7A50-AAAB4F95721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5" name="Freeform 5">
            <a:extLst>
              <a:ext uri="{FF2B5EF4-FFF2-40B4-BE49-F238E27FC236}">
                <a16:creationId xmlns:a16="http://schemas.microsoft.com/office/drawing/2014/main" id="{BC30F54C-F3E8-79FD-9A30-C1B94BD5FF47}"/>
              </a:ext>
            </a:extLst>
          </p:cNvPr>
          <p:cNvSpPr/>
          <p:nvPr/>
        </p:nvSpPr>
        <p:spPr>
          <a:xfrm>
            <a:off x="-1340885" y="5505450"/>
            <a:ext cx="5838682" cy="5855316"/>
          </a:xfrm>
          <a:custGeom>
            <a:avLst/>
            <a:gdLst/>
            <a:ahLst/>
            <a:cxnLst/>
            <a:rect l="l" t="t" r="r" b="b"/>
            <a:pathLst>
              <a:path w="5838682" h="5855316">
                <a:moveTo>
                  <a:pt x="0" y="0"/>
                </a:moveTo>
                <a:lnTo>
                  <a:pt x="5838681" y="0"/>
                </a:lnTo>
                <a:lnTo>
                  <a:pt x="5838681" y="5855316"/>
                </a:lnTo>
                <a:lnTo>
                  <a:pt x="0" y="5855316"/>
                </a:lnTo>
                <a:lnTo>
                  <a:pt x="0"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593F9B82-D834-585F-68CB-D9C609EA4AA1}"/>
              </a:ext>
            </a:extLst>
          </p:cNvPr>
          <p:cNvSpPr/>
          <p:nvPr/>
        </p:nvSpPr>
        <p:spPr>
          <a:xfrm flipH="1">
            <a:off x="13558746" y="5505450"/>
            <a:ext cx="5838682" cy="5855316"/>
          </a:xfrm>
          <a:custGeom>
            <a:avLst/>
            <a:gdLst/>
            <a:ahLst/>
            <a:cxnLst/>
            <a:rect l="l" t="t" r="r" b="b"/>
            <a:pathLst>
              <a:path w="5838682" h="5855316">
                <a:moveTo>
                  <a:pt x="5838681" y="0"/>
                </a:moveTo>
                <a:lnTo>
                  <a:pt x="0" y="0"/>
                </a:lnTo>
                <a:lnTo>
                  <a:pt x="0" y="5855316"/>
                </a:lnTo>
                <a:lnTo>
                  <a:pt x="5838681" y="5855316"/>
                </a:lnTo>
                <a:lnTo>
                  <a:pt x="5838681"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7" name="AutoShape 7">
            <a:extLst>
              <a:ext uri="{FF2B5EF4-FFF2-40B4-BE49-F238E27FC236}">
                <a16:creationId xmlns:a16="http://schemas.microsoft.com/office/drawing/2014/main" id="{DC3E0A0D-33B6-7A71-D3A8-D313DBAE2E53}"/>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8" name="Freeform 8">
            <a:extLst>
              <a:ext uri="{FF2B5EF4-FFF2-40B4-BE49-F238E27FC236}">
                <a16:creationId xmlns:a16="http://schemas.microsoft.com/office/drawing/2014/main" id="{D9A20EE9-BE58-8A51-BE5E-E369F13A10F3}"/>
              </a:ext>
            </a:extLst>
          </p:cNvPr>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208C4952-CAC8-BCEF-4024-DC44285BC087}"/>
              </a:ext>
            </a:extLst>
          </p:cNvPr>
          <p:cNvSpPr txBox="1"/>
          <p:nvPr/>
        </p:nvSpPr>
        <p:spPr>
          <a:xfrm>
            <a:off x="1574843" y="1023452"/>
            <a:ext cx="2922953" cy="327654"/>
          </a:xfrm>
          <a:prstGeom prst="rect">
            <a:avLst/>
          </a:prstGeom>
        </p:spPr>
        <p:txBody>
          <a:bodyPr lIns="0" tIns="0" rIns="0" bIns="0" rtlCol="0" anchor="t">
            <a:spAutoFit/>
          </a:bodyPr>
          <a:lstStyle/>
          <a:p>
            <a:pPr marL="0" lvl="0" indent="0" algn="l">
              <a:lnSpc>
                <a:spcPts val="2798"/>
              </a:lnSpc>
            </a:pPr>
            <a:r>
              <a:rPr lang="en-US" sz="1998" err="1">
                <a:solidFill>
                  <a:srgbClr val="FFFFFF"/>
                </a:solidFill>
                <a:latin typeface="Arial" panose="020B0604020202020204" pitchFamily="34" charset="0"/>
                <a:ea typeface="Poppins"/>
                <a:cs typeface="Arial" panose="020B0604020202020204" pitchFamily="34" charset="0"/>
                <a:sym typeface="Poppins"/>
              </a:rPr>
              <a:t>Nhóm</a:t>
            </a:r>
            <a:r>
              <a:rPr lang="en-US" sz="1998">
                <a:solidFill>
                  <a:srgbClr val="FFFFFF"/>
                </a:solidFill>
                <a:latin typeface="Arial" panose="020B0604020202020204" pitchFamily="34" charset="0"/>
                <a:ea typeface="Poppins"/>
                <a:cs typeface="Arial" panose="020B0604020202020204" pitchFamily="34" charset="0"/>
                <a:sym typeface="Poppins"/>
              </a:rPr>
              <a:t> 9 - ATTT K22A</a:t>
            </a:r>
          </a:p>
        </p:txBody>
      </p:sp>
      <p:sp>
        <p:nvSpPr>
          <p:cNvPr id="4" name="Hộp Văn bản 3">
            <a:extLst>
              <a:ext uri="{FF2B5EF4-FFF2-40B4-BE49-F238E27FC236}">
                <a16:creationId xmlns:a16="http://schemas.microsoft.com/office/drawing/2014/main" id="{CD30C6C9-CFBF-393D-EAC1-3B42A5EF95B9}"/>
              </a:ext>
            </a:extLst>
          </p:cNvPr>
          <p:cNvSpPr txBox="1"/>
          <p:nvPr/>
        </p:nvSpPr>
        <p:spPr>
          <a:xfrm>
            <a:off x="1028700" y="2777291"/>
            <a:ext cx="8801100" cy="6740307"/>
          </a:xfrm>
          <a:prstGeom prst="rect">
            <a:avLst/>
          </a:prstGeom>
          <a:noFill/>
        </p:spPr>
        <p:txBody>
          <a:bodyPr wrap="square" rtlCol="0">
            <a:spAutoFit/>
          </a:bodyPr>
          <a:lstStyle/>
          <a:p>
            <a:r>
              <a:rPr lang="vi-VN" sz="2400" dirty="0">
                <a:solidFill>
                  <a:schemeClr val="bg1"/>
                </a:solidFill>
              </a:rPr>
              <a:t>Q: </a:t>
            </a:r>
            <a:r>
              <a:rPr lang="vi-VN" sz="2400" dirty="0" err="1">
                <a:solidFill>
                  <a:schemeClr val="bg1"/>
                </a:solidFill>
              </a:rPr>
              <a:t>ModSecurity</a:t>
            </a:r>
            <a:r>
              <a:rPr lang="vi-VN" sz="2400" dirty="0">
                <a:solidFill>
                  <a:schemeClr val="bg1"/>
                </a:solidFill>
              </a:rPr>
              <a:t> là gì ?</a:t>
            </a:r>
          </a:p>
          <a:p>
            <a:r>
              <a:rPr lang="vi-VN" sz="2400" dirty="0">
                <a:solidFill>
                  <a:schemeClr val="bg1"/>
                </a:solidFill>
              </a:rPr>
              <a:t>A: Một tường lửa ứng dụng </a:t>
            </a:r>
            <a:r>
              <a:rPr lang="vi-VN" sz="2400" dirty="0" err="1">
                <a:solidFill>
                  <a:schemeClr val="bg1"/>
                </a:solidFill>
              </a:rPr>
              <a:t>web</a:t>
            </a:r>
            <a:r>
              <a:rPr lang="vi-VN" sz="2400" dirty="0">
                <a:solidFill>
                  <a:schemeClr val="bg1"/>
                </a:solidFill>
              </a:rPr>
              <a:t> (WAF) mã nguồn mở, được thiết kế để cung cấp các chức năng bảo mật và bảo vệ cho các ứng dụng </a:t>
            </a:r>
            <a:r>
              <a:rPr lang="vi-VN" sz="2400" dirty="0" err="1">
                <a:solidFill>
                  <a:schemeClr val="bg1"/>
                </a:solidFill>
              </a:rPr>
              <a:t>web</a:t>
            </a:r>
            <a:endParaRPr lang="vi-VN" sz="2400" dirty="0">
              <a:solidFill>
                <a:schemeClr val="bg1"/>
              </a:solidFill>
            </a:endParaRPr>
          </a:p>
          <a:p>
            <a:endParaRPr lang="vi-VN" sz="2400" dirty="0">
              <a:solidFill>
                <a:schemeClr val="bg1"/>
              </a:solidFill>
            </a:endParaRPr>
          </a:p>
          <a:p>
            <a:r>
              <a:rPr lang="vi-VN" sz="2400" dirty="0">
                <a:solidFill>
                  <a:schemeClr val="bg1"/>
                </a:solidFill>
              </a:rPr>
              <a:t>Q: </a:t>
            </a:r>
            <a:r>
              <a:rPr lang="vi-VN" sz="2400" dirty="0" err="1">
                <a:solidFill>
                  <a:schemeClr val="bg1"/>
                </a:solidFill>
              </a:rPr>
              <a:t>ModSecurity</a:t>
            </a:r>
            <a:r>
              <a:rPr lang="vi-VN" sz="2400" dirty="0">
                <a:solidFill>
                  <a:schemeClr val="bg1"/>
                </a:solidFill>
              </a:rPr>
              <a:t> hoạt động như thế nào ?</a:t>
            </a:r>
          </a:p>
          <a:p>
            <a:r>
              <a:rPr lang="vi-VN" sz="2400" dirty="0">
                <a:solidFill>
                  <a:schemeClr val="bg1"/>
                </a:solidFill>
              </a:rPr>
              <a:t>A: Hoạt động bằng cách kiểm tra các yêu cầu HTTP gửi đến và phản hồi giữa trình duyệt và máy chủ để phát hiện và ngăn chặn các cuộc tấn công nhằm vào các lỗ hổng bảo mật trong ứng dụng </a:t>
            </a:r>
            <a:r>
              <a:rPr lang="vi-VN" sz="2400" dirty="0" err="1">
                <a:solidFill>
                  <a:schemeClr val="bg1"/>
                </a:solidFill>
              </a:rPr>
              <a:t>web</a:t>
            </a:r>
            <a:r>
              <a:rPr lang="vi-VN" sz="2400" dirty="0">
                <a:solidFill>
                  <a:schemeClr val="bg1"/>
                </a:solidFill>
              </a:rPr>
              <a:t>. </a:t>
            </a:r>
          </a:p>
          <a:p>
            <a:endParaRPr lang="vi-VN" sz="2400" dirty="0">
              <a:solidFill>
                <a:schemeClr val="bg1"/>
              </a:solidFill>
            </a:endParaRPr>
          </a:p>
          <a:p>
            <a:r>
              <a:rPr lang="vi-VN" sz="2400" dirty="0">
                <a:solidFill>
                  <a:schemeClr val="bg1"/>
                </a:solidFill>
              </a:rPr>
              <a:t>Q: </a:t>
            </a:r>
            <a:r>
              <a:rPr lang="vi-VN" sz="2400" dirty="0" err="1">
                <a:solidFill>
                  <a:schemeClr val="bg1"/>
                </a:solidFill>
              </a:rPr>
              <a:t>ModSecurity</a:t>
            </a:r>
            <a:r>
              <a:rPr lang="vi-VN" sz="2400" dirty="0">
                <a:solidFill>
                  <a:schemeClr val="bg1"/>
                </a:solidFill>
              </a:rPr>
              <a:t> có hoạt động thời gian thực không ?</a:t>
            </a:r>
          </a:p>
          <a:p>
            <a:r>
              <a:rPr lang="vi-VN" sz="2400" dirty="0">
                <a:solidFill>
                  <a:schemeClr val="bg1"/>
                </a:solidFill>
              </a:rPr>
              <a:t>A: </a:t>
            </a:r>
            <a:r>
              <a:rPr lang="vi-VN" sz="2400" dirty="0" err="1">
                <a:solidFill>
                  <a:schemeClr val="bg1"/>
                </a:solidFill>
              </a:rPr>
              <a:t>ModSecurity</a:t>
            </a:r>
            <a:r>
              <a:rPr lang="vi-VN" sz="2400" dirty="0">
                <a:solidFill>
                  <a:schemeClr val="bg1"/>
                </a:solidFill>
              </a:rPr>
              <a:t> hỗ trợ hoạt động trên thời gian thực, bao gồm theo dõi, giám sát, ghi lại nhật kí, chặn,…</a:t>
            </a:r>
          </a:p>
          <a:p>
            <a:endParaRPr lang="vi-VN" sz="2400" dirty="0">
              <a:solidFill>
                <a:schemeClr val="bg1"/>
              </a:solidFill>
            </a:endParaRPr>
          </a:p>
          <a:p>
            <a:r>
              <a:rPr lang="vi-VN" sz="2400" dirty="0">
                <a:solidFill>
                  <a:schemeClr val="bg1"/>
                </a:solidFill>
              </a:rPr>
              <a:t>Q: </a:t>
            </a:r>
            <a:r>
              <a:rPr lang="vi-VN" sz="2400" dirty="0" err="1">
                <a:solidFill>
                  <a:schemeClr val="bg1"/>
                </a:solidFill>
              </a:rPr>
              <a:t>ModSecurity</a:t>
            </a:r>
            <a:r>
              <a:rPr lang="vi-VN" sz="2400" dirty="0">
                <a:solidFill>
                  <a:schemeClr val="bg1"/>
                </a:solidFill>
              </a:rPr>
              <a:t> hỗ trợ trên các hệ điều hành nào ?</a:t>
            </a:r>
          </a:p>
          <a:p>
            <a:r>
              <a:rPr lang="vi-VN" sz="2400" dirty="0">
                <a:solidFill>
                  <a:schemeClr val="bg1"/>
                </a:solidFill>
              </a:rPr>
              <a:t>A: </a:t>
            </a:r>
            <a:r>
              <a:rPr lang="vi-VN" sz="2400" dirty="0" err="1">
                <a:solidFill>
                  <a:schemeClr val="bg1"/>
                </a:solidFill>
              </a:rPr>
              <a:t>ModSecurity</a:t>
            </a:r>
            <a:r>
              <a:rPr lang="vi-VN" sz="2400" dirty="0">
                <a:solidFill>
                  <a:schemeClr val="bg1"/>
                </a:solidFill>
              </a:rPr>
              <a:t> hỗ trợ đa nền tảng, bao gồm triển khai trên </a:t>
            </a:r>
            <a:r>
              <a:rPr lang="vi-VN" sz="2400" dirty="0" err="1">
                <a:solidFill>
                  <a:schemeClr val="bg1"/>
                </a:solidFill>
              </a:rPr>
              <a:t>Linux</a:t>
            </a:r>
            <a:r>
              <a:rPr lang="vi-VN" sz="2400" dirty="0">
                <a:solidFill>
                  <a:schemeClr val="bg1"/>
                </a:solidFill>
              </a:rPr>
              <a:t>, </a:t>
            </a:r>
            <a:r>
              <a:rPr lang="vi-VN" sz="2400" dirty="0" err="1">
                <a:solidFill>
                  <a:schemeClr val="bg1"/>
                </a:solidFill>
              </a:rPr>
              <a:t>MacOS</a:t>
            </a:r>
            <a:r>
              <a:rPr lang="vi-VN" sz="2400" dirty="0">
                <a:solidFill>
                  <a:schemeClr val="bg1"/>
                </a:solidFill>
              </a:rPr>
              <a:t>, </a:t>
            </a:r>
            <a:r>
              <a:rPr lang="vi-VN" sz="2400" dirty="0" err="1">
                <a:solidFill>
                  <a:schemeClr val="bg1"/>
                </a:solidFill>
              </a:rPr>
              <a:t>FreeBSD</a:t>
            </a:r>
            <a:r>
              <a:rPr lang="vi-VN" sz="2400" dirty="0">
                <a:solidFill>
                  <a:schemeClr val="bg1"/>
                </a:solidFill>
              </a:rPr>
              <a:t>,…, nhưng đa số hoạt động trên </a:t>
            </a:r>
            <a:r>
              <a:rPr lang="vi-VN" sz="2400" dirty="0" err="1">
                <a:solidFill>
                  <a:schemeClr val="bg1"/>
                </a:solidFill>
              </a:rPr>
              <a:t>Linux</a:t>
            </a:r>
            <a:endParaRPr lang="vi-VN" sz="2400" dirty="0">
              <a:solidFill>
                <a:schemeClr val="bg1"/>
              </a:solidFill>
            </a:endParaRPr>
          </a:p>
        </p:txBody>
      </p:sp>
      <p:pic>
        <p:nvPicPr>
          <p:cNvPr id="10" name="Đồ họa 9" descr="ModSecurity inspects traffic in both directions. Valid requests from a browser HTTP client reach protected CMS, REST API, SaaS and database services; unsafe requests and responses containing sensitive data are blocked.">
            <a:extLst>
              <a:ext uri="{FF2B5EF4-FFF2-40B4-BE49-F238E27FC236}">
                <a16:creationId xmlns:a16="http://schemas.microsoft.com/office/drawing/2014/main" id="{DE31C901-8D4C-EF10-2780-8C4A3454FD9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527389" y="3470689"/>
            <a:ext cx="5543550" cy="3752850"/>
          </a:xfrm>
          <a:prstGeom prst="rect">
            <a:avLst/>
          </a:prstGeom>
        </p:spPr>
      </p:pic>
      <p:pic>
        <p:nvPicPr>
          <p:cNvPr id="12" name="Hình ảnh 11">
            <a:extLst>
              <a:ext uri="{FF2B5EF4-FFF2-40B4-BE49-F238E27FC236}">
                <a16:creationId xmlns:a16="http://schemas.microsoft.com/office/drawing/2014/main" id="{E1BEB463-79B2-A581-31AE-3245F7F17010}"/>
              </a:ext>
            </a:extLst>
          </p:cNvPr>
          <p:cNvPicPr>
            <a:picLocks noChangeAspect="1"/>
          </p:cNvPicPr>
          <p:nvPr/>
        </p:nvPicPr>
        <p:blipFill>
          <a:blip r:embed="rId6"/>
          <a:stretch>
            <a:fillRect/>
          </a:stretch>
        </p:blipFill>
        <p:spPr>
          <a:xfrm>
            <a:off x="10527389" y="3238500"/>
            <a:ext cx="7286414" cy="4870001"/>
          </a:xfrm>
          <a:prstGeom prst="rect">
            <a:avLst/>
          </a:prstGeom>
        </p:spPr>
      </p:pic>
    </p:spTree>
    <p:extLst>
      <p:ext uri="{BB962C8B-B14F-4D97-AF65-F5344CB8AC3E}">
        <p14:creationId xmlns:p14="http://schemas.microsoft.com/office/powerpoint/2010/main" val="39793898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5F2A7-2ADF-8D7A-E423-45709858064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BD476C1-AAA7-00FA-5BDB-AC8E09DF2DFA}"/>
              </a:ext>
            </a:extLst>
          </p:cNvPr>
          <p:cNvSpPr/>
          <p:nvPr/>
        </p:nvSpPr>
        <p:spPr>
          <a:xfrm>
            <a:off x="-20720" y="-1421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sp>
      <p:sp>
        <p:nvSpPr>
          <p:cNvPr id="5" name="Freeform 5">
            <a:extLst>
              <a:ext uri="{FF2B5EF4-FFF2-40B4-BE49-F238E27FC236}">
                <a16:creationId xmlns:a16="http://schemas.microsoft.com/office/drawing/2014/main" id="{A33B712C-BE87-9D40-30E2-57B4E5DD5C71}"/>
              </a:ext>
            </a:extLst>
          </p:cNvPr>
          <p:cNvSpPr/>
          <p:nvPr/>
        </p:nvSpPr>
        <p:spPr>
          <a:xfrm>
            <a:off x="-1361605" y="5491234"/>
            <a:ext cx="5838682" cy="5855316"/>
          </a:xfrm>
          <a:custGeom>
            <a:avLst/>
            <a:gdLst/>
            <a:ahLst/>
            <a:cxnLst/>
            <a:rect l="l" t="t" r="r" b="b"/>
            <a:pathLst>
              <a:path w="5838682" h="5855316">
                <a:moveTo>
                  <a:pt x="0" y="0"/>
                </a:moveTo>
                <a:lnTo>
                  <a:pt x="5838681" y="0"/>
                </a:lnTo>
                <a:lnTo>
                  <a:pt x="5838681" y="5855316"/>
                </a:lnTo>
                <a:lnTo>
                  <a:pt x="0" y="5855316"/>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6" name="Freeform 6">
            <a:extLst>
              <a:ext uri="{FF2B5EF4-FFF2-40B4-BE49-F238E27FC236}">
                <a16:creationId xmlns:a16="http://schemas.microsoft.com/office/drawing/2014/main" id="{6429D7E1-14DC-1CA0-2888-4BD6318A8499}"/>
              </a:ext>
            </a:extLst>
          </p:cNvPr>
          <p:cNvSpPr/>
          <p:nvPr/>
        </p:nvSpPr>
        <p:spPr>
          <a:xfrm flipH="1">
            <a:off x="13538026" y="5491234"/>
            <a:ext cx="5838682" cy="5855316"/>
          </a:xfrm>
          <a:custGeom>
            <a:avLst/>
            <a:gdLst/>
            <a:ahLst/>
            <a:cxnLst/>
            <a:rect l="l" t="t" r="r" b="b"/>
            <a:pathLst>
              <a:path w="5838682" h="5855316">
                <a:moveTo>
                  <a:pt x="5838681" y="0"/>
                </a:moveTo>
                <a:lnTo>
                  <a:pt x="0" y="0"/>
                </a:lnTo>
                <a:lnTo>
                  <a:pt x="0" y="5855316"/>
                </a:lnTo>
                <a:lnTo>
                  <a:pt x="5838681" y="5855316"/>
                </a:lnTo>
                <a:lnTo>
                  <a:pt x="5838681"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7" name="AutoShape 7">
            <a:extLst>
              <a:ext uri="{FF2B5EF4-FFF2-40B4-BE49-F238E27FC236}">
                <a16:creationId xmlns:a16="http://schemas.microsoft.com/office/drawing/2014/main" id="{4F65758F-4B84-C62A-F1F3-85C2830A54B4}"/>
              </a:ext>
            </a:extLst>
          </p:cNvPr>
          <p:cNvSpPr/>
          <p:nvPr/>
        </p:nvSpPr>
        <p:spPr>
          <a:xfrm>
            <a:off x="1007980" y="1686244"/>
            <a:ext cx="16230600" cy="0"/>
          </a:xfrm>
          <a:prstGeom prst="line">
            <a:avLst/>
          </a:prstGeom>
          <a:ln w="38100" cap="flat">
            <a:solidFill>
              <a:srgbClr val="FFFFFF"/>
            </a:solidFill>
            <a:prstDash val="solid"/>
            <a:headEnd type="none" w="sm" len="sm"/>
            <a:tailEnd type="none" w="sm" len="sm"/>
          </a:ln>
        </p:spPr>
      </p:sp>
      <p:sp>
        <p:nvSpPr>
          <p:cNvPr id="8" name="Freeform 8">
            <a:extLst>
              <a:ext uri="{FF2B5EF4-FFF2-40B4-BE49-F238E27FC236}">
                <a16:creationId xmlns:a16="http://schemas.microsoft.com/office/drawing/2014/main" id="{3090E0B6-A788-0D69-53F4-0FBE4555AD65}"/>
              </a:ext>
            </a:extLst>
          </p:cNvPr>
          <p:cNvSpPr/>
          <p:nvPr/>
        </p:nvSpPr>
        <p:spPr>
          <a:xfrm>
            <a:off x="1007980" y="1014484"/>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TextBox 9">
            <a:extLst>
              <a:ext uri="{FF2B5EF4-FFF2-40B4-BE49-F238E27FC236}">
                <a16:creationId xmlns:a16="http://schemas.microsoft.com/office/drawing/2014/main" id="{8A85297F-6297-6554-0913-0DD7B951B887}"/>
              </a:ext>
            </a:extLst>
          </p:cNvPr>
          <p:cNvSpPr txBox="1"/>
          <p:nvPr/>
        </p:nvSpPr>
        <p:spPr>
          <a:xfrm>
            <a:off x="1554123" y="1009236"/>
            <a:ext cx="2922953" cy="327654"/>
          </a:xfrm>
          <a:prstGeom prst="rect">
            <a:avLst/>
          </a:prstGeom>
        </p:spPr>
        <p:txBody>
          <a:bodyPr lIns="0" tIns="0" rIns="0" bIns="0" rtlCol="0" anchor="t">
            <a:spAutoFit/>
          </a:bodyPr>
          <a:lstStyle/>
          <a:p>
            <a:pPr marL="0" lvl="0" indent="0" algn="l">
              <a:lnSpc>
                <a:spcPts val="2798"/>
              </a:lnSpc>
            </a:pPr>
            <a:r>
              <a:rPr lang="en-US" sz="1998" err="1">
                <a:solidFill>
                  <a:srgbClr val="FFFFFF"/>
                </a:solidFill>
                <a:latin typeface="Arial" panose="020B0604020202020204" pitchFamily="34" charset="0"/>
                <a:ea typeface="Poppins"/>
                <a:cs typeface="Arial" panose="020B0604020202020204" pitchFamily="34" charset="0"/>
                <a:sym typeface="Poppins"/>
              </a:rPr>
              <a:t>Nhóm</a:t>
            </a:r>
            <a:r>
              <a:rPr lang="en-US" sz="1998">
                <a:solidFill>
                  <a:srgbClr val="FFFFFF"/>
                </a:solidFill>
                <a:latin typeface="Arial" panose="020B0604020202020204" pitchFamily="34" charset="0"/>
                <a:ea typeface="Poppins"/>
                <a:cs typeface="Arial" panose="020B0604020202020204" pitchFamily="34" charset="0"/>
                <a:sym typeface="Poppins"/>
              </a:rPr>
              <a:t> 9 - ATTT K22A</a:t>
            </a:r>
          </a:p>
        </p:txBody>
      </p:sp>
      <p:sp>
        <p:nvSpPr>
          <p:cNvPr id="4" name="Hộp Văn bản 3">
            <a:extLst>
              <a:ext uri="{FF2B5EF4-FFF2-40B4-BE49-F238E27FC236}">
                <a16:creationId xmlns:a16="http://schemas.microsoft.com/office/drawing/2014/main" id="{8D76EC9B-36BC-93F9-0A49-FEC4082BABAB}"/>
              </a:ext>
            </a:extLst>
          </p:cNvPr>
          <p:cNvSpPr txBox="1"/>
          <p:nvPr/>
        </p:nvSpPr>
        <p:spPr>
          <a:xfrm>
            <a:off x="1007980" y="2125063"/>
            <a:ext cx="9490290" cy="707886"/>
          </a:xfrm>
          <a:prstGeom prst="rect">
            <a:avLst/>
          </a:prstGeom>
          <a:noFill/>
        </p:spPr>
        <p:txBody>
          <a:bodyPr wrap="none" rtlCol="0">
            <a:spAutoFit/>
          </a:bodyPr>
          <a:lstStyle/>
          <a:p>
            <a:r>
              <a:rPr lang="vi-VN" sz="4000" dirty="0">
                <a:solidFill>
                  <a:schemeClr val="bg1"/>
                </a:solidFill>
              </a:rPr>
              <a:t>3 chế độ cấu hình của WAF </a:t>
            </a:r>
            <a:r>
              <a:rPr lang="vi-VN" sz="4000" dirty="0" err="1">
                <a:solidFill>
                  <a:schemeClr val="bg1"/>
                </a:solidFill>
              </a:rPr>
              <a:t>ModSecurity</a:t>
            </a:r>
            <a:endParaRPr lang="vi-VN" sz="4000" dirty="0">
              <a:solidFill>
                <a:schemeClr val="bg1"/>
              </a:solidFill>
            </a:endParaRPr>
          </a:p>
        </p:txBody>
      </p:sp>
      <p:graphicFrame>
        <p:nvGraphicFramePr>
          <p:cNvPr id="11" name="Bảng 10">
            <a:extLst>
              <a:ext uri="{FF2B5EF4-FFF2-40B4-BE49-F238E27FC236}">
                <a16:creationId xmlns:a16="http://schemas.microsoft.com/office/drawing/2014/main" id="{C09C8A12-EBFC-ABA8-E40C-B946FCDE20E1}"/>
              </a:ext>
            </a:extLst>
          </p:cNvPr>
          <p:cNvGraphicFramePr>
            <a:graphicFrameLocks noGrp="1"/>
          </p:cNvGraphicFramePr>
          <p:nvPr>
            <p:extLst>
              <p:ext uri="{D42A27DB-BD31-4B8C-83A1-F6EECF244321}">
                <p14:modId xmlns:p14="http://schemas.microsoft.com/office/powerpoint/2010/main" val="1243459538"/>
              </p:ext>
            </p:extLst>
          </p:nvPr>
        </p:nvGraphicFramePr>
        <p:xfrm>
          <a:off x="1029005" y="3420498"/>
          <a:ext cx="16229990" cy="2769872"/>
        </p:xfrm>
        <a:graphic>
          <a:graphicData uri="http://schemas.openxmlformats.org/drawingml/2006/table">
            <a:tbl>
              <a:tblPr firstRow="1" bandRow="1">
                <a:tableStyleId>{93296810-A885-4BE3-A3E7-6D5BEEA58F35}</a:tableStyleId>
              </a:tblPr>
              <a:tblGrid>
                <a:gridCol w="3375849">
                  <a:extLst>
                    <a:ext uri="{9D8B030D-6E8A-4147-A177-3AD203B41FA5}">
                      <a16:colId xmlns:a16="http://schemas.microsoft.com/office/drawing/2014/main" val="3902582769"/>
                    </a:ext>
                  </a:extLst>
                </a:gridCol>
                <a:gridCol w="12854141">
                  <a:extLst>
                    <a:ext uri="{9D8B030D-6E8A-4147-A177-3AD203B41FA5}">
                      <a16:colId xmlns:a16="http://schemas.microsoft.com/office/drawing/2014/main" val="3448695739"/>
                    </a:ext>
                  </a:extLst>
                </a:gridCol>
              </a:tblGrid>
              <a:tr h="370840">
                <a:tc>
                  <a:txBody>
                    <a:bodyPr/>
                    <a:lstStyle/>
                    <a:p>
                      <a:pPr algn="ctr">
                        <a:lnSpc>
                          <a:spcPct val="150000"/>
                        </a:lnSpc>
                      </a:pPr>
                      <a:r>
                        <a:rPr lang="vi-VN" sz="3000" dirty="0"/>
                        <a:t>Chế độ</a:t>
                      </a:r>
                    </a:p>
                  </a:txBody>
                  <a:tcPr/>
                </a:tc>
                <a:tc>
                  <a:txBody>
                    <a:bodyPr/>
                    <a:lstStyle/>
                    <a:p>
                      <a:pPr algn="ctr">
                        <a:lnSpc>
                          <a:spcPct val="150000"/>
                        </a:lnSpc>
                      </a:pPr>
                      <a:r>
                        <a:rPr lang="vi-VN" sz="3000" dirty="0"/>
                        <a:t>Xử lí</a:t>
                      </a:r>
                    </a:p>
                  </a:txBody>
                  <a:tcPr/>
                </a:tc>
                <a:extLst>
                  <a:ext uri="{0D108BD9-81ED-4DB2-BD59-A6C34878D82A}">
                    <a16:rowId xmlns:a16="http://schemas.microsoft.com/office/drawing/2014/main" val="1650910976"/>
                  </a:ext>
                </a:extLst>
              </a:tr>
              <a:tr h="370840">
                <a:tc>
                  <a:txBody>
                    <a:bodyPr/>
                    <a:lstStyle/>
                    <a:p>
                      <a:pPr lvl="0" algn="l">
                        <a:lnSpc>
                          <a:spcPct val="150000"/>
                        </a:lnSpc>
                        <a:buNone/>
                      </a:pPr>
                      <a:r>
                        <a:rPr lang="vi-VN" sz="3000" dirty="0" err="1"/>
                        <a:t>Detection</a:t>
                      </a:r>
                      <a:r>
                        <a:rPr lang="vi-VN" sz="3000" dirty="0"/>
                        <a:t> </a:t>
                      </a:r>
                      <a:r>
                        <a:rPr lang="vi-VN" sz="3000" dirty="0" err="1"/>
                        <a:t>Only</a:t>
                      </a:r>
                      <a:endParaRPr lang="vi-VN" sz="3000" dirty="0"/>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vi-VN" sz="3000" dirty="0"/>
                        <a:t>Phát hiện và ghi nhật ký nhưng không chặn </a:t>
                      </a:r>
                      <a:r>
                        <a:rPr lang="vi-VN" sz="3000" dirty="0" err="1"/>
                        <a:t>request</a:t>
                      </a:r>
                      <a:endParaRPr lang="vi-VN" sz="3000" dirty="0"/>
                    </a:p>
                  </a:txBody>
                  <a:tcPr/>
                </a:tc>
                <a:extLst>
                  <a:ext uri="{0D108BD9-81ED-4DB2-BD59-A6C34878D82A}">
                    <a16:rowId xmlns:a16="http://schemas.microsoft.com/office/drawing/2014/main" val="2509781582"/>
                  </a:ext>
                </a:extLst>
              </a:tr>
              <a:tr h="370840">
                <a:tc>
                  <a:txBody>
                    <a:bodyPr/>
                    <a:lstStyle/>
                    <a:p>
                      <a:pPr lvl="0" algn="l">
                        <a:lnSpc>
                          <a:spcPct val="150000"/>
                        </a:lnSpc>
                        <a:buNone/>
                      </a:pPr>
                      <a:r>
                        <a:rPr lang="vi-VN" sz="3000" dirty="0" err="1"/>
                        <a:t>On</a:t>
                      </a:r>
                      <a:endParaRPr lang="vi-VN" sz="3000" dirty="0"/>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vi-VN" sz="3000" dirty="0"/>
                        <a:t>Chặn nếu như khớp với quy tắc</a:t>
                      </a:r>
                    </a:p>
                  </a:txBody>
                  <a:tcPr/>
                </a:tc>
                <a:extLst>
                  <a:ext uri="{0D108BD9-81ED-4DB2-BD59-A6C34878D82A}">
                    <a16:rowId xmlns:a16="http://schemas.microsoft.com/office/drawing/2014/main" val="4179318665"/>
                  </a:ext>
                </a:extLst>
              </a:tr>
              <a:tr h="370840">
                <a:tc>
                  <a:txBody>
                    <a:bodyPr/>
                    <a:lstStyle/>
                    <a:p>
                      <a:pPr lvl="0" algn="l">
                        <a:lnSpc>
                          <a:spcPct val="150000"/>
                        </a:lnSpc>
                        <a:buNone/>
                      </a:pPr>
                      <a:r>
                        <a:rPr lang="vi-VN" sz="3000" dirty="0" err="1"/>
                        <a:t>Off</a:t>
                      </a:r>
                      <a:endParaRPr lang="vi-VN" sz="3000" dirty="0"/>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vi-VN" sz="3000" dirty="0"/>
                        <a:t>Tắt thực thi quy tắc</a:t>
                      </a:r>
                    </a:p>
                  </a:txBody>
                  <a:tcPr/>
                </a:tc>
                <a:extLst>
                  <a:ext uri="{0D108BD9-81ED-4DB2-BD59-A6C34878D82A}">
                    <a16:rowId xmlns:a16="http://schemas.microsoft.com/office/drawing/2014/main" val="4119192873"/>
                  </a:ext>
                </a:extLst>
              </a:tr>
            </a:tbl>
          </a:graphicData>
        </a:graphic>
      </p:graphicFrame>
    </p:spTree>
    <p:extLst>
      <p:ext uri="{BB962C8B-B14F-4D97-AF65-F5344CB8AC3E}">
        <p14:creationId xmlns:p14="http://schemas.microsoft.com/office/powerpoint/2010/main" val="40234491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BDBA7-FD75-C193-947A-EB78F117D98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A212BC6-1E0B-1AAE-6970-7426CD534A5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5" name="Freeform 5">
            <a:extLst>
              <a:ext uri="{FF2B5EF4-FFF2-40B4-BE49-F238E27FC236}">
                <a16:creationId xmlns:a16="http://schemas.microsoft.com/office/drawing/2014/main" id="{9E91892D-16B2-F633-7A76-991631254D38}"/>
              </a:ext>
            </a:extLst>
          </p:cNvPr>
          <p:cNvSpPr/>
          <p:nvPr/>
        </p:nvSpPr>
        <p:spPr>
          <a:xfrm>
            <a:off x="-1340885" y="5505450"/>
            <a:ext cx="5838682" cy="5855316"/>
          </a:xfrm>
          <a:custGeom>
            <a:avLst/>
            <a:gdLst/>
            <a:ahLst/>
            <a:cxnLst/>
            <a:rect l="l" t="t" r="r" b="b"/>
            <a:pathLst>
              <a:path w="5838682" h="5855316">
                <a:moveTo>
                  <a:pt x="0" y="0"/>
                </a:moveTo>
                <a:lnTo>
                  <a:pt x="5838681" y="0"/>
                </a:lnTo>
                <a:lnTo>
                  <a:pt x="5838681" y="5855316"/>
                </a:lnTo>
                <a:lnTo>
                  <a:pt x="0" y="5855316"/>
                </a:lnTo>
                <a:lnTo>
                  <a:pt x="0"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8737B8DE-F4B8-B4C4-E184-CAF40DE5E0BD}"/>
              </a:ext>
            </a:extLst>
          </p:cNvPr>
          <p:cNvSpPr/>
          <p:nvPr/>
        </p:nvSpPr>
        <p:spPr>
          <a:xfrm flipH="1">
            <a:off x="13558746" y="5505450"/>
            <a:ext cx="5838682" cy="5855316"/>
          </a:xfrm>
          <a:custGeom>
            <a:avLst/>
            <a:gdLst/>
            <a:ahLst/>
            <a:cxnLst/>
            <a:rect l="l" t="t" r="r" b="b"/>
            <a:pathLst>
              <a:path w="5838682" h="5855316">
                <a:moveTo>
                  <a:pt x="5838681" y="0"/>
                </a:moveTo>
                <a:lnTo>
                  <a:pt x="0" y="0"/>
                </a:lnTo>
                <a:lnTo>
                  <a:pt x="0" y="5855316"/>
                </a:lnTo>
                <a:lnTo>
                  <a:pt x="5838681" y="5855316"/>
                </a:lnTo>
                <a:lnTo>
                  <a:pt x="5838681"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7" name="AutoShape 7">
            <a:extLst>
              <a:ext uri="{FF2B5EF4-FFF2-40B4-BE49-F238E27FC236}">
                <a16:creationId xmlns:a16="http://schemas.microsoft.com/office/drawing/2014/main" id="{5A0DCBB6-5F89-B2C0-F08E-08E3983C3537}"/>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8" name="Freeform 8">
            <a:extLst>
              <a:ext uri="{FF2B5EF4-FFF2-40B4-BE49-F238E27FC236}">
                <a16:creationId xmlns:a16="http://schemas.microsoft.com/office/drawing/2014/main" id="{FC5F228A-4703-2E03-F154-67FFA8DF40A5}"/>
              </a:ext>
            </a:extLst>
          </p:cNvPr>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35F04FAE-CDC1-C9D0-5D23-927A9417125F}"/>
              </a:ext>
            </a:extLst>
          </p:cNvPr>
          <p:cNvSpPr txBox="1"/>
          <p:nvPr/>
        </p:nvSpPr>
        <p:spPr>
          <a:xfrm>
            <a:off x="1574843" y="1023452"/>
            <a:ext cx="2922953" cy="327654"/>
          </a:xfrm>
          <a:prstGeom prst="rect">
            <a:avLst/>
          </a:prstGeom>
        </p:spPr>
        <p:txBody>
          <a:bodyPr lIns="0" tIns="0" rIns="0" bIns="0" rtlCol="0" anchor="t">
            <a:spAutoFit/>
          </a:bodyPr>
          <a:lstStyle/>
          <a:p>
            <a:pPr marL="0" lvl="0" indent="0" algn="l">
              <a:lnSpc>
                <a:spcPts val="2798"/>
              </a:lnSpc>
            </a:pPr>
            <a:r>
              <a:rPr lang="en-US" sz="1998" err="1">
                <a:solidFill>
                  <a:srgbClr val="FFFFFF"/>
                </a:solidFill>
                <a:latin typeface="Arial" panose="020B0604020202020204" pitchFamily="34" charset="0"/>
                <a:ea typeface="Poppins"/>
                <a:cs typeface="Arial" panose="020B0604020202020204" pitchFamily="34" charset="0"/>
                <a:sym typeface="Poppins"/>
              </a:rPr>
              <a:t>Nhóm</a:t>
            </a:r>
            <a:r>
              <a:rPr lang="en-US" sz="1998">
                <a:solidFill>
                  <a:srgbClr val="FFFFFF"/>
                </a:solidFill>
                <a:latin typeface="Arial" panose="020B0604020202020204" pitchFamily="34" charset="0"/>
                <a:ea typeface="Poppins"/>
                <a:cs typeface="Arial" panose="020B0604020202020204" pitchFamily="34" charset="0"/>
                <a:sym typeface="Poppins"/>
              </a:rPr>
              <a:t> 9 - ATTT K22A</a:t>
            </a:r>
          </a:p>
        </p:txBody>
      </p:sp>
      <p:sp>
        <p:nvSpPr>
          <p:cNvPr id="10" name="Hộp Văn bản 9">
            <a:extLst>
              <a:ext uri="{FF2B5EF4-FFF2-40B4-BE49-F238E27FC236}">
                <a16:creationId xmlns:a16="http://schemas.microsoft.com/office/drawing/2014/main" id="{83C87CCA-AB10-ED5A-D942-3DB39D45D191}"/>
              </a:ext>
            </a:extLst>
          </p:cNvPr>
          <p:cNvSpPr txBox="1"/>
          <p:nvPr/>
        </p:nvSpPr>
        <p:spPr>
          <a:xfrm>
            <a:off x="1007918" y="2040845"/>
            <a:ext cx="11388567" cy="707886"/>
          </a:xfrm>
          <a:prstGeom prst="rect">
            <a:avLst/>
          </a:prstGeom>
          <a:noFill/>
        </p:spPr>
        <p:txBody>
          <a:bodyPr wrap="none" rtlCol="0">
            <a:spAutoFit/>
          </a:bodyPr>
          <a:lstStyle/>
          <a:p>
            <a:r>
              <a:rPr lang="vi-VN" sz="4000" dirty="0">
                <a:solidFill>
                  <a:schemeClr val="bg1"/>
                </a:solidFill>
              </a:rPr>
              <a:t>4 cấp độ lọc của OWASP CRS — </a:t>
            </a:r>
            <a:r>
              <a:rPr lang="vi-VN" sz="4000" dirty="0" err="1">
                <a:solidFill>
                  <a:schemeClr val="bg1"/>
                </a:solidFill>
              </a:rPr>
              <a:t>Paranoia</a:t>
            </a:r>
            <a:r>
              <a:rPr lang="vi-VN" sz="4000" dirty="0">
                <a:solidFill>
                  <a:schemeClr val="bg1"/>
                </a:solidFill>
              </a:rPr>
              <a:t> </a:t>
            </a:r>
            <a:r>
              <a:rPr lang="vi-VN" sz="4000" dirty="0" err="1">
                <a:solidFill>
                  <a:schemeClr val="bg1"/>
                </a:solidFill>
              </a:rPr>
              <a:t>Level</a:t>
            </a:r>
            <a:endParaRPr lang="vi-VN" sz="4000" dirty="0">
              <a:solidFill>
                <a:schemeClr val="bg1"/>
              </a:solidFill>
            </a:endParaRPr>
          </a:p>
        </p:txBody>
      </p:sp>
      <p:graphicFrame>
        <p:nvGraphicFramePr>
          <p:cNvPr id="12" name="Bảng 11">
            <a:extLst>
              <a:ext uri="{FF2B5EF4-FFF2-40B4-BE49-F238E27FC236}">
                <a16:creationId xmlns:a16="http://schemas.microsoft.com/office/drawing/2014/main" id="{D15FB8C8-5E4B-95A3-77C9-72C63764F3A7}"/>
              </a:ext>
            </a:extLst>
          </p:cNvPr>
          <p:cNvGraphicFramePr>
            <a:graphicFrameLocks noGrp="1"/>
          </p:cNvGraphicFramePr>
          <p:nvPr>
            <p:extLst>
              <p:ext uri="{D42A27DB-BD31-4B8C-83A1-F6EECF244321}">
                <p14:modId xmlns:p14="http://schemas.microsoft.com/office/powerpoint/2010/main" val="630613240"/>
              </p:ext>
            </p:extLst>
          </p:nvPr>
        </p:nvGraphicFramePr>
        <p:xfrm>
          <a:off x="1007918" y="3134589"/>
          <a:ext cx="16230599" cy="5055870"/>
        </p:xfrm>
        <a:graphic>
          <a:graphicData uri="http://schemas.openxmlformats.org/drawingml/2006/table">
            <a:tbl>
              <a:tblPr firstRow="1" bandRow="1">
                <a:tableStyleId>{93296810-A885-4BE3-A3E7-6D5BEEA58F35}</a:tableStyleId>
              </a:tblPr>
              <a:tblGrid>
                <a:gridCol w="3106882">
                  <a:extLst>
                    <a:ext uri="{9D8B030D-6E8A-4147-A177-3AD203B41FA5}">
                      <a16:colId xmlns:a16="http://schemas.microsoft.com/office/drawing/2014/main" val="2774394496"/>
                    </a:ext>
                  </a:extLst>
                </a:gridCol>
                <a:gridCol w="5943600">
                  <a:extLst>
                    <a:ext uri="{9D8B030D-6E8A-4147-A177-3AD203B41FA5}">
                      <a16:colId xmlns:a16="http://schemas.microsoft.com/office/drawing/2014/main" val="3952980765"/>
                    </a:ext>
                  </a:extLst>
                </a:gridCol>
                <a:gridCol w="7180117">
                  <a:extLst>
                    <a:ext uri="{9D8B030D-6E8A-4147-A177-3AD203B41FA5}">
                      <a16:colId xmlns:a16="http://schemas.microsoft.com/office/drawing/2014/main" val="3145726746"/>
                    </a:ext>
                  </a:extLst>
                </a:gridCol>
              </a:tblGrid>
              <a:tr h="370840">
                <a:tc>
                  <a:txBody>
                    <a:bodyPr/>
                    <a:lstStyle/>
                    <a:p>
                      <a:pPr algn="ctr">
                        <a:lnSpc>
                          <a:spcPct val="150000"/>
                        </a:lnSpc>
                        <a:buNone/>
                      </a:pPr>
                      <a:r>
                        <a:rPr lang="vi-VN" sz="2400" dirty="0" err="1">
                          <a:solidFill>
                            <a:schemeClr val="bg1"/>
                          </a:solidFill>
                        </a:rPr>
                        <a:t>Paranoia</a:t>
                      </a:r>
                      <a:r>
                        <a:rPr lang="vi-VN" sz="2400" dirty="0">
                          <a:solidFill>
                            <a:schemeClr val="bg1"/>
                          </a:solidFill>
                        </a:rPr>
                        <a:t> </a:t>
                      </a:r>
                      <a:r>
                        <a:rPr lang="vi-VN" sz="2400" dirty="0" err="1">
                          <a:solidFill>
                            <a:schemeClr val="bg1"/>
                          </a:solidFill>
                        </a:rPr>
                        <a:t>Level</a:t>
                      </a:r>
                      <a:r>
                        <a:rPr lang="vi-VN" sz="2400" dirty="0">
                          <a:solidFill>
                            <a:schemeClr val="bg1"/>
                          </a:solidFill>
                        </a:rPr>
                        <a:t> (PL)</a:t>
                      </a:r>
                      <a:endParaRPr lang="vi-VN" sz="2400" dirty="0"/>
                    </a:p>
                  </a:txBody>
                  <a:tcPr anchor="ctr"/>
                </a:tc>
                <a:tc>
                  <a:txBody>
                    <a:bodyPr/>
                    <a:lstStyle/>
                    <a:p>
                      <a:pPr algn="ctr">
                        <a:lnSpc>
                          <a:spcPct val="150000"/>
                        </a:lnSpc>
                        <a:buNone/>
                      </a:pPr>
                      <a:r>
                        <a:rPr lang="vi-VN" sz="2400" dirty="0"/>
                        <a:t>Đặc điểm kĩ thuật</a:t>
                      </a:r>
                    </a:p>
                  </a:txBody>
                  <a:tcPr anchor="ctr"/>
                </a:tc>
                <a:tc>
                  <a:txBody>
                    <a:bodyPr/>
                    <a:lstStyle/>
                    <a:p>
                      <a:pPr algn="ctr">
                        <a:lnSpc>
                          <a:spcPct val="150000"/>
                        </a:lnSpc>
                        <a:buNone/>
                      </a:pPr>
                      <a:r>
                        <a:rPr lang="vi-VN" sz="2400" dirty="0"/>
                        <a:t>Nhược điểm</a:t>
                      </a:r>
                    </a:p>
                  </a:txBody>
                  <a:tcPr anchor="ctr"/>
                </a:tc>
                <a:extLst>
                  <a:ext uri="{0D108BD9-81ED-4DB2-BD59-A6C34878D82A}">
                    <a16:rowId xmlns:a16="http://schemas.microsoft.com/office/drawing/2014/main" val="3861432008"/>
                  </a:ext>
                </a:extLst>
              </a:tr>
              <a:tr h="370840">
                <a:tc>
                  <a:txBody>
                    <a:bodyPr/>
                    <a:lstStyle/>
                    <a:p>
                      <a:pPr>
                        <a:lnSpc>
                          <a:spcPct val="150000"/>
                        </a:lnSpc>
                        <a:buNone/>
                      </a:pPr>
                      <a:r>
                        <a:rPr lang="vi-VN" sz="2400" dirty="0"/>
                        <a:t>PL1</a:t>
                      </a:r>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vi-VN" sz="2400" dirty="0"/>
                        <a:t>Các quy tắc phổ biến, ít hoặc không gây ảnh hưởng đến </a:t>
                      </a:r>
                      <a:r>
                        <a:rPr lang="vi-VN" sz="2400" dirty="0" err="1"/>
                        <a:t>request</a:t>
                      </a:r>
                      <a:r>
                        <a:rPr lang="vi-VN" sz="2400" dirty="0"/>
                        <a:t> hợp lệ</a:t>
                      </a:r>
                    </a:p>
                  </a:txBody>
                  <a:tcPr anchor="ctr"/>
                </a:tc>
                <a:tc>
                  <a:txBody>
                    <a:bodyPr/>
                    <a:lstStyle/>
                    <a:p>
                      <a:pPr>
                        <a:lnSpc>
                          <a:spcPct val="150000"/>
                        </a:lnSpc>
                        <a:buNone/>
                      </a:pPr>
                      <a:r>
                        <a:rPr lang="vi-VN" sz="2400" dirty="0"/>
                        <a:t>Ít </a:t>
                      </a:r>
                      <a:r>
                        <a:rPr lang="vi-VN" sz="2400" dirty="0" err="1"/>
                        <a:t>false</a:t>
                      </a:r>
                      <a:r>
                        <a:rPr lang="vi-VN" sz="2400" dirty="0"/>
                        <a:t> </a:t>
                      </a:r>
                      <a:r>
                        <a:rPr lang="vi-VN" sz="2400" dirty="0" err="1"/>
                        <a:t>positive</a:t>
                      </a:r>
                      <a:r>
                        <a:rPr lang="vi-VN" sz="2400" dirty="0"/>
                        <a:t> hơn, phù hợp khởi đầu</a:t>
                      </a:r>
                    </a:p>
                  </a:txBody>
                  <a:tcPr anchor="ctr"/>
                </a:tc>
                <a:extLst>
                  <a:ext uri="{0D108BD9-81ED-4DB2-BD59-A6C34878D82A}">
                    <a16:rowId xmlns:a16="http://schemas.microsoft.com/office/drawing/2014/main" val="3283507432"/>
                  </a:ext>
                </a:extLst>
              </a:tr>
              <a:tr h="370840">
                <a:tc>
                  <a:txBody>
                    <a:bodyPr/>
                    <a:lstStyle/>
                    <a:p>
                      <a:pPr>
                        <a:lnSpc>
                          <a:spcPct val="150000"/>
                        </a:lnSpc>
                        <a:buNone/>
                      </a:pPr>
                      <a:r>
                        <a:rPr lang="vi-VN" sz="2400" dirty="0"/>
                        <a:t>PL2</a:t>
                      </a:r>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vi-VN" sz="2400" dirty="0"/>
                        <a:t>Kiểm tra chặt chẽ hơn, bổ sung các mẫu tấn công và trường hợp phức tạp với PL1</a:t>
                      </a:r>
                    </a:p>
                  </a:txBody>
                  <a:tcPr anchor="ctr"/>
                </a:tc>
                <a:tc>
                  <a:txBody>
                    <a:bodyPr/>
                    <a:lstStyle/>
                    <a:p>
                      <a:pPr>
                        <a:lnSpc>
                          <a:spcPct val="150000"/>
                        </a:lnSpc>
                        <a:buNone/>
                      </a:pPr>
                      <a:r>
                        <a:rPr lang="vi-VN" sz="2400" dirty="0"/>
                        <a:t>Có thể phát hiện thêm tấn công nhưng sẽ tăng nguy cơ cảnh báo nhầm so với PL1</a:t>
                      </a:r>
                    </a:p>
                  </a:txBody>
                  <a:tcPr anchor="ctr"/>
                </a:tc>
                <a:extLst>
                  <a:ext uri="{0D108BD9-81ED-4DB2-BD59-A6C34878D82A}">
                    <a16:rowId xmlns:a16="http://schemas.microsoft.com/office/drawing/2014/main" val="771109275"/>
                  </a:ext>
                </a:extLst>
              </a:tr>
              <a:tr h="370840">
                <a:tc>
                  <a:txBody>
                    <a:bodyPr/>
                    <a:lstStyle/>
                    <a:p>
                      <a:pPr>
                        <a:lnSpc>
                          <a:spcPct val="150000"/>
                        </a:lnSpc>
                        <a:buNone/>
                      </a:pPr>
                      <a:r>
                        <a:rPr lang="vi-VN" sz="2400" dirty="0"/>
                        <a:t>PL3</a:t>
                      </a:r>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vi-VN" sz="2400" dirty="0"/>
                        <a:t>Kiểm tra nghiêm ngặt, sử dụng nhiều quy tắc nhạy hơn so với PL2</a:t>
                      </a:r>
                    </a:p>
                  </a:txBody>
                  <a:tcPr anchor="ctr"/>
                </a:tc>
                <a:tc>
                  <a:txBody>
                    <a:bodyPr/>
                    <a:lstStyle/>
                    <a:p>
                      <a:pPr>
                        <a:lnSpc>
                          <a:spcPct val="150000"/>
                        </a:lnSpc>
                        <a:buNone/>
                      </a:pPr>
                      <a:r>
                        <a:rPr lang="vi-VN" sz="2400" dirty="0"/>
                        <a:t>Cần tinh chỉnh thật kĩ theo ứng dụng </a:t>
                      </a:r>
                      <a:r>
                        <a:rPr lang="vi-VN" sz="2400" dirty="0" err="1"/>
                        <a:t>web</a:t>
                      </a:r>
                      <a:r>
                        <a:rPr lang="vi-VN" sz="2400" dirty="0"/>
                        <a:t>, nguy cơ cảnh báo nhầm cao hơn mức PL2</a:t>
                      </a:r>
                    </a:p>
                  </a:txBody>
                  <a:tcPr anchor="ctr"/>
                </a:tc>
                <a:extLst>
                  <a:ext uri="{0D108BD9-81ED-4DB2-BD59-A6C34878D82A}">
                    <a16:rowId xmlns:a16="http://schemas.microsoft.com/office/drawing/2014/main" val="1462005217"/>
                  </a:ext>
                </a:extLst>
              </a:tr>
              <a:tr h="370840">
                <a:tc>
                  <a:txBody>
                    <a:bodyPr/>
                    <a:lstStyle/>
                    <a:p>
                      <a:pPr>
                        <a:lnSpc>
                          <a:spcPct val="150000"/>
                        </a:lnSpc>
                        <a:buNone/>
                      </a:pPr>
                      <a:r>
                        <a:rPr lang="vi-VN" sz="2400"/>
                        <a:t>PL4</a:t>
                      </a:r>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vi-VN" sz="2400" dirty="0"/>
                        <a:t>Mức kiểm tra rất nghiêm ngặt, bao gồm nhiều mẫu có thể trùng với dữ liệu hợp lệ</a:t>
                      </a:r>
                    </a:p>
                  </a:txBody>
                  <a:tcPr anchor="ctr"/>
                </a:tc>
                <a:tc>
                  <a:txBody>
                    <a:bodyPr/>
                    <a:lstStyle/>
                    <a:p>
                      <a:pPr>
                        <a:lnSpc>
                          <a:spcPct val="150000"/>
                        </a:lnSpc>
                        <a:buNone/>
                      </a:pPr>
                      <a:r>
                        <a:rPr lang="vi-VN" sz="2400" dirty="0"/>
                        <a:t>Nguy cơ </a:t>
                      </a:r>
                      <a:r>
                        <a:rPr lang="vi-VN" sz="2400" dirty="0" err="1"/>
                        <a:t>false</a:t>
                      </a:r>
                      <a:r>
                        <a:rPr lang="vi-VN" sz="2400" dirty="0"/>
                        <a:t> </a:t>
                      </a:r>
                      <a:r>
                        <a:rPr lang="vi-VN" sz="2400" dirty="0" err="1"/>
                        <a:t>positive</a:t>
                      </a:r>
                      <a:r>
                        <a:rPr lang="vi-VN" sz="2400" dirty="0"/>
                        <a:t> cao hơn cao hơn hẳn so mức PL3</a:t>
                      </a:r>
                    </a:p>
                  </a:txBody>
                  <a:tcPr anchor="ctr"/>
                </a:tc>
                <a:extLst>
                  <a:ext uri="{0D108BD9-81ED-4DB2-BD59-A6C34878D82A}">
                    <a16:rowId xmlns:a16="http://schemas.microsoft.com/office/drawing/2014/main" val="2586033970"/>
                  </a:ext>
                </a:extLst>
              </a:tr>
            </a:tbl>
          </a:graphicData>
        </a:graphic>
      </p:graphicFrame>
    </p:spTree>
    <p:extLst>
      <p:ext uri="{BB962C8B-B14F-4D97-AF65-F5344CB8AC3E}">
        <p14:creationId xmlns:p14="http://schemas.microsoft.com/office/powerpoint/2010/main" val="40260680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D5AF4-7310-8930-C12B-CA79F816BA7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6CFC564-BEC8-82C2-C4C5-E21F71C6662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5" name="Freeform 5">
            <a:extLst>
              <a:ext uri="{FF2B5EF4-FFF2-40B4-BE49-F238E27FC236}">
                <a16:creationId xmlns:a16="http://schemas.microsoft.com/office/drawing/2014/main" id="{EDFACE76-0E7C-4D3C-8F72-E120890943EB}"/>
              </a:ext>
            </a:extLst>
          </p:cNvPr>
          <p:cNvSpPr/>
          <p:nvPr/>
        </p:nvSpPr>
        <p:spPr>
          <a:xfrm>
            <a:off x="-1340885" y="5505450"/>
            <a:ext cx="5838682" cy="5855316"/>
          </a:xfrm>
          <a:custGeom>
            <a:avLst/>
            <a:gdLst/>
            <a:ahLst/>
            <a:cxnLst/>
            <a:rect l="l" t="t" r="r" b="b"/>
            <a:pathLst>
              <a:path w="5838682" h="5855316">
                <a:moveTo>
                  <a:pt x="0" y="0"/>
                </a:moveTo>
                <a:lnTo>
                  <a:pt x="5838681" y="0"/>
                </a:lnTo>
                <a:lnTo>
                  <a:pt x="5838681" y="5855316"/>
                </a:lnTo>
                <a:lnTo>
                  <a:pt x="0" y="5855316"/>
                </a:lnTo>
                <a:lnTo>
                  <a:pt x="0"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FD03FE0F-C7F7-8FC3-C74B-046578666167}"/>
              </a:ext>
            </a:extLst>
          </p:cNvPr>
          <p:cNvSpPr/>
          <p:nvPr/>
        </p:nvSpPr>
        <p:spPr>
          <a:xfrm flipH="1">
            <a:off x="13558746" y="5505450"/>
            <a:ext cx="5838682" cy="5855316"/>
          </a:xfrm>
          <a:custGeom>
            <a:avLst/>
            <a:gdLst/>
            <a:ahLst/>
            <a:cxnLst/>
            <a:rect l="l" t="t" r="r" b="b"/>
            <a:pathLst>
              <a:path w="5838682" h="5855316">
                <a:moveTo>
                  <a:pt x="5838681" y="0"/>
                </a:moveTo>
                <a:lnTo>
                  <a:pt x="0" y="0"/>
                </a:lnTo>
                <a:lnTo>
                  <a:pt x="0" y="5855316"/>
                </a:lnTo>
                <a:lnTo>
                  <a:pt x="5838681" y="5855316"/>
                </a:lnTo>
                <a:lnTo>
                  <a:pt x="5838681"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7" name="AutoShape 7">
            <a:extLst>
              <a:ext uri="{FF2B5EF4-FFF2-40B4-BE49-F238E27FC236}">
                <a16:creationId xmlns:a16="http://schemas.microsoft.com/office/drawing/2014/main" id="{A159ABFB-A705-A329-5B05-1592F2900BFA}"/>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8" name="Freeform 8">
            <a:extLst>
              <a:ext uri="{FF2B5EF4-FFF2-40B4-BE49-F238E27FC236}">
                <a16:creationId xmlns:a16="http://schemas.microsoft.com/office/drawing/2014/main" id="{766B4B92-6A80-1A91-AF27-DE2F1D6EFAEC}"/>
              </a:ext>
            </a:extLst>
          </p:cNvPr>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E3478211-0364-709F-683C-0C0E1668A1EF}"/>
              </a:ext>
            </a:extLst>
          </p:cNvPr>
          <p:cNvSpPr txBox="1"/>
          <p:nvPr/>
        </p:nvSpPr>
        <p:spPr>
          <a:xfrm>
            <a:off x="1574843" y="1023452"/>
            <a:ext cx="2922953" cy="327654"/>
          </a:xfrm>
          <a:prstGeom prst="rect">
            <a:avLst/>
          </a:prstGeom>
        </p:spPr>
        <p:txBody>
          <a:bodyPr lIns="0" tIns="0" rIns="0" bIns="0" rtlCol="0" anchor="t">
            <a:spAutoFit/>
          </a:bodyPr>
          <a:lstStyle/>
          <a:p>
            <a:pPr marL="0" lvl="0" indent="0" algn="l">
              <a:lnSpc>
                <a:spcPts val="2798"/>
              </a:lnSpc>
            </a:pPr>
            <a:r>
              <a:rPr lang="en-US" sz="1998" err="1">
                <a:solidFill>
                  <a:srgbClr val="FFFFFF"/>
                </a:solidFill>
                <a:latin typeface="Arial" panose="020B0604020202020204" pitchFamily="34" charset="0"/>
                <a:ea typeface="Poppins"/>
                <a:cs typeface="Arial" panose="020B0604020202020204" pitchFamily="34" charset="0"/>
                <a:sym typeface="Poppins"/>
              </a:rPr>
              <a:t>Nhóm</a:t>
            </a:r>
            <a:r>
              <a:rPr lang="en-US" sz="1998">
                <a:solidFill>
                  <a:srgbClr val="FFFFFF"/>
                </a:solidFill>
                <a:latin typeface="Arial" panose="020B0604020202020204" pitchFamily="34" charset="0"/>
                <a:ea typeface="Poppins"/>
                <a:cs typeface="Arial" panose="020B0604020202020204" pitchFamily="34" charset="0"/>
                <a:sym typeface="Poppins"/>
              </a:rPr>
              <a:t> 9 - ATTT K22A</a:t>
            </a:r>
          </a:p>
        </p:txBody>
      </p:sp>
      <p:sp>
        <p:nvSpPr>
          <p:cNvPr id="10" name="Hộp Văn bản 9">
            <a:extLst>
              <a:ext uri="{FF2B5EF4-FFF2-40B4-BE49-F238E27FC236}">
                <a16:creationId xmlns:a16="http://schemas.microsoft.com/office/drawing/2014/main" id="{E0548CD9-388C-9D08-927E-61362EE90C3A}"/>
              </a:ext>
            </a:extLst>
          </p:cNvPr>
          <p:cNvSpPr txBox="1"/>
          <p:nvPr/>
        </p:nvSpPr>
        <p:spPr>
          <a:xfrm>
            <a:off x="1028700" y="2073296"/>
            <a:ext cx="7972054" cy="707886"/>
          </a:xfrm>
          <a:prstGeom prst="rect">
            <a:avLst/>
          </a:prstGeom>
          <a:noFill/>
        </p:spPr>
        <p:txBody>
          <a:bodyPr wrap="none" rtlCol="0">
            <a:spAutoFit/>
          </a:bodyPr>
          <a:lstStyle/>
          <a:p>
            <a:r>
              <a:rPr lang="vi-VN" sz="4000" dirty="0">
                <a:solidFill>
                  <a:schemeClr val="bg1"/>
                </a:solidFill>
              </a:rPr>
              <a:t>5 hành động (</a:t>
            </a:r>
            <a:r>
              <a:rPr lang="vi-VN" sz="4000" dirty="0" err="1">
                <a:solidFill>
                  <a:schemeClr val="bg1"/>
                </a:solidFill>
              </a:rPr>
              <a:t>Actions</a:t>
            </a:r>
            <a:r>
              <a:rPr lang="vi-VN" sz="4000" dirty="0">
                <a:solidFill>
                  <a:schemeClr val="bg1"/>
                </a:solidFill>
              </a:rPr>
              <a:t>) của quy tắc</a:t>
            </a:r>
          </a:p>
        </p:txBody>
      </p:sp>
      <p:graphicFrame>
        <p:nvGraphicFramePr>
          <p:cNvPr id="4" name="Bảng 3">
            <a:extLst>
              <a:ext uri="{FF2B5EF4-FFF2-40B4-BE49-F238E27FC236}">
                <a16:creationId xmlns:a16="http://schemas.microsoft.com/office/drawing/2014/main" id="{9201039D-17CA-986E-E2D7-0AF094CB11FE}"/>
              </a:ext>
            </a:extLst>
          </p:cNvPr>
          <p:cNvGraphicFramePr>
            <a:graphicFrameLocks noGrp="1"/>
          </p:cNvGraphicFramePr>
          <p:nvPr>
            <p:extLst>
              <p:ext uri="{D42A27DB-BD31-4B8C-83A1-F6EECF244321}">
                <p14:modId xmlns:p14="http://schemas.microsoft.com/office/powerpoint/2010/main" val="952534789"/>
              </p:ext>
            </p:extLst>
          </p:nvPr>
        </p:nvGraphicFramePr>
        <p:xfrm>
          <a:off x="1028700" y="3419334"/>
          <a:ext cx="16230599" cy="4741557"/>
        </p:xfrm>
        <a:graphic>
          <a:graphicData uri="http://schemas.openxmlformats.org/drawingml/2006/table">
            <a:tbl>
              <a:tblPr firstRow="1" bandRow="1">
                <a:tableStyleId>{93296810-A885-4BE3-A3E7-6D5BEEA58F35}</a:tableStyleId>
              </a:tblPr>
              <a:tblGrid>
                <a:gridCol w="2621639">
                  <a:extLst>
                    <a:ext uri="{9D8B030D-6E8A-4147-A177-3AD203B41FA5}">
                      <a16:colId xmlns:a16="http://schemas.microsoft.com/office/drawing/2014/main" val="4122995913"/>
                    </a:ext>
                  </a:extLst>
                </a:gridCol>
                <a:gridCol w="6804480">
                  <a:extLst>
                    <a:ext uri="{9D8B030D-6E8A-4147-A177-3AD203B41FA5}">
                      <a16:colId xmlns:a16="http://schemas.microsoft.com/office/drawing/2014/main" val="391200366"/>
                    </a:ext>
                  </a:extLst>
                </a:gridCol>
                <a:gridCol w="6804480">
                  <a:extLst>
                    <a:ext uri="{9D8B030D-6E8A-4147-A177-3AD203B41FA5}">
                      <a16:colId xmlns:a16="http://schemas.microsoft.com/office/drawing/2014/main" val="2320304413"/>
                    </a:ext>
                  </a:extLst>
                </a:gridCol>
              </a:tblGrid>
              <a:tr h="724131">
                <a:tc>
                  <a:txBody>
                    <a:bodyPr/>
                    <a:lstStyle/>
                    <a:p>
                      <a:pPr algn="ctr">
                        <a:lnSpc>
                          <a:spcPct val="150000"/>
                        </a:lnSpc>
                        <a:buNone/>
                      </a:pPr>
                      <a:r>
                        <a:rPr lang="vi-VN" sz="2400">
                          <a:latin typeface="+mn-lt"/>
                        </a:rPr>
                        <a:t>Nhóm</a:t>
                      </a:r>
                    </a:p>
                  </a:txBody>
                  <a:tcPr anchor="ctr"/>
                </a:tc>
                <a:tc>
                  <a:txBody>
                    <a:bodyPr/>
                    <a:lstStyle/>
                    <a:p>
                      <a:pPr algn="ctr">
                        <a:lnSpc>
                          <a:spcPct val="150000"/>
                        </a:lnSpc>
                        <a:buNone/>
                      </a:pPr>
                      <a:r>
                        <a:rPr lang="vi-VN" sz="2400">
                          <a:latin typeface="+mn-lt"/>
                        </a:rPr>
                        <a:t>Chức năng</a:t>
                      </a:r>
                    </a:p>
                  </a:txBody>
                  <a:tcPr anchor="ctr"/>
                </a:tc>
                <a:tc>
                  <a:txBody>
                    <a:bodyPr/>
                    <a:lstStyle/>
                    <a:p>
                      <a:pPr algn="ctr">
                        <a:lnSpc>
                          <a:spcPct val="150000"/>
                        </a:lnSpc>
                        <a:buNone/>
                      </a:pPr>
                      <a:r>
                        <a:rPr lang="vi-VN" sz="2400" dirty="0">
                          <a:latin typeface="+mn-lt"/>
                        </a:rPr>
                        <a:t>Hành động</a:t>
                      </a:r>
                    </a:p>
                  </a:txBody>
                  <a:tcPr anchor="ctr"/>
                </a:tc>
                <a:extLst>
                  <a:ext uri="{0D108BD9-81ED-4DB2-BD59-A6C34878D82A}">
                    <a16:rowId xmlns:a16="http://schemas.microsoft.com/office/drawing/2014/main" val="2583020443"/>
                  </a:ext>
                </a:extLst>
              </a:tr>
              <a:tr h="724131">
                <a:tc>
                  <a:txBody>
                    <a:bodyPr/>
                    <a:lstStyle/>
                    <a:p>
                      <a:pPr>
                        <a:lnSpc>
                          <a:spcPct val="150000"/>
                        </a:lnSpc>
                        <a:buNone/>
                      </a:pPr>
                      <a:r>
                        <a:rPr lang="vi-VN" sz="2400" dirty="0" err="1">
                          <a:latin typeface="+mn-lt"/>
                        </a:rPr>
                        <a:t>Disruptive</a:t>
                      </a:r>
                      <a:r>
                        <a:rPr lang="vi-VN" sz="2400" dirty="0">
                          <a:latin typeface="+mn-lt"/>
                        </a:rPr>
                        <a:t> </a:t>
                      </a:r>
                      <a:r>
                        <a:rPr lang="vi-VN" sz="2400" dirty="0" err="1">
                          <a:latin typeface="+mn-lt"/>
                        </a:rPr>
                        <a:t>actions</a:t>
                      </a:r>
                      <a:endParaRPr lang="vi-VN" sz="2400" dirty="0">
                        <a:latin typeface="+mn-lt"/>
                      </a:endParaRPr>
                    </a:p>
                  </a:txBody>
                  <a:tcPr anchor="ctr"/>
                </a:tc>
                <a:tc>
                  <a:txBody>
                    <a:bodyPr/>
                    <a:lstStyle/>
                    <a:p>
                      <a:pPr>
                        <a:lnSpc>
                          <a:spcPct val="150000"/>
                        </a:lnSpc>
                        <a:buNone/>
                      </a:pPr>
                      <a:r>
                        <a:rPr lang="vi-VN" sz="2400" dirty="0">
                          <a:latin typeface="+mn-lt"/>
                        </a:rPr>
                        <a:t>Tác động đến giao dịch HTTP hoặc luồng xử lý</a:t>
                      </a:r>
                    </a:p>
                  </a:txBody>
                  <a:tcPr anchor="ctr"/>
                </a:tc>
                <a:tc>
                  <a:txBody>
                    <a:bodyPr/>
                    <a:lstStyle/>
                    <a:p>
                      <a:pPr>
                        <a:lnSpc>
                          <a:spcPct val="150000"/>
                        </a:lnSpc>
                        <a:buNone/>
                      </a:pPr>
                      <a:r>
                        <a:rPr lang="vi-VN" sz="2400">
                          <a:latin typeface="+mn-lt"/>
                        </a:rPr>
                        <a:t>deny, allow, pass, block, drop, redirect</a:t>
                      </a:r>
                    </a:p>
                  </a:txBody>
                  <a:tcPr anchor="ctr"/>
                </a:tc>
                <a:extLst>
                  <a:ext uri="{0D108BD9-81ED-4DB2-BD59-A6C34878D82A}">
                    <a16:rowId xmlns:a16="http://schemas.microsoft.com/office/drawing/2014/main" val="1231572423"/>
                  </a:ext>
                </a:extLst>
              </a:tr>
              <a:tr h="724131">
                <a:tc>
                  <a:txBody>
                    <a:bodyPr/>
                    <a:lstStyle/>
                    <a:p>
                      <a:pPr>
                        <a:lnSpc>
                          <a:spcPct val="150000"/>
                        </a:lnSpc>
                        <a:buNone/>
                      </a:pPr>
                      <a:r>
                        <a:rPr lang="vi-VN" sz="2400" dirty="0">
                          <a:latin typeface="+mn-lt"/>
                        </a:rPr>
                        <a:t>Non-</a:t>
                      </a:r>
                      <a:r>
                        <a:rPr lang="vi-VN" sz="2400" dirty="0" err="1">
                          <a:latin typeface="+mn-lt"/>
                        </a:rPr>
                        <a:t>disruptive</a:t>
                      </a:r>
                      <a:r>
                        <a:rPr lang="vi-VN" sz="2400" dirty="0">
                          <a:latin typeface="+mn-lt"/>
                        </a:rPr>
                        <a:t> </a:t>
                      </a:r>
                      <a:r>
                        <a:rPr lang="vi-VN" sz="2400" dirty="0" err="1">
                          <a:latin typeface="+mn-lt"/>
                        </a:rPr>
                        <a:t>actions</a:t>
                      </a:r>
                      <a:endParaRPr lang="vi-VN" sz="2400" dirty="0">
                        <a:latin typeface="+mn-lt"/>
                      </a:endParaRPr>
                    </a:p>
                  </a:txBody>
                  <a:tcPr anchor="ctr"/>
                </a:tc>
                <a:tc>
                  <a:txBody>
                    <a:bodyPr/>
                    <a:lstStyle/>
                    <a:p>
                      <a:pPr>
                        <a:lnSpc>
                          <a:spcPct val="150000"/>
                        </a:lnSpc>
                        <a:buNone/>
                      </a:pPr>
                      <a:r>
                        <a:rPr lang="vi-VN" sz="2400" dirty="0">
                          <a:latin typeface="+mn-lt"/>
                        </a:rPr>
                        <a:t>Thực hiện chức năng mà không trực tiếp thay đổi luồng xử lý quy tắc</a:t>
                      </a:r>
                    </a:p>
                  </a:txBody>
                  <a:tcPr anchor="ctr"/>
                </a:tc>
                <a:tc>
                  <a:txBody>
                    <a:bodyPr/>
                    <a:lstStyle/>
                    <a:p>
                      <a:pPr>
                        <a:lnSpc>
                          <a:spcPct val="150000"/>
                        </a:lnSpc>
                        <a:buNone/>
                      </a:pPr>
                      <a:r>
                        <a:rPr lang="vi-VN" sz="2400">
                          <a:latin typeface="+mn-lt"/>
                        </a:rPr>
                        <a:t>log, nolog, setvar, capture, ctl</a:t>
                      </a:r>
                    </a:p>
                  </a:txBody>
                  <a:tcPr anchor="ctr"/>
                </a:tc>
                <a:extLst>
                  <a:ext uri="{0D108BD9-81ED-4DB2-BD59-A6C34878D82A}">
                    <a16:rowId xmlns:a16="http://schemas.microsoft.com/office/drawing/2014/main" val="2043696747"/>
                  </a:ext>
                </a:extLst>
              </a:tr>
              <a:tr h="724131">
                <a:tc>
                  <a:txBody>
                    <a:bodyPr/>
                    <a:lstStyle/>
                    <a:p>
                      <a:pPr>
                        <a:lnSpc>
                          <a:spcPct val="150000"/>
                        </a:lnSpc>
                        <a:buNone/>
                      </a:pPr>
                      <a:r>
                        <a:rPr lang="vi-VN" sz="2400" dirty="0" err="1">
                          <a:latin typeface="+mn-lt"/>
                        </a:rPr>
                        <a:t>Flow</a:t>
                      </a:r>
                      <a:r>
                        <a:rPr lang="vi-VN" sz="2400" dirty="0">
                          <a:latin typeface="+mn-lt"/>
                        </a:rPr>
                        <a:t> </a:t>
                      </a:r>
                      <a:r>
                        <a:rPr lang="vi-VN" sz="2400" dirty="0" err="1">
                          <a:latin typeface="+mn-lt"/>
                        </a:rPr>
                        <a:t>actions</a:t>
                      </a:r>
                      <a:endParaRPr lang="vi-VN" sz="2400" dirty="0">
                        <a:latin typeface="+mn-lt"/>
                      </a:endParaRPr>
                    </a:p>
                  </a:txBody>
                  <a:tcPr anchor="ctr"/>
                </a:tc>
                <a:tc>
                  <a:txBody>
                    <a:bodyPr/>
                    <a:lstStyle/>
                    <a:p>
                      <a:pPr>
                        <a:lnSpc>
                          <a:spcPct val="150000"/>
                        </a:lnSpc>
                        <a:buNone/>
                      </a:pPr>
                      <a:r>
                        <a:rPr lang="vi-VN" sz="2400">
                          <a:latin typeface="+mn-lt"/>
                        </a:rPr>
                        <a:t>Điều khiển thứ tự thực thi quy tắc</a:t>
                      </a:r>
                    </a:p>
                  </a:txBody>
                  <a:tcPr anchor="ctr"/>
                </a:tc>
                <a:tc>
                  <a:txBody>
                    <a:bodyPr/>
                    <a:lstStyle/>
                    <a:p>
                      <a:pPr>
                        <a:lnSpc>
                          <a:spcPct val="150000"/>
                        </a:lnSpc>
                        <a:buNone/>
                      </a:pPr>
                      <a:r>
                        <a:rPr lang="vi-VN" sz="2400">
                          <a:latin typeface="+mn-lt"/>
                        </a:rPr>
                        <a:t>chain, skip, skipAfter</a:t>
                      </a:r>
                    </a:p>
                  </a:txBody>
                  <a:tcPr anchor="ctr"/>
                </a:tc>
                <a:extLst>
                  <a:ext uri="{0D108BD9-81ED-4DB2-BD59-A6C34878D82A}">
                    <a16:rowId xmlns:a16="http://schemas.microsoft.com/office/drawing/2014/main" val="3197526262"/>
                  </a:ext>
                </a:extLst>
              </a:tr>
              <a:tr h="724131">
                <a:tc>
                  <a:txBody>
                    <a:bodyPr/>
                    <a:lstStyle/>
                    <a:p>
                      <a:pPr>
                        <a:lnSpc>
                          <a:spcPct val="150000"/>
                        </a:lnSpc>
                        <a:buNone/>
                      </a:pPr>
                      <a:r>
                        <a:rPr lang="vi-VN" sz="2400" dirty="0" err="1">
                          <a:latin typeface="+mn-lt"/>
                        </a:rPr>
                        <a:t>Metadata</a:t>
                      </a:r>
                      <a:r>
                        <a:rPr lang="vi-VN" sz="2400" dirty="0">
                          <a:latin typeface="+mn-lt"/>
                        </a:rPr>
                        <a:t> </a:t>
                      </a:r>
                      <a:r>
                        <a:rPr lang="vi-VN" sz="2400" dirty="0" err="1">
                          <a:latin typeface="+mn-lt"/>
                        </a:rPr>
                        <a:t>actions</a:t>
                      </a:r>
                      <a:endParaRPr lang="vi-VN" sz="2400" dirty="0">
                        <a:latin typeface="+mn-lt"/>
                      </a:endParaRPr>
                    </a:p>
                  </a:txBody>
                  <a:tcPr anchor="ctr"/>
                </a:tc>
                <a:tc>
                  <a:txBody>
                    <a:bodyPr/>
                    <a:lstStyle/>
                    <a:p>
                      <a:pPr>
                        <a:lnSpc>
                          <a:spcPct val="150000"/>
                        </a:lnSpc>
                        <a:buNone/>
                      </a:pPr>
                      <a:r>
                        <a:rPr lang="vi-VN" sz="2400" dirty="0">
                          <a:latin typeface="+mn-lt"/>
                        </a:rPr>
                        <a:t>Cung cấp thông tin mô tả và phân loại quy tắc</a:t>
                      </a:r>
                    </a:p>
                  </a:txBody>
                  <a:tcPr anchor="ctr"/>
                </a:tc>
                <a:tc>
                  <a:txBody>
                    <a:bodyPr/>
                    <a:lstStyle/>
                    <a:p>
                      <a:pPr>
                        <a:lnSpc>
                          <a:spcPct val="150000"/>
                        </a:lnSpc>
                        <a:buNone/>
                      </a:pPr>
                      <a:r>
                        <a:rPr lang="vi-VN" sz="2400">
                          <a:latin typeface="+mn-lt"/>
                        </a:rPr>
                        <a:t>id, rev, msg, severity, tag, phase</a:t>
                      </a:r>
                    </a:p>
                  </a:txBody>
                  <a:tcPr anchor="ctr"/>
                </a:tc>
                <a:extLst>
                  <a:ext uri="{0D108BD9-81ED-4DB2-BD59-A6C34878D82A}">
                    <a16:rowId xmlns:a16="http://schemas.microsoft.com/office/drawing/2014/main" val="1830622712"/>
                  </a:ext>
                </a:extLst>
              </a:tr>
              <a:tr h="724131">
                <a:tc>
                  <a:txBody>
                    <a:bodyPr/>
                    <a:lstStyle/>
                    <a:p>
                      <a:pPr>
                        <a:lnSpc>
                          <a:spcPct val="150000"/>
                        </a:lnSpc>
                        <a:buNone/>
                      </a:pPr>
                      <a:r>
                        <a:rPr lang="vi-VN" sz="2400" dirty="0" err="1">
                          <a:latin typeface="+mn-lt"/>
                        </a:rPr>
                        <a:t>Data</a:t>
                      </a:r>
                      <a:r>
                        <a:rPr lang="vi-VN" sz="2400" dirty="0">
                          <a:latin typeface="+mn-lt"/>
                        </a:rPr>
                        <a:t> </a:t>
                      </a:r>
                      <a:r>
                        <a:rPr lang="vi-VN" sz="2400" dirty="0" err="1">
                          <a:latin typeface="+mn-lt"/>
                        </a:rPr>
                        <a:t>actions</a:t>
                      </a:r>
                      <a:endParaRPr lang="vi-VN" sz="2400" dirty="0">
                        <a:latin typeface="+mn-lt"/>
                      </a:endParaRPr>
                    </a:p>
                  </a:txBody>
                  <a:tcPr anchor="ctr"/>
                </a:tc>
                <a:tc>
                  <a:txBody>
                    <a:bodyPr/>
                    <a:lstStyle/>
                    <a:p>
                      <a:pPr>
                        <a:lnSpc>
                          <a:spcPct val="150000"/>
                        </a:lnSpc>
                        <a:buNone/>
                      </a:pPr>
                      <a:r>
                        <a:rPr lang="vi-VN" sz="2400">
                          <a:latin typeface="+mn-lt"/>
                        </a:rPr>
                        <a:t>Cung cấp giá trị dữ liệu cho các hành động khác</a:t>
                      </a:r>
                    </a:p>
                  </a:txBody>
                  <a:tcPr anchor="ctr"/>
                </a:tc>
                <a:tc>
                  <a:txBody>
                    <a:bodyPr/>
                    <a:lstStyle/>
                    <a:p>
                      <a:pPr>
                        <a:lnSpc>
                          <a:spcPct val="150000"/>
                        </a:lnSpc>
                        <a:buNone/>
                      </a:pPr>
                      <a:r>
                        <a:rPr lang="vi-VN" sz="2400" dirty="0" err="1">
                          <a:latin typeface="+mn-lt"/>
                        </a:rPr>
                        <a:t>status</a:t>
                      </a:r>
                      <a:r>
                        <a:rPr lang="vi-VN" sz="2400" dirty="0">
                          <a:latin typeface="+mn-lt"/>
                        </a:rPr>
                        <a:t>, </a:t>
                      </a:r>
                      <a:r>
                        <a:rPr lang="vi-VN" sz="2400" dirty="0" err="1">
                          <a:latin typeface="+mn-lt"/>
                        </a:rPr>
                        <a:t>logdata</a:t>
                      </a:r>
                      <a:endParaRPr lang="vi-VN" sz="2400" dirty="0">
                        <a:latin typeface="+mn-lt"/>
                      </a:endParaRPr>
                    </a:p>
                  </a:txBody>
                  <a:tcPr anchor="ctr"/>
                </a:tc>
                <a:extLst>
                  <a:ext uri="{0D108BD9-81ED-4DB2-BD59-A6C34878D82A}">
                    <a16:rowId xmlns:a16="http://schemas.microsoft.com/office/drawing/2014/main" val="3697596996"/>
                  </a:ext>
                </a:extLst>
              </a:tr>
            </a:tbl>
          </a:graphicData>
        </a:graphic>
      </p:graphicFrame>
    </p:spTree>
    <p:extLst>
      <p:ext uri="{BB962C8B-B14F-4D97-AF65-F5344CB8AC3E}">
        <p14:creationId xmlns:p14="http://schemas.microsoft.com/office/powerpoint/2010/main" val="3619942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09CA3-5749-3B45-3DE0-7C3BBF77FE7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F9CF3D6-FE5A-4D62-F551-6101FDC6221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5" name="Freeform 5">
            <a:extLst>
              <a:ext uri="{FF2B5EF4-FFF2-40B4-BE49-F238E27FC236}">
                <a16:creationId xmlns:a16="http://schemas.microsoft.com/office/drawing/2014/main" id="{EB11EA54-A561-8309-45E4-FAEEE6991CC6}"/>
              </a:ext>
            </a:extLst>
          </p:cNvPr>
          <p:cNvSpPr/>
          <p:nvPr/>
        </p:nvSpPr>
        <p:spPr>
          <a:xfrm>
            <a:off x="-1340885" y="5505450"/>
            <a:ext cx="5838682" cy="5855316"/>
          </a:xfrm>
          <a:custGeom>
            <a:avLst/>
            <a:gdLst/>
            <a:ahLst/>
            <a:cxnLst/>
            <a:rect l="l" t="t" r="r" b="b"/>
            <a:pathLst>
              <a:path w="5838682" h="5855316">
                <a:moveTo>
                  <a:pt x="0" y="0"/>
                </a:moveTo>
                <a:lnTo>
                  <a:pt x="5838681" y="0"/>
                </a:lnTo>
                <a:lnTo>
                  <a:pt x="5838681" y="5855316"/>
                </a:lnTo>
                <a:lnTo>
                  <a:pt x="0" y="5855316"/>
                </a:lnTo>
                <a:lnTo>
                  <a:pt x="0"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B7594C8C-BB84-FEFE-FA65-F7F39E1B588A}"/>
              </a:ext>
            </a:extLst>
          </p:cNvPr>
          <p:cNvSpPr/>
          <p:nvPr/>
        </p:nvSpPr>
        <p:spPr>
          <a:xfrm flipH="1">
            <a:off x="13558746" y="5505450"/>
            <a:ext cx="5838682" cy="5855316"/>
          </a:xfrm>
          <a:custGeom>
            <a:avLst/>
            <a:gdLst/>
            <a:ahLst/>
            <a:cxnLst/>
            <a:rect l="l" t="t" r="r" b="b"/>
            <a:pathLst>
              <a:path w="5838682" h="5855316">
                <a:moveTo>
                  <a:pt x="5838681" y="0"/>
                </a:moveTo>
                <a:lnTo>
                  <a:pt x="0" y="0"/>
                </a:lnTo>
                <a:lnTo>
                  <a:pt x="0" y="5855316"/>
                </a:lnTo>
                <a:lnTo>
                  <a:pt x="5838681" y="5855316"/>
                </a:lnTo>
                <a:lnTo>
                  <a:pt x="5838681"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7" name="AutoShape 7">
            <a:extLst>
              <a:ext uri="{FF2B5EF4-FFF2-40B4-BE49-F238E27FC236}">
                <a16:creationId xmlns:a16="http://schemas.microsoft.com/office/drawing/2014/main" id="{278028DB-BF76-E984-EF32-9F179B39EEE7}"/>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8" name="Freeform 8">
            <a:extLst>
              <a:ext uri="{FF2B5EF4-FFF2-40B4-BE49-F238E27FC236}">
                <a16:creationId xmlns:a16="http://schemas.microsoft.com/office/drawing/2014/main" id="{6CB3F802-D669-86CE-FC65-20059D1D3E94}"/>
              </a:ext>
            </a:extLst>
          </p:cNvPr>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450B2CC0-BC7C-7E5B-CA3D-386F9DA0A724}"/>
              </a:ext>
            </a:extLst>
          </p:cNvPr>
          <p:cNvSpPr txBox="1"/>
          <p:nvPr/>
        </p:nvSpPr>
        <p:spPr>
          <a:xfrm>
            <a:off x="1574843" y="1023452"/>
            <a:ext cx="2922953" cy="327654"/>
          </a:xfrm>
          <a:prstGeom prst="rect">
            <a:avLst/>
          </a:prstGeom>
        </p:spPr>
        <p:txBody>
          <a:bodyPr lIns="0" tIns="0" rIns="0" bIns="0" rtlCol="0" anchor="t">
            <a:spAutoFit/>
          </a:bodyPr>
          <a:lstStyle/>
          <a:p>
            <a:pPr marL="0" lvl="0" indent="0" algn="l">
              <a:lnSpc>
                <a:spcPts val="2798"/>
              </a:lnSpc>
            </a:pPr>
            <a:r>
              <a:rPr lang="en-US" sz="1998" err="1">
                <a:solidFill>
                  <a:srgbClr val="FFFFFF"/>
                </a:solidFill>
                <a:latin typeface="Arial" panose="020B0604020202020204" pitchFamily="34" charset="0"/>
                <a:ea typeface="Poppins"/>
                <a:cs typeface="Arial" panose="020B0604020202020204" pitchFamily="34" charset="0"/>
                <a:sym typeface="Poppins"/>
              </a:rPr>
              <a:t>Nhóm</a:t>
            </a:r>
            <a:r>
              <a:rPr lang="en-US" sz="1998">
                <a:solidFill>
                  <a:srgbClr val="FFFFFF"/>
                </a:solidFill>
                <a:latin typeface="Arial" panose="020B0604020202020204" pitchFamily="34" charset="0"/>
                <a:ea typeface="Poppins"/>
                <a:cs typeface="Arial" panose="020B0604020202020204" pitchFamily="34" charset="0"/>
                <a:sym typeface="Poppins"/>
              </a:rPr>
              <a:t> 9 - ATTT K22A</a:t>
            </a:r>
          </a:p>
        </p:txBody>
      </p:sp>
      <p:sp>
        <p:nvSpPr>
          <p:cNvPr id="4" name="Hộp Văn bản 3">
            <a:extLst>
              <a:ext uri="{FF2B5EF4-FFF2-40B4-BE49-F238E27FC236}">
                <a16:creationId xmlns:a16="http://schemas.microsoft.com/office/drawing/2014/main" id="{EF95AE01-A7F3-0CFE-F1C0-58428A28B5C8}"/>
              </a:ext>
            </a:extLst>
          </p:cNvPr>
          <p:cNvSpPr txBox="1"/>
          <p:nvPr/>
        </p:nvSpPr>
        <p:spPr>
          <a:xfrm>
            <a:off x="1028700" y="1991037"/>
            <a:ext cx="16230600" cy="707886"/>
          </a:xfrm>
          <a:prstGeom prst="rect">
            <a:avLst/>
          </a:prstGeom>
          <a:noFill/>
        </p:spPr>
        <p:txBody>
          <a:bodyPr wrap="square" rtlCol="0">
            <a:spAutoFit/>
          </a:bodyPr>
          <a:lstStyle/>
          <a:p>
            <a:pPr algn="ctr"/>
            <a:r>
              <a:rPr lang="vi-VN" sz="4000" dirty="0">
                <a:solidFill>
                  <a:schemeClr val="bg1"/>
                </a:solidFill>
                <a:latin typeface="Arial" panose="020B0604020202020204" pitchFamily="34" charset="0"/>
                <a:cs typeface="Arial" panose="020B0604020202020204" pitchFamily="34" charset="0"/>
              </a:rPr>
              <a:t>Thiết lập WAF </a:t>
            </a:r>
            <a:r>
              <a:rPr lang="vi-VN" sz="4000" dirty="0" err="1">
                <a:solidFill>
                  <a:schemeClr val="bg1"/>
                </a:solidFill>
                <a:latin typeface="Arial" panose="020B0604020202020204" pitchFamily="34" charset="0"/>
                <a:cs typeface="Arial" panose="020B0604020202020204" pitchFamily="34" charset="0"/>
              </a:rPr>
              <a:t>ModSecurity</a:t>
            </a:r>
            <a:r>
              <a:rPr lang="vi-VN" sz="4000" dirty="0">
                <a:solidFill>
                  <a:schemeClr val="bg1"/>
                </a:solidFill>
                <a:latin typeface="Arial" panose="020B0604020202020204" pitchFamily="34" charset="0"/>
                <a:cs typeface="Arial" panose="020B0604020202020204" pitchFamily="34" charset="0"/>
              </a:rPr>
              <a:t> trên </a:t>
            </a:r>
            <a:r>
              <a:rPr lang="vi-VN" sz="4000" dirty="0" err="1">
                <a:solidFill>
                  <a:schemeClr val="bg1"/>
                </a:solidFill>
                <a:latin typeface="Arial" panose="020B0604020202020204" pitchFamily="34" charset="0"/>
                <a:cs typeface="Arial" panose="020B0604020202020204" pitchFamily="34" charset="0"/>
              </a:rPr>
              <a:t>Ubuntu</a:t>
            </a:r>
            <a:r>
              <a:rPr lang="vi-VN" sz="4000" dirty="0">
                <a:solidFill>
                  <a:schemeClr val="bg1"/>
                </a:solidFill>
                <a:latin typeface="Arial" panose="020B0604020202020204" pitchFamily="34" charset="0"/>
                <a:cs typeface="Arial" panose="020B0604020202020204" pitchFamily="34" charset="0"/>
              </a:rPr>
              <a:t> 24.04 với </a:t>
            </a:r>
            <a:r>
              <a:rPr lang="vi-VN" sz="4000" dirty="0" err="1">
                <a:solidFill>
                  <a:schemeClr val="bg1"/>
                </a:solidFill>
                <a:latin typeface="Arial" panose="020B0604020202020204" pitchFamily="34" charset="0"/>
                <a:cs typeface="Arial" panose="020B0604020202020204" pitchFamily="34" charset="0"/>
              </a:rPr>
              <a:t>Docker</a:t>
            </a:r>
            <a:endParaRPr lang="vi-VN" sz="4000" dirty="0">
              <a:solidFill>
                <a:schemeClr val="bg1"/>
              </a:solidFill>
              <a:latin typeface="Arial" panose="020B0604020202020204" pitchFamily="34" charset="0"/>
              <a:cs typeface="Arial" panose="020B0604020202020204" pitchFamily="34" charset="0"/>
            </a:endParaRPr>
          </a:p>
        </p:txBody>
      </p:sp>
      <p:sp>
        <p:nvSpPr>
          <p:cNvPr id="10" name="Hộp Văn bản 9">
            <a:extLst>
              <a:ext uri="{FF2B5EF4-FFF2-40B4-BE49-F238E27FC236}">
                <a16:creationId xmlns:a16="http://schemas.microsoft.com/office/drawing/2014/main" id="{426D63A3-F6C5-0240-811D-98641652ED9F}"/>
              </a:ext>
            </a:extLst>
          </p:cNvPr>
          <p:cNvSpPr txBox="1"/>
          <p:nvPr/>
        </p:nvSpPr>
        <p:spPr>
          <a:xfrm>
            <a:off x="1028700" y="2989499"/>
            <a:ext cx="16230600" cy="4854214"/>
          </a:xfrm>
          <a:prstGeom prst="rect">
            <a:avLst/>
          </a:prstGeom>
          <a:noFill/>
        </p:spPr>
        <p:txBody>
          <a:bodyPr wrap="square" rtlCol="0">
            <a:spAutoFit/>
          </a:bodyPr>
          <a:lstStyle/>
          <a:p>
            <a:pPr lvl="0">
              <a:lnSpc>
                <a:spcPct val="150000"/>
              </a:lnSpc>
            </a:pPr>
            <a:r>
              <a:rPr lang="vi-VN" sz="3000" dirty="0">
                <a:solidFill>
                  <a:schemeClr val="bg1"/>
                </a:solidFill>
              </a:rPr>
              <a:t>Hệ điều hành: </a:t>
            </a:r>
            <a:r>
              <a:rPr lang="vi-VN" sz="3000" dirty="0" err="1">
                <a:solidFill>
                  <a:schemeClr val="bg1"/>
                </a:solidFill>
              </a:rPr>
              <a:t>Ubuntu</a:t>
            </a:r>
            <a:r>
              <a:rPr lang="vi-VN" sz="3000" dirty="0">
                <a:solidFill>
                  <a:schemeClr val="bg1"/>
                </a:solidFill>
              </a:rPr>
              <a:t> 24.04 LTS</a:t>
            </a:r>
          </a:p>
          <a:p>
            <a:pPr lvl="0">
              <a:lnSpc>
                <a:spcPct val="150000"/>
              </a:lnSpc>
            </a:pPr>
            <a:r>
              <a:rPr lang="vi-VN" sz="3000" dirty="0">
                <a:solidFill>
                  <a:schemeClr val="bg1"/>
                </a:solidFill>
              </a:rPr>
              <a:t>Tường lửa ứng dụng </a:t>
            </a:r>
            <a:r>
              <a:rPr lang="vi-VN" sz="3000" dirty="0" err="1">
                <a:solidFill>
                  <a:schemeClr val="bg1"/>
                </a:solidFill>
              </a:rPr>
              <a:t>web</a:t>
            </a:r>
            <a:r>
              <a:rPr lang="vi-VN" sz="3000" dirty="0">
                <a:solidFill>
                  <a:schemeClr val="bg1"/>
                </a:solidFill>
              </a:rPr>
              <a:t>: </a:t>
            </a:r>
            <a:r>
              <a:rPr lang="vi-VN" sz="3000" dirty="0" err="1">
                <a:solidFill>
                  <a:schemeClr val="bg1"/>
                </a:solidFill>
              </a:rPr>
              <a:t>ModSecurity</a:t>
            </a:r>
            <a:endParaRPr lang="vi-VN" sz="3000" dirty="0">
              <a:solidFill>
                <a:schemeClr val="bg1"/>
              </a:solidFill>
            </a:endParaRPr>
          </a:p>
          <a:p>
            <a:pPr lvl="0">
              <a:lnSpc>
                <a:spcPct val="150000"/>
              </a:lnSpc>
            </a:pPr>
            <a:r>
              <a:rPr lang="vi-VN" sz="3000" dirty="0">
                <a:solidFill>
                  <a:schemeClr val="bg1"/>
                </a:solidFill>
              </a:rPr>
              <a:t>Nền tảng triển khai: </a:t>
            </a:r>
            <a:r>
              <a:rPr lang="vi-VN" sz="3000" dirty="0" err="1">
                <a:solidFill>
                  <a:schemeClr val="bg1"/>
                </a:solidFill>
              </a:rPr>
              <a:t>Docker</a:t>
            </a:r>
            <a:endParaRPr lang="vi-VN" sz="3000" dirty="0">
              <a:solidFill>
                <a:schemeClr val="bg1"/>
              </a:solidFill>
            </a:endParaRPr>
          </a:p>
          <a:p>
            <a:pPr lvl="0">
              <a:lnSpc>
                <a:spcPct val="150000"/>
              </a:lnSpc>
            </a:pPr>
            <a:r>
              <a:rPr lang="vi-VN" sz="3000" dirty="0">
                <a:solidFill>
                  <a:schemeClr val="bg1"/>
                </a:solidFill>
              </a:rPr>
              <a:t>Bộ quy tắc: OWASP </a:t>
            </a:r>
            <a:r>
              <a:rPr lang="vi-VN" sz="3000" dirty="0" err="1">
                <a:solidFill>
                  <a:schemeClr val="bg1"/>
                </a:solidFill>
              </a:rPr>
              <a:t>Core</a:t>
            </a:r>
            <a:r>
              <a:rPr lang="vi-VN" sz="3000" dirty="0">
                <a:solidFill>
                  <a:schemeClr val="bg1"/>
                </a:solidFill>
              </a:rPr>
              <a:t> </a:t>
            </a:r>
            <a:r>
              <a:rPr lang="vi-VN" sz="3000" dirty="0" err="1">
                <a:solidFill>
                  <a:schemeClr val="bg1"/>
                </a:solidFill>
              </a:rPr>
              <a:t>Rule</a:t>
            </a:r>
            <a:r>
              <a:rPr lang="vi-VN" sz="3000" dirty="0">
                <a:solidFill>
                  <a:schemeClr val="bg1"/>
                </a:solidFill>
              </a:rPr>
              <a:t> </a:t>
            </a:r>
            <a:r>
              <a:rPr lang="vi-VN" sz="3000" dirty="0" err="1">
                <a:solidFill>
                  <a:schemeClr val="bg1"/>
                </a:solidFill>
              </a:rPr>
              <a:t>Set</a:t>
            </a:r>
            <a:r>
              <a:rPr lang="vi-VN" sz="3000" dirty="0">
                <a:solidFill>
                  <a:schemeClr val="bg1"/>
                </a:solidFill>
              </a:rPr>
              <a:t> (CRS)</a:t>
            </a:r>
          </a:p>
          <a:p>
            <a:pPr lvl="0">
              <a:lnSpc>
                <a:spcPct val="150000"/>
              </a:lnSpc>
            </a:pPr>
            <a:r>
              <a:rPr lang="vi-VN" sz="3000" dirty="0">
                <a:solidFill>
                  <a:schemeClr val="bg1"/>
                </a:solidFill>
              </a:rPr>
              <a:t>Đối tượng bảo vệ: </a:t>
            </a:r>
            <a:r>
              <a:rPr lang="vi-VN" sz="3000" dirty="0" err="1">
                <a:solidFill>
                  <a:schemeClr val="bg1"/>
                </a:solidFill>
              </a:rPr>
              <a:t>Website</a:t>
            </a:r>
            <a:r>
              <a:rPr lang="vi-VN" sz="3000" dirty="0">
                <a:solidFill>
                  <a:schemeClr val="bg1"/>
                </a:solidFill>
              </a:rPr>
              <a:t> thử nghiệm chứa 03 lỗ hổng bảo mật</a:t>
            </a:r>
          </a:p>
          <a:p>
            <a:pPr lvl="0">
              <a:lnSpc>
                <a:spcPct val="150000"/>
              </a:lnSpc>
            </a:pPr>
            <a:r>
              <a:rPr lang="vi-VN" sz="3000" dirty="0">
                <a:solidFill>
                  <a:schemeClr val="bg1"/>
                </a:solidFill>
              </a:rPr>
              <a:t>Phương pháp đánh giá: Gửi các </a:t>
            </a:r>
            <a:r>
              <a:rPr lang="vi-VN" sz="3000" dirty="0" err="1">
                <a:solidFill>
                  <a:schemeClr val="bg1"/>
                </a:solidFill>
              </a:rPr>
              <a:t>request</a:t>
            </a:r>
            <a:r>
              <a:rPr lang="vi-VN" sz="3000" dirty="0">
                <a:solidFill>
                  <a:schemeClr val="bg1"/>
                </a:solidFill>
              </a:rPr>
              <a:t> thử nghiệm, so sánh kết quả trước và sau khi kích hoạt WAF, kiểm tra HTTP </a:t>
            </a:r>
            <a:r>
              <a:rPr lang="vi-VN" sz="3000" dirty="0" err="1">
                <a:solidFill>
                  <a:schemeClr val="bg1"/>
                </a:solidFill>
              </a:rPr>
              <a:t>response</a:t>
            </a:r>
            <a:r>
              <a:rPr lang="vi-VN" sz="3000" dirty="0">
                <a:solidFill>
                  <a:schemeClr val="bg1"/>
                </a:solidFill>
              </a:rPr>
              <a:t> và </a:t>
            </a:r>
            <a:r>
              <a:rPr lang="vi-VN" sz="3000" dirty="0" err="1">
                <a:solidFill>
                  <a:schemeClr val="bg1"/>
                </a:solidFill>
              </a:rPr>
              <a:t>log</a:t>
            </a:r>
            <a:r>
              <a:rPr lang="vi-VN" sz="3000" dirty="0">
                <a:solidFill>
                  <a:schemeClr val="bg1"/>
                </a:solidFill>
              </a:rPr>
              <a:t> WAF</a:t>
            </a:r>
          </a:p>
        </p:txBody>
      </p:sp>
    </p:spTree>
    <p:extLst>
      <p:ext uri="{BB962C8B-B14F-4D97-AF65-F5344CB8AC3E}">
        <p14:creationId xmlns:p14="http://schemas.microsoft.com/office/powerpoint/2010/main" val="10160663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02118-BB54-6515-3A47-6001A7F7F5A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DB8DBDA-B6D8-9396-32F6-9A6E141FC57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5" name="Freeform 5">
            <a:extLst>
              <a:ext uri="{FF2B5EF4-FFF2-40B4-BE49-F238E27FC236}">
                <a16:creationId xmlns:a16="http://schemas.microsoft.com/office/drawing/2014/main" id="{A4395707-7A0B-65D0-DB11-12C7E6E88655}"/>
              </a:ext>
            </a:extLst>
          </p:cNvPr>
          <p:cNvSpPr/>
          <p:nvPr/>
        </p:nvSpPr>
        <p:spPr>
          <a:xfrm>
            <a:off x="-1340885" y="5505450"/>
            <a:ext cx="5838682" cy="5855316"/>
          </a:xfrm>
          <a:custGeom>
            <a:avLst/>
            <a:gdLst/>
            <a:ahLst/>
            <a:cxnLst/>
            <a:rect l="l" t="t" r="r" b="b"/>
            <a:pathLst>
              <a:path w="5838682" h="5855316">
                <a:moveTo>
                  <a:pt x="0" y="0"/>
                </a:moveTo>
                <a:lnTo>
                  <a:pt x="5838681" y="0"/>
                </a:lnTo>
                <a:lnTo>
                  <a:pt x="5838681" y="5855316"/>
                </a:lnTo>
                <a:lnTo>
                  <a:pt x="0" y="5855316"/>
                </a:lnTo>
                <a:lnTo>
                  <a:pt x="0"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29EDB350-5D17-8782-E82A-AC13FDE9371E}"/>
              </a:ext>
            </a:extLst>
          </p:cNvPr>
          <p:cNvSpPr/>
          <p:nvPr/>
        </p:nvSpPr>
        <p:spPr>
          <a:xfrm flipH="1">
            <a:off x="13558746" y="5505450"/>
            <a:ext cx="5838682" cy="5855316"/>
          </a:xfrm>
          <a:custGeom>
            <a:avLst/>
            <a:gdLst/>
            <a:ahLst/>
            <a:cxnLst/>
            <a:rect l="l" t="t" r="r" b="b"/>
            <a:pathLst>
              <a:path w="5838682" h="5855316">
                <a:moveTo>
                  <a:pt x="5838681" y="0"/>
                </a:moveTo>
                <a:lnTo>
                  <a:pt x="0" y="0"/>
                </a:lnTo>
                <a:lnTo>
                  <a:pt x="0" y="5855316"/>
                </a:lnTo>
                <a:lnTo>
                  <a:pt x="5838681" y="5855316"/>
                </a:lnTo>
                <a:lnTo>
                  <a:pt x="5838681"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7" name="AutoShape 7">
            <a:extLst>
              <a:ext uri="{FF2B5EF4-FFF2-40B4-BE49-F238E27FC236}">
                <a16:creationId xmlns:a16="http://schemas.microsoft.com/office/drawing/2014/main" id="{C60DA560-24FD-3F08-04AA-650F6E3FB9A0}"/>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8" name="Freeform 8">
            <a:extLst>
              <a:ext uri="{FF2B5EF4-FFF2-40B4-BE49-F238E27FC236}">
                <a16:creationId xmlns:a16="http://schemas.microsoft.com/office/drawing/2014/main" id="{0CAEE267-6415-6823-2D88-030D0A804575}"/>
              </a:ext>
            </a:extLst>
          </p:cNvPr>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F5712771-0A95-0653-141F-9E8A9A9B1989}"/>
              </a:ext>
            </a:extLst>
          </p:cNvPr>
          <p:cNvSpPr txBox="1"/>
          <p:nvPr/>
        </p:nvSpPr>
        <p:spPr>
          <a:xfrm>
            <a:off x="1574843" y="1023452"/>
            <a:ext cx="2922953" cy="327654"/>
          </a:xfrm>
          <a:prstGeom prst="rect">
            <a:avLst/>
          </a:prstGeom>
        </p:spPr>
        <p:txBody>
          <a:bodyPr lIns="0" tIns="0" rIns="0" bIns="0" rtlCol="0" anchor="t">
            <a:spAutoFit/>
          </a:bodyPr>
          <a:lstStyle/>
          <a:p>
            <a:pPr marL="0" lvl="0" indent="0" algn="l">
              <a:lnSpc>
                <a:spcPts val="2798"/>
              </a:lnSpc>
            </a:pPr>
            <a:r>
              <a:rPr lang="en-US" sz="1998" err="1">
                <a:solidFill>
                  <a:srgbClr val="FFFFFF"/>
                </a:solidFill>
                <a:latin typeface="Arial" panose="020B0604020202020204" pitchFamily="34" charset="0"/>
                <a:ea typeface="Poppins"/>
                <a:cs typeface="Arial" panose="020B0604020202020204" pitchFamily="34" charset="0"/>
                <a:sym typeface="Poppins"/>
              </a:rPr>
              <a:t>Nhóm</a:t>
            </a:r>
            <a:r>
              <a:rPr lang="en-US" sz="1998">
                <a:solidFill>
                  <a:srgbClr val="FFFFFF"/>
                </a:solidFill>
                <a:latin typeface="Arial" panose="020B0604020202020204" pitchFamily="34" charset="0"/>
                <a:ea typeface="Poppins"/>
                <a:cs typeface="Arial" panose="020B0604020202020204" pitchFamily="34" charset="0"/>
                <a:sym typeface="Poppins"/>
              </a:rPr>
              <a:t> 9 - ATTT K22A</a:t>
            </a:r>
          </a:p>
        </p:txBody>
      </p:sp>
      <p:sp>
        <p:nvSpPr>
          <p:cNvPr id="4" name="Hộp Văn bản 3">
            <a:extLst>
              <a:ext uri="{FF2B5EF4-FFF2-40B4-BE49-F238E27FC236}">
                <a16:creationId xmlns:a16="http://schemas.microsoft.com/office/drawing/2014/main" id="{DF838BC6-41F3-4119-B489-A81AA2CBA391}"/>
              </a:ext>
            </a:extLst>
          </p:cNvPr>
          <p:cNvSpPr txBox="1"/>
          <p:nvPr/>
        </p:nvSpPr>
        <p:spPr>
          <a:xfrm>
            <a:off x="1028700" y="1991037"/>
            <a:ext cx="16230600" cy="1323439"/>
          </a:xfrm>
          <a:prstGeom prst="rect">
            <a:avLst/>
          </a:prstGeom>
          <a:noFill/>
        </p:spPr>
        <p:txBody>
          <a:bodyPr wrap="square" rtlCol="0">
            <a:spAutoFit/>
          </a:bodyPr>
          <a:lstStyle/>
          <a:p>
            <a:pPr algn="ctr"/>
            <a:r>
              <a:rPr lang="vi-VN" sz="4000" dirty="0">
                <a:solidFill>
                  <a:schemeClr val="bg1"/>
                </a:solidFill>
                <a:latin typeface="Arial" panose="020B0604020202020204" pitchFamily="34" charset="0"/>
                <a:cs typeface="Arial" panose="020B0604020202020204" pitchFamily="34" charset="0"/>
              </a:rPr>
              <a:t>Triển khai các kịch bản tấn công</a:t>
            </a:r>
          </a:p>
          <a:p>
            <a:pPr algn="ctr"/>
            <a:r>
              <a:rPr lang="vi-VN" sz="4000" dirty="0">
                <a:solidFill>
                  <a:schemeClr val="bg1"/>
                </a:solidFill>
                <a:latin typeface="Arial" panose="020B0604020202020204" pitchFamily="34" charset="0"/>
                <a:cs typeface="Arial" panose="020B0604020202020204" pitchFamily="34" charset="0"/>
              </a:rPr>
              <a:t>Kịch bản 1: phát hiện, ghi nhận, chặn tấn công SQL </a:t>
            </a:r>
            <a:r>
              <a:rPr lang="vi-VN" sz="4000" dirty="0" err="1">
                <a:solidFill>
                  <a:schemeClr val="bg1"/>
                </a:solidFill>
                <a:latin typeface="Arial" panose="020B0604020202020204" pitchFamily="34" charset="0"/>
                <a:cs typeface="Arial" panose="020B0604020202020204" pitchFamily="34" charset="0"/>
              </a:rPr>
              <a:t>injection</a:t>
            </a:r>
            <a:endParaRPr lang="vi-VN" sz="4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673534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8CE2E-C95C-1954-6652-44B7F38E351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C638F55-6128-53B6-167F-995CED3C4D2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5" name="Freeform 5">
            <a:extLst>
              <a:ext uri="{FF2B5EF4-FFF2-40B4-BE49-F238E27FC236}">
                <a16:creationId xmlns:a16="http://schemas.microsoft.com/office/drawing/2014/main" id="{80C13C78-2B2A-80C5-A5EA-A2CA7D070B5F}"/>
              </a:ext>
            </a:extLst>
          </p:cNvPr>
          <p:cNvSpPr/>
          <p:nvPr/>
        </p:nvSpPr>
        <p:spPr>
          <a:xfrm>
            <a:off x="-1340885" y="5505450"/>
            <a:ext cx="5838682" cy="5855316"/>
          </a:xfrm>
          <a:custGeom>
            <a:avLst/>
            <a:gdLst/>
            <a:ahLst/>
            <a:cxnLst/>
            <a:rect l="l" t="t" r="r" b="b"/>
            <a:pathLst>
              <a:path w="5838682" h="5855316">
                <a:moveTo>
                  <a:pt x="0" y="0"/>
                </a:moveTo>
                <a:lnTo>
                  <a:pt x="5838681" y="0"/>
                </a:lnTo>
                <a:lnTo>
                  <a:pt x="5838681" y="5855316"/>
                </a:lnTo>
                <a:lnTo>
                  <a:pt x="0" y="5855316"/>
                </a:lnTo>
                <a:lnTo>
                  <a:pt x="0"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2CF0B3D4-AD19-B91A-8D46-26F91D1CED79}"/>
              </a:ext>
            </a:extLst>
          </p:cNvPr>
          <p:cNvSpPr/>
          <p:nvPr/>
        </p:nvSpPr>
        <p:spPr>
          <a:xfrm flipH="1">
            <a:off x="13558746" y="5505450"/>
            <a:ext cx="5838682" cy="5855316"/>
          </a:xfrm>
          <a:custGeom>
            <a:avLst/>
            <a:gdLst/>
            <a:ahLst/>
            <a:cxnLst/>
            <a:rect l="l" t="t" r="r" b="b"/>
            <a:pathLst>
              <a:path w="5838682" h="5855316">
                <a:moveTo>
                  <a:pt x="5838681" y="0"/>
                </a:moveTo>
                <a:lnTo>
                  <a:pt x="0" y="0"/>
                </a:lnTo>
                <a:lnTo>
                  <a:pt x="0" y="5855316"/>
                </a:lnTo>
                <a:lnTo>
                  <a:pt x="5838681" y="5855316"/>
                </a:lnTo>
                <a:lnTo>
                  <a:pt x="5838681"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7" name="AutoShape 7">
            <a:extLst>
              <a:ext uri="{FF2B5EF4-FFF2-40B4-BE49-F238E27FC236}">
                <a16:creationId xmlns:a16="http://schemas.microsoft.com/office/drawing/2014/main" id="{1038B018-EAB4-2E61-599B-D719B859F69D}"/>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8" name="Freeform 8">
            <a:extLst>
              <a:ext uri="{FF2B5EF4-FFF2-40B4-BE49-F238E27FC236}">
                <a16:creationId xmlns:a16="http://schemas.microsoft.com/office/drawing/2014/main" id="{136C211D-B5E5-8F4C-F65B-40A29456E40C}"/>
              </a:ext>
            </a:extLst>
          </p:cNvPr>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4FD9FE99-F263-5CE7-4124-A7E8DD28BCF2}"/>
              </a:ext>
            </a:extLst>
          </p:cNvPr>
          <p:cNvSpPr txBox="1"/>
          <p:nvPr/>
        </p:nvSpPr>
        <p:spPr>
          <a:xfrm>
            <a:off x="1574843" y="1023452"/>
            <a:ext cx="2922953" cy="327654"/>
          </a:xfrm>
          <a:prstGeom prst="rect">
            <a:avLst/>
          </a:prstGeom>
        </p:spPr>
        <p:txBody>
          <a:bodyPr lIns="0" tIns="0" rIns="0" bIns="0" rtlCol="0" anchor="t">
            <a:spAutoFit/>
          </a:bodyPr>
          <a:lstStyle/>
          <a:p>
            <a:pPr marL="0" lvl="0" indent="0" algn="l">
              <a:lnSpc>
                <a:spcPts val="2798"/>
              </a:lnSpc>
            </a:pPr>
            <a:r>
              <a:rPr lang="en-US" sz="1998" err="1">
                <a:solidFill>
                  <a:srgbClr val="FFFFFF"/>
                </a:solidFill>
                <a:latin typeface="Arial" panose="020B0604020202020204" pitchFamily="34" charset="0"/>
                <a:ea typeface="Poppins"/>
                <a:cs typeface="Arial" panose="020B0604020202020204" pitchFamily="34" charset="0"/>
                <a:sym typeface="Poppins"/>
              </a:rPr>
              <a:t>Nhóm</a:t>
            </a:r>
            <a:r>
              <a:rPr lang="en-US" sz="1998">
                <a:solidFill>
                  <a:srgbClr val="FFFFFF"/>
                </a:solidFill>
                <a:latin typeface="Arial" panose="020B0604020202020204" pitchFamily="34" charset="0"/>
                <a:ea typeface="Poppins"/>
                <a:cs typeface="Arial" panose="020B0604020202020204" pitchFamily="34" charset="0"/>
                <a:sym typeface="Poppins"/>
              </a:rPr>
              <a:t> 9 - ATTT K22A</a:t>
            </a:r>
          </a:p>
        </p:txBody>
      </p:sp>
      <p:sp>
        <p:nvSpPr>
          <p:cNvPr id="4" name="Hộp Văn bản 3">
            <a:extLst>
              <a:ext uri="{FF2B5EF4-FFF2-40B4-BE49-F238E27FC236}">
                <a16:creationId xmlns:a16="http://schemas.microsoft.com/office/drawing/2014/main" id="{55C4B9C2-274C-E556-A862-A3AF5AD436C7}"/>
              </a:ext>
            </a:extLst>
          </p:cNvPr>
          <p:cNvSpPr txBox="1"/>
          <p:nvPr/>
        </p:nvSpPr>
        <p:spPr>
          <a:xfrm>
            <a:off x="1028700" y="1991037"/>
            <a:ext cx="16230600" cy="1323439"/>
          </a:xfrm>
          <a:prstGeom prst="rect">
            <a:avLst/>
          </a:prstGeom>
          <a:noFill/>
        </p:spPr>
        <p:txBody>
          <a:bodyPr wrap="square" rtlCol="0">
            <a:spAutoFit/>
          </a:bodyPr>
          <a:lstStyle/>
          <a:p>
            <a:pPr algn="ctr"/>
            <a:r>
              <a:rPr lang="vi-VN" sz="4000" dirty="0">
                <a:solidFill>
                  <a:schemeClr val="bg1"/>
                </a:solidFill>
                <a:latin typeface="Arial" panose="020B0604020202020204" pitchFamily="34" charset="0"/>
                <a:cs typeface="Arial" panose="020B0604020202020204" pitchFamily="34" charset="0"/>
              </a:rPr>
              <a:t>Triển khai các kịch bản tấn công</a:t>
            </a:r>
          </a:p>
          <a:p>
            <a:pPr algn="ctr"/>
            <a:r>
              <a:rPr lang="vi-VN" sz="4000" dirty="0">
                <a:solidFill>
                  <a:schemeClr val="bg1"/>
                </a:solidFill>
                <a:latin typeface="Arial" panose="020B0604020202020204" pitchFamily="34" charset="0"/>
                <a:cs typeface="Arial" panose="020B0604020202020204" pitchFamily="34" charset="0"/>
              </a:rPr>
              <a:t>Kịch bản 2: phát hiện, ghi nhận, chặn tấn công XSS </a:t>
            </a:r>
            <a:r>
              <a:rPr lang="vi-VN" sz="4000" dirty="0" err="1">
                <a:solidFill>
                  <a:schemeClr val="bg1"/>
                </a:solidFill>
                <a:latin typeface="Arial" panose="020B0604020202020204" pitchFamily="34" charset="0"/>
                <a:cs typeface="Arial" panose="020B0604020202020204" pitchFamily="34" charset="0"/>
              </a:rPr>
              <a:t>Store</a:t>
            </a:r>
            <a:endParaRPr lang="vi-VN" sz="4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54706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B48DF-8555-51DA-EEDD-811791EE552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EAF8B9D-DE59-1685-E5CF-7F96FD322C3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5" name="Freeform 5">
            <a:extLst>
              <a:ext uri="{FF2B5EF4-FFF2-40B4-BE49-F238E27FC236}">
                <a16:creationId xmlns:a16="http://schemas.microsoft.com/office/drawing/2014/main" id="{F0D34DA1-78C3-3E1A-9B4B-9EC0F128FA13}"/>
              </a:ext>
            </a:extLst>
          </p:cNvPr>
          <p:cNvSpPr/>
          <p:nvPr/>
        </p:nvSpPr>
        <p:spPr>
          <a:xfrm>
            <a:off x="-1340885" y="5505450"/>
            <a:ext cx="5838682" cy="5855316"/>
          </a:xfrm>
          <a:custGeom>
            <a:avLst/>
            <a:gdLst/>
            <a:ahLst/>
            <a:cxnLst/>
            <a:rect l="l" t="t" r="r" b="b"/>
            <a:pathLst>
              <a:path w="5838682" h="5855316">
                <a:moveTo>
                  <a:pt x="0" y="0"/>
                </a:moveTo>
                <a:lnTo>
                  <a:pt x="5838681" y="0"/>
                </a:lnTo>
                <a:lnTo>
                  <a:pt x="5838681" y="5855316"/>
                </a:lnTo>
                <a:lnTo>
                  <a:pt x="0" y="5855316"/>
                </a:lnTo>
                <a:lnTo>
                  <a:pt x="0"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1F24CB12-D61B-0584-ECA1-25971E6D1B26}"/>
              </a:ext>
            </a:extLst>
          </p:cNvPr>
          <p:cNvSpPr/>
          <p:nvPr/>
        </p:nvSpPr>
        <p:spPr>
          <a:xfrm flipH="1">
            <a:off x="13558746" y="5505450"/>
            <a:ext cx="5838682" cy="5855316"/>
          </a:xfrm>
          <a:custGeom>
            <a:avLst/>
            <a:gdLst/>
            <a:ahLst/>
            <a:cxnLst/>
            <a:rect l="l" t="t" r="r" b="b"/>
            <a:pathLst>
              <a:path w="5838682" h="5855316">
                <a:moveTo>
                  <a:pt x="5838681" y="0"/>
                </a:moveTo>
                <a:lnTo>
                  <a:pt x="0" y="0"/>
                </a:lnTo>
                <a:lnTo>
                  <a:pt x="0" y="5855316"/>
                </a:lnTo>
                <a:lnTo>
                  <a:pt x="5838681" y="5855316"/>
                </a:lnTo>
                <a:lnTo>
                  <a:pt x="5838681" y="0"/>
                </a:lnTo>
                <a:close/>
              </a:path>
            </a:pathLst>
          </a:custGeom>
          <a:blipFill>
            <a:blip>
              <a:alphaModFix amt="70000"/>
              <a:extLst>
                <a:ext uri="{96DAC541-7B7A-43D3-8B79-37D633B846F1}">
                  <asvg:svgBlip xmlns:asvg="http://schemas.microsoft.com/office/drawing/2016/SVG/main" r:embed="rId3"/>
                </a:ext>
              </a:extLst>
            </a:blip>
            <a:stretch>
              <a:fillRect/>
            </a:stretch>
          </a:blipFill>
        </p:spPr>
      </p:sp>
      <p:sp>
        <p:nvSpPr>
          <p:cNvPr id="7" name="AutoShape 7">
            <a:extLst>
              <a:ext uri="{FF2B5EF4-FFF2-40B4-BE49-F238E27FC236}">
                <a16:creationId xmlns:a16="http://schemas.microsoft.com/office/drawing/2014/main" id="{ADA5BF58-2D46-9625-E3E5-FD55D930D7B1}"/>
              </a:ext>
            </a:extLst>
          </p:cNvPr>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8" name="Freeform 8">
            <a:extLst>
              <a:ext uri="{FF2B5EF4-FFF2-40B4-BE49-F238E27FC236}">
                <a16:creationId xmlns:a16="http://schemas.microsoft.com/office/drawing/2014/main" id="{4169820E-48C8-7D97-738F-CC908C89B51C}"/>
              </a:ext>
            </a:extLst>
          </p:cNvPr>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6337DF6C-BC24-E78B-1BF0-4EFF4A663B48}"/>
              </a:ext>
            </a:extLst>
          </p:cNvPr>
          <p:cNvSpPr txBox="1"/>
          <p:nvPr/>
        </p:nvSpPr>
        <p:spPr>
          <a:xfrm>
            <a:off x="1574843" y="1023452"/>
            <a:ext cx="2922953" cy="327654"/>
          </a:xfrm>
          <a:prstGeom prst="rect">
            <a:avLst/>
          </a:prstGeom>
        </p:spPr>
        <p:txBody>
          <a:bodyPr lIns="0" tIns="0" rIns="0" bIns="0" rtlCol="0" anchor="t">
            <a:spAutoFit/>
          </a:bodyPr>
          <a:lstStyle/>
          <a:p>
            <a:pPr marL="0" lvl="0" indent="0" algn="l">
              <a:lnSpc>
                <a:spcPts val="2798"/>
              </a:lnSpc>
            </a:pPr>
            <a:r>
              <a:rPr lang="en-US" sz="1998" err="1">
                <a:solidFill>
                  <a:srgbClr val="FFFFFF"/>
                </a:solidFill>
                <a:latin typeface="Arial" panose="020B0604020202020204" pitchFamily="34" charset="0"/>
                <a:ea typeface="Poppins"/>
                <a:cs typeface="Arial" panose="020B0604020202020204" pitchFamily="34" charset="0"/>
                <a:sym typeface="Poppins"/>
              </a:rPr>
              <a:t>Nhóm</a:t>
            </a:r>
            <a:r>
              <a:rPr lang="en-US" sz="1998">
                <a:solidFill>
                  <a:srgbClr val="FFFFFF"/>
                </a:solidFill>
                <a:latin typeface="Arial" panose="020B0604020202020204" pitchFamily="34" charset="0"/>
                <a:ea typeface="Poppins"/>
                <a:cs typeface="Arial" panose="020B0604020202020204" pitchFamily="34" charset="0"/>
                <a:sym typeface="Poppins"/>
              </a:rPr>
              <a:t> 9 - ATTT K22A</a:t>
            </a:r>
          </a:p>
        </p:txBody>
      </p:sp>
      <p:sp>
        <p:nvSpPr>
          <p:cNvPr id="4" name="Hộp Văn bản 3">
            <a:extLst>
              <a:ext uri="{FF2B5EF4-FFF2-40B4-BE49-F238E27FC236}">
                <a16:creationId xmlns:a16="http://schemas.microsoft.com/office/drawing/2014/main" id="{27690B2A-9AD4-3E68-5DED-A628D638634A}"/>
              </a:ext>
            </a:extLst>
          </p:cNvPr>
          <p:cNvSpPr txBox="1"/>
          <p:nvPr/>
        </p:nvSpPr>
        <p:spPr>
          <a:xfrm>
            <a:off x="1028700" y="1991037"/>
            <a:ext cx="16230600" cy="1323439"/>
          </a:xfrm>
          <a:prstGeom prst="rect">
            <a:avLst/>
          </a:prstGeom>
          <a:noFill/>
        </p:spPr>
        <p:txBody>
          <a:bodyPr wrap="square" rtlCol="0">
            <a:spAutoFit/>
          </a:bodyPr>
          <a:lstStyle/>
          <a:p>
            <a:pPr algn="ctr"/>
            <a:r>
              <a:rPr lang="vi-VN" sz="4000" dirty="0">
                <a:solidFill>
                  <a:schemeClr val="bg1"/>
                </a:solidFill>
                <a:cs typeface="Arial" panose="020B0604020202020204" pitchFamily="34" charset="0"/>
              </a:rPr>
              <a:t>Triển khai các kịch bản tấn công</a:t>
            </a:r>
          </a:p>
          <a:p>
            <a:pPr algn="ctr"/>
            <a:r>
              <a:rPr lang="vi-VN" sz="4000" dirty="0">
                <a:solidFill>
                  <a:schemeClr val="bg1"/>
                </a:solidFill>
                <a:cs typeface="Arial" panose="020B0604020202020204" pitchFamily="34" charset="0"/>
              </a:rPr>
              <a:t>Kịch bản 3: phát hiện, ghi nhận, chặn tấn công </a:t>
            </a:r>
            <a:r>
              <a:rPr lang="vi-VN" sz="4000" dirty="0" err="1">
                <a:solidFill>
                  <a:schemeClr val="bg1"/>
                </a:solidFill>
              </a:rPr>
              <a:t>Path</a:t>
            </a:r>
            <a:r>
              <a:rPr lang="vi-VN" sz="4000" dirty="0">
                <a:solidFill>
                  <a:schemeClr val="bg1"/>
                </a:solidFill>
              </a:rPr>
              <a:t> </a:t>
            </a:r>
            <a:r>
              <a:rPr lang="vi-VN" sz="4000" dirty="0" err="1">
                <a:solidFill>
                  <a:schemeClr val="bg1"/>
                </a:solidFill>
              </a:rPr>
              <a:t>Traversal</a:t>
            </a:r>
            <a:endParaRPr lang="vi-VN" sz="4000" dirty="0">
              <a:solidFill>
                <a:schemeClr val="bg1"/>
              </a:solidFill>
              <a:cs typeface="Arial" panose="020B0604020202020204" pitchFamily="34" charset="0"/>
            </a:endParaRPr>
          </a:p>
        </p:txBody>
      </p:sp>
    </p:spTree>
    <p:extLst>
      <p:ext uri="{BB962C8B-B14F-4D97-AF65-F5344CB8AC3E}">
        <p14:creationId xmlns:p14="http://schemas.microsoft.com/office/powerpoint/2010/main" val="9580891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AutoShape 3"/>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340885" y="5505450"/>
            <a:ext cx="5838682" cy="5855316"/>
          </a:xfrm>
          <a:custGeom>
            <a:avLst/>
            <a:gdLst/>
            <a:ahLst/>
            <a:cxnLst/>
            <a:rect l="l" t="t" r="r" b="b"/>
            <a:pathLst>
              <a:path w="5838682" h="5855316">
                <a:moveTo>
                  <a:pt x="0" y="0"/>
                </a:moveTo>
                <a:lnTo>
                  <a:pt x="5838681" y="0"/>
                </a:lnTo>
                <a:lnTo>
                  <a:pt x="5838681" y="5855316"/>
                </a:lnTo>
                <a:lnTo>
                  <a:pt x="0" y="5855316"/>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6" name="Freeform 6"/>
          <p:cNvSpPr/>
          <p:nvPr/>
        </p:nvSpPr>
        <p:spPr>
          <a:xfrm flipH="1">
            <a:off x="13558746" y="5505450"/>
            <a:ext cx="5838682" cy="5855316"/>
          </a:xfrm>
          <a:custGeom>
            <a:avLst/>
            <a:gdLst/>
            <a:ahLst/>
            <a:cxnLst/>
            <a:rect l="l" t="t" r="r" b="b"/>
            <a:pathLst>
              <a:path w="5838682" h="5855316">
                <a:moveTo>
                  <a:pt x="5838681" y="0"/>
                </a:moveTo>
                <a:lnTo>
                  <a:pt x="0" y="0"/>
                </a:lnTo>
                <a:lnTo>
                  <a:pt x="0" y="5855316"/>
                </a:lnTo>
                <a:lnTo>
                  <a:pt x="5838681" y="5855316"/>
                </a:lnTo>
                <a:lnTo>
                  <a:pt x="5838681" y="0"/>
                </a:lnTo>
                <a:close/>
              </a:path>
            </a:pathLst>
          </a:custGeom>
          <a:blipFill>
            <a:blip>
              <a:alphaModFix amt="70000"/>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1028700" y="2757924"/>
            <a:ext cx="16230600" cy="1285993"/>
          </a:xfrm>
          <a:prstGeom prst="rect">
            <a:avLst/>
          </a:prstGeom>
        </p:spPr>
        <p:txBody>
          <a:bodyPr wrap="square" lIns="0" tIns="0" rIns="0" bIns="0" rtlCol="0" anchor="t">
            <a:spAutoFit/>
          </a:bodyPr>
          <a:lstStyle/>
          <a:p>
            <a:pPr marL="0" lvl="0" indent="0" algn="ctr">
              <a:lnSpc>
                <a:spcPts val="10682"/>
              </a:lnSpc>
              <a:spcBef>
                <a:spcPct val="0"/>
              </a:spcBef>
            </a:pPr>
            <a:r>
              <a:rPr lang="en-US" sz="8800" spc="-546" dirty="0">
                <a:solidFill>
                  <a:srgbClr val="FFFFFF"/>
                </a:solidFill>
                <a:latin typeface="Arial (Thân)"/>
                <a:ea typeface="Times New Roman"/>
                <a:cs typeface="Arial" panose="020B0604020202020204" pitchFamily="34" charset="0"/>
                <a:sym typeface="Times New Roman"/>
              </a:rPr>
              <a:t>CẢM ƠN ĐÃ THEO DÕI!</a:t>
            </a:r>
          </a:p>
        </p:txBody>
      </p:sp>
      <p:sp>
        <p:nvSpPr>
          <p:cNvPr id="9" name="TextBox 9"/>
          <p:cNvSpPr txBox="1"/>
          <p:nvPr/>
        </p:nvSpPr>
        <p:spPr>
          <a:xfrm>
            <a:off x="1574843" y="1023452"/>
            <a:ext cx="2922953" cy="307777"/>
          </a:xfrm>
          <a:prstGeom prst="rect">
            <a:avLst/>
          </a:prstGeom>
        </p:spPr>
        <p:txBody>
          <a:bodyPr lIns="0" tIns="0" rIns="0" bIns="0" rtlCol="0" anchor="t">
            <a:spAutoFit/>
          </a:bodyPr>
          <a:lstStyle/>
          <a:p>
            <a:pPr marL="0" lvl="0" indent="0" algn="l">
              <a:lnSpc>
                <a:spcPts val="2399"/>
              </a:lnSpc>
            </a:pPr>
            <a:r>
              <a:rPr lang="en-US" sz="2000">
                <a:solidFill>
                  <a:srgbClr val="FFFFFF"/>
                </a:solidFill>
                <a:latin typeface="Arial" panose="020B0604020202020204" pitchFamily="34" charset="0"/>
                <a:ea typeface="Poppins"/>
                <a:cs typeface="Arial" panose="020B0604020202020204" pitchFamily="34" charset="0"/>
                <a:sym typeface="Poppins"/>
              </a:rPr>
              <a:t>Nhóm 9 – ATTT K22A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668</TotalTime>
  <Words>5278</Words>
  <Application>Microsoft Office PowerPoint</Application>
  <PresentationFormat>Tùy chỉnh</PresentationFormat>
  <Paragraphs>487</Paragraphs>
  <Slides>54</Slides>
  <Notes>1</Notes>
  <HiddenSlides>0</HiddenSlides>
  <MMClips>0</MMClips>
  <ScaleCrop>false</ScaleCrop>
  <HeadingPairs>
    <vt:vector size="6" baseType="variant">
      <vt:variant>
        <vt:lpstr>Phông được Dùng</vt:lpstr>
      </vt:variant>
      <vt:variant>
        <vt:i4>4</vt:i4>
      </vt:variant>
      <vt:variant>
        <vt:lpstr>Chủ đề</vt:lpstr>
      </vt:variant>
      <vt:variant>
        <vt:i4>1</vt:i4>
      </vt:variant>
      <vt:variant>
        <vt:lpstr>Tiêu đề Bản chiếu</vt:lpstr>
      </vt:variant>
      <vt:variant>
        <vt:i4>54</vt:i4>
      </vt:variant>
    </vt:vector>
  </HeadingPairs>
  <TitlesOfParts>
    <vt:vector size="59" baseType="lpstr">
      <vt:lpstr>Poppins</vt:lpstr>
      <vt:lpstr>Calibri</vt:lpstr>
      <vt:lpstr>Arial (Thân)</vt:lpstr>
      <vt:lpstr>Arial</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Privilege Escalation: Overview and Defenses</dc:title>
  <dc:creator>Khien Nguyen</dc:creator>
  <cp:lastModifiedBy>Capybara Ninh</cp:lastModifiedBy>
  <cp:revision>26</cp:revision>
  <dcterms:created xsi:type="dcterms:W3CDTF">2006-08-16T00:00:00Z</dcterms:created>
  <dcterms:modified xsi:type="dcterms:W3CDTF">2026-10-12T16:05:02Z</dcterms:modified>
  <dc:identifier>DAHHQ9xVaRM</dc:identifier>
</cp:coreProperties>
</file>